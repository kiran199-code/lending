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slides/slide25.xml" ContentType="application/vnd.openxmlformats-officedocument.presentationml.slide+xml"/>
  <Override PartName="/ppt/notesSlides/notesSlide29.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6" r:id="rId27"/>
    <p:sldId id="277" r:id="rId28"/>
    <p:sldId id="278" r:id="rId29"/>
    <p:sldId id="279" r:id="rId30"/>
    <p:sldId id="268" r:id="rId14"/>
    <p:sldId id="269" r:id="rId15"/>
    <p:sldId id="270" r:id="rId16"/>
    <p:sldId id="271" r:id="rId17"/>
    <p:sldId id="272" r:id="rId18"/>
    <p:sldId id="273" r:id="rId19"/>
    <p:sldId id="274" r:id="rId20"/>
    <p:sldId id="280" r:id="rId31"/>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c42f308-43c4-e219-2643-336531172f87}">
          <p14:sldIdLst>
            <p14:sldId id="256"/>
            <p14:sldId id="257"/>
          </p14:sldIdLst>
        </p14:section>
        <p14:section name="Architecture" id="{57335a9f-2359-36f6-ff5d-b50ccad471fa}">
          <p14:sldIdLst>
            <p14:sldId id="258"/>
            <p14:sldId id="259"/>
          </p14:sldIdLst>
        </p14:section>
        <p14:section name="Data model" id="{c9d52781-ca9b-c39b-0e6f-a17f242fa22e}">
          <p14:sldIdLst>
            <p14:sldId id="260"/>
            <p14:sldId id="261"/>
            <p14:sldId id="262"/>
            <p14:sldId id="263"/>
          </p14:sldIdLst>
        </p14:section>
        <p14:section name="Flows" id="{bd10adfb-00c6-ea48-3678-71ce9a10448d}">
          <p14:sldIdLst>
            <p14:sldId id="264"/>
            <p14:sldId id="265"/>
            <p14:sldId id="266"/>
            <p14:sldId id="267"/>
          </p14:sldIdLst>
        </p14:section>
        <p14:section name="Lifecycle" id="{abcde246-efe6-26ca-f1ed-8c99a86fb5ed}">
          <p14:sldIdLst>
            <p14:sldId id="268"/>
            <p14:sldId id="269"/>
          </p14:sldIdLst>
        </p14:section>
        <p14:section name="Admin portal" id="{49228e49-5aaf-4eea-177e-2a01d6a3c02a}">
          <p14:sldIdLst>
            <p14:sldId id="270"/>
            <p14:sldId id="271"/>
            <p14:sldId id="272"/>
            <p14:sldId id="273"/>
          </p14:sldIdLst>
        </p14:section>
        <p14:section name="Reference" id="{6834751e-d008-9757-61c4-85f654f7a669}">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lending platform: two Spring Boot services over one PostgreSQL database, deployed as a trial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then one card per service. The admin portal is the newest: inquiry plus two editable areas, the batch job settings and the loan products. Every account is now opened from a loan product. New in v1.4: the business date and nightly end of day (lending-service V13) and nine batch jobs that call lending-service.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call lending-service over REST. Operators call the batch admin API. The admin console serves a React UI, reads the database through read-only sessions, proxies the statement PDF from lending-service, and edits batch job settings through the batch admin API. Kafka and the core ledger are 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trial environment. The lending-service URL is the sandbox. The batch service URL is assigned by Render and is visible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relationship view of the public schema. interest_accrual and emi_transaction are partitioned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V10. loan_product defines type, rate type, schedule type, day count, benchmark, default rate and spread, and bands for rate, spread, amount and tenure. Changes apply to new accounts and to an individual account at a floating rate reset; existing accounts are not rewritten and there is no reschedule-all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V11. Five day-count conventions and five schedule types, with repayment frequency, moratorium, balloon percent and step-up percent. ScheduleCalculator builds the instalments; interest for each instalment is outstanding x rate x year fraction under the account day count; the last instalment clears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deliberate decision. The partition rule was the cause of the October 409 error and is now fixed by migration V9 plus a startup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generic path. Middle row is what POST /loan-accounts/{id}/disburse does inside the service layer. Bottom row lists behaviour shared by all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on account type. The mortgage branch creates the mortgage with valuation and LTV, then registers the charge. Disburse is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 must equal the instalment due. Part-payment reduces principal and re-versions the schedule. Foreclosure pays outstanding principal plus accrued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Quartz fires each job on its cron, but with end of day on (the default) the daily jobs run as one nightly chain in this order and the business date advances at the end. DPD update must finish before NPA classification. Nine job bodies call lending-service; 27 are still stubs. The times on the tiles are the standalone cron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Business is what the bank does, System is what the platform records, API is the call that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Buckets are days past due on the oldest unpaid instalment. The classification run recomputes status for all tracked accounts. WRITTEN_OFF exists as a status and blocks payments, but nothing sets it automatically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microservice. Spring Boot API plus React UI in one container. It connects to the same PostgreSQL database with a read-only session, because the Lending REST API has no list, search or portfolio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 map to the requirements: account inquiry, amortization, accrual and payment details, upcoming payments, plus overdue, ledger outbox and batch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what are all the configurations. Three tiers. Runtime-editable: batch job settings in batch.batch_job_config, edited on the Configuration screen. Startup: environment variables on each service. Fixed: business rules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URL suffix is assigned by Render when the service is first created; copy it from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Paths are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the REST lifecycle is real. The business date, end of day and nine batch jobs are written and checked against stubs and a mock platform, but not yet built with Maven or run against the real services. The other 27 job bodies, ledger integration, Kafka and authentication are still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date is one date for the whole platform, owned by lending-service. It moves only through end of day: start, run the daily jobs, advance. Dates after it are refused; earlier dates are accepted so late items post to their own day. Weekends come from configuration and holidays from a table, but the date still moves one calendar day and due dates are not moved off holidays.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day runs nightly (default 01:00 India time) or on demand. It runs the enabled daily jobs in priority order for the business date, skips ones already completed, stops at the first failure, and advances the date only when all have completed. It can be run again after a failure. Monthly and periodic jobs are outside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jobs now call lending-service per account: accrual, DPD update, NPA check, three rate-reset jobs, the two ledger jobs and foreclosure. Benchmark rates live in the benchmark_rate table. The other 27 jobs are still stubs. None of this has been built with Maven yet; it was checked with javac against stubs and a mock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and the end-to-end suite now measure every today as the business date. The portal stays read-only. The suite ran against a mock platform for 766 simulated days; it has not run against the real services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in v1.4: business date and end-of-day endpoints, benchmark rates and the per-account calls the batch jobs use. Paths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bg1"/>
          </a:solidFill>
          <a:ln/>
        </p:spPr>
      </p:sp>
      <p:sp>
        <p:nvSpPr>
          <p:cNvPr id="3" name="Text 1"/>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Lending Platform  |  Architecture and loan lifecycle</a:t>
            </a:r>
            <a:endParaRPr lang="en-US" sz="1000" dirty="0"/>
          </a:p>
        </p:txBody>
      </p:sp>
      <p:sp>
        <p:nvSpPr>
          <p:cNvPr id="4" name="Text 2"/>
          <p:cNvSpPr/>
          <p:nvPr>
            <p:ph idx="102"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5" name="Text 2"/>
          <p:cNvSpPr/>
          <p:nvPr>
            <p:ph idx="103"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accent4"/>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ph idx="102"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737360"/>
            <a:ext cx="10515600"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Lending Platform</a:t>
            </a:r>
            <a:endParaRPr lang="en-US" sz="5400" dirty="0"/>
          </a:p>
        </p:txBody>
      </p:sp>
      <p:sp>
        <p:nvSpPr>
          <p:cNvPr id="3" name="Text 1"/>
          <p:cNvSpPr txBox="1"/>
          <p:nvPr/>
        </p:nvSpPr>
        <p:spPr>
          <a:xfrm>
            <a:off x="731520" y="2880360"/>
            <a:ext cx="10515600" cy="548640"/>
          </a:xfrm>
          <a:prstGeom prst="rect">
            <a:avLst/>
          </a:prstGeom>
          <a:noFill/>
          <a:ln/>
        </p:spPr>
        <p:txBody>
          <a:bodyPr wrap="square" lIns="0" tIns="0" rIns="0" bIns="0" rtlCol="0" anchor="ctr"/>
          <a:lstStyle/>
          <a:p>
            <a:pPr indent="0" marL="0">
              <a:buNone/>
            </a:pPr>
            <a:r>
              <a:rPr lang="en-US" sz="2400" dirty="0">
                <a:solidFill>
                  <a:schemeClr val="bg2"/>
                </a:solidFill>
              </a:rPr>
              <a:t>Architecture, data model and the loan lifecycle</a:t>
            </a:r>
            <a:endParaRPr lang="en-US" sz="2400" dirty="0"/>
          </a:p>
        </p:txBody>
      </p:sp>
      <p:sp>
        <p:nvSpPr>
          <p:cNvPr id="4" name="Text 2"/>
          <p:cNvSpPr txBox="1"/>
          <p:nvPr/>
        </p:nvSpPr>
        <p:spPr>
          <a:xfrm>
            <a:off x="731520" y="3520440"/>
            <a:ext cx="10515600" cy="365760"/>
          </a:xfrm>
          <a:prstGeom prst="rect">
            <a:avLst/>
          </a:prstGeom>
          <a:noFill/>
          <a:ln/>
        </p:spPr>
        <p:txBody>
          <a:bodyPr wrap="square" lIns="0" tIns="0" rIns="0" bIns="0" rtlCol="0" anchor="ctr"/>
          <a:lstStyle/>
          <a:p>
            <a:pPr indent="0" marL="0">
              <a:buNone/>
            </a:pPr>
            <a:r>
              <a:rPr lang="en-US" sz="1400" dirty="0">
                <a:solidFill>
                  <a:schemeClr val="accent2"/>
                </a:solidFill>
              </a:rPr>
              <a:t>lending-service  |  lending-batch-service  |  lending-admin-service  |  PostgreSQL  |  Render sandbox</a:t>
            </a:r>
            <a:endParaRPr lang="en-US" sz="1400" dirty="0"/>
          </a:p>
        </p:txBody>
      </p:sp>
      <p:sp>
        <p:nvSpPr>
          <p:cNvPr id="5" name="Shape 3"/>
          <p:cNvSpPr/>
          <p:nvPr/>
        </p:nvSpPr>
        <p:spPr>
          <a:xfrm>
            <a:off x="1005840" y="5257800"/>
            <a:ext cx="9875520" cy="0"/>
          </a:xfrm>
          <a:prstGeom prst="line">
            <a:avLst/>
          </a:prstGeom>
          <a:noFill/>
          <a:ln w="25400">
            <a:solidFill>
              <a:schemeClr val="accent1"/>
            </a:solidFill>
            <a:prstDash val="solid"/>
          </a:ln>
        </p:spPr>
      </p:sp>
      <p:sp>
        <p:nvSpPr>
          <p:cNvPr id="6" name="Text 4"/>
          <p:cNvSpPr txBox="1"/>
          <p:nvPr/>
        </p:nvSpPr>
        <p:spPr>
          <a:xfrm>
            <a:off x="7772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3657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Sanction</a:t>
            </a:r>
            <a:endParaRPr lang="en-US" sz="1200" dirty="0"/>
          </a:p>
        </p:txBody>
      </p:sp>
      <p:sp>
        <p:nvSpPr>
          <p:cNvPr id="8" name="Text 6"/>
          <p:cNvSpPr txBox="1"/>
          <p:nvPr/>
        </p:nvSpPr>
        <p:spPr>
          <a:xfrm>
            <a:off x="24231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20116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Onboard</a:t>
            </a:r>
            <a:endParaRPr lang="en-US" sz="1200" dirty="0"/>
          </a:p>
        </p:txBody>
      </p:sp>
      <p:sp>
        <p:nvSpPr>
          <p:cNvPr id="10" name="Text 8"/>
          <p:cNvSpPr txBox="1"/>
          <p:nvPr/>
        </p:nvSpPr>
        <p:spPr>
          <a:xfrm>
            <a:off x="406908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365760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Secure</a:t>
            </a:r>
            <a:endParaRPr lang="en-US" sz="1200" dirty="0"/>
          </a:p>
        </p:txBody>
      </p:sp>
      <p:sp>
        <p:nvSpPr>
          <p:cNvPr id="12" name="Text 10"/>
          <p:cNvSpPr txBox="1"/>
          <p:nvPr/>
        </p:nvSpPr>
        <p:spPr>
          <a:xfrm>
            <a:off x="5715000" y="502920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3" name="Text 11"/>
          <p:cNvSpPr txBox="1"/>
          <p:nvPr/>
        </p:nvSpPr>
        <p:spPr>
          <a:xfrm>
            <a:off x="530352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Disburse</a:t>
            </a:r>
            <a:endParaRPr lang="en-US" sz="1200" dirty="0"/>
          </a:p>
        </p:txBody>
      </p:sp>
      <p:sp>
        <p:nvSpPr>
          <p:cNvPr id="14" name="Text 12"/>
          <p:cNvSpPr txBox="1"/>
          <p:nvPr/>
        </p:nvSpPr>
        <p:spPr>
          <a:xfrm>
            <a:off x="736092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5" name="Text 13"/>
          <p:cNvSpPr txBox="1"/>
          <p:nvPr/>
        </p:nvSpPr>
        <p:spPr>
          <a:xfrm>
            <a:off x="694944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Repay</a:t>
            </a:r>
            <a:endParaRPr lang="en-US" sz="1200" dirty="0"/>
          </a:p>
        </p:txBody>
      </p:sp>
      <p:sp>
        <p:nvSpPr>
          <p:cNvPr id="16" name="Text 14"/>
          <p:cNvSpPr txBox="1"/>
          <p:nvPr/>
        </p:nvSpPr>
        <p:spPr>
          <a:xfrm>
            <a:off x="90068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7" name="Text 15"/>
          <p:cNvSpPr txBox="1"/>
          <p:nvPr/>
        </p:nvSpPr>
        <p:spPr>
          <a:xfrm>
            <a:off x="85953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Monitor</a:t>
            </a:r>
            <a:endParaRPr lang="en-US" sz="1200" dirty="0"/>
          </a:p>
        </p:txBody>
      </p:sp>
      <p:sp>
        <p:nvSpPr>
          <p:cNvPr id="18" name="Text 16"/>
          <p:cNvSpPr txBox="1"/>
          <p:nvPr/>
        </p:nvSpPr>
        <p:spPr>
          <a:xfrm>
            <a:off x="106527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19" name="Text 17"/>
          <p:cNvSpPr txBox="1"/>
          <p:nvPr/>
        </p:nvSpPr>
        <p:spPr>
          <a:xfrm>
            <a:off x="102412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Close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we built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services, one database: the full loan lifecycle from sanction to closure, plus an admin console to see and tune it</a:t>
            </a:r>
            <a:endParaRPr lang="en-US" sz="1400" dirty="0"/>
          </a:p>
        </p:txBody>
      </p:sp>
      <p:sp>
        <p:nvSpPr>
          <p:cNvPr id="5" name="Text 2"/>
          <p:cNvSpPr txBox="1"/>
          <p:nvPr/>
        </p:nvSpPr>
        <p:spPr>
          <a:xfrm>
            <a:off x="54864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a:t>
            </a:r>
            <a:endParaRPr lang="en-US" sz="1200" dirty="0"/>
          </a:p>
          <a:p>
            <a:pPr algn="ctr" indent="0" marL="0">
              <a:buNone/>
            </a:pPr>
            <a:r>
              <a:rPr lang="en-US" sz="1300" dirty="0">
                <a:solidFill>
                  <a:schemeClr val="bg1"/>
                </a:solidFill>
              </a:rPr>
              <a:t>Spring Boot services</a:t>
            </a:r>
            <a:endParaRPr lang="en-US" sz="1200" dirty="0"/>
          </a:p>
        </p:txBody>
      </p:sp>
      <p:sp>
        <p:nvSpPr>
          <p:cNvPr id="6" name="Text 3"/>
          <p:cNvSpPr txBox="1"/>
          <p:nvPr/>
        </p:nvSpPr>
        <p:spPr>
          <a:xfrm>
            <a:off x="333756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13</a:t>
            </a:r>
            <a:endParaRPr lang="en-US" sz="1200" dirty="0"/>
          </a:p>
          <a:p>
            <a:pPr algn="ctr" indent="0" marL="0">
              <a:buNone/>
            </a:pPr>
            <a:r>
              <a:rPr lang="en-US" sz="1300" dirty="0">
                <a:solidFill>
                  <a:schemeClr val="bg1"/>
                </a:solidFill>
              </a:rPr>
              <a:t>Flyway migrations</a:t>
            </a:r>
            <a:endParaRPr lang="en-US" sz="1200" dirty="0"/>
          </a:p>
        </p:txBody>
      </p:sp>
      <p:sp>
        <p:nvSpPr>
          <p:cNvPr id="7" name="Text 4"/>
          <p:cNvSpPr txBox="1"/>
          <p:nvPr/>
        </p:nvSpPr>
        <p:spPr>
          <a:xfrm>
            <a:off x="612648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36</a:t>
            </a:r>
            <a:endParaRPr lang="en-US" sz="1200" dirty="0"/>
          </a:p>
          <a:p>
            <a:pPr algn="ctr" indent="0" marL="0">
              <a:buNone/>
            </a:pPr>
            <a:r>
              <a:rPr lang="en-US" sz="1300" dirty="0">
                <a:solidFill>
                  <a:schemeClr val="bg1"/>
                </a:solidFill>
              </a:rPr>
              <a:t>batch job slots</a:t>
            </a:r>
            <a:endParaRPr lang="en-US" sz="1200" dirty="0"/>
          </a:p>
        </p:txBody>
      </p:sp>
      <p:sp>
        <p:nvSpPr>
          <p:cNvPr id="8" name="Text 5"/>
          <p:cNvSpPr txBox="1"/>
          <p:nvPr/>
        </p:nvSpPr>
        <p:spPr>
          <a:xfrm>
            <a:off x="891540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11</a:t>
            </a:r>
            <a:endParaRPr lang="en-US" sz="1200" dirty="0"/>
          </a:p>
          <a:p>
            <a:pPr algn="ctr" indent="0" marL="0">
              <a:buNone/>
            </a:pPr>
            <a:r>
              <a:rPr lang="en-US" sz="1300" dirty="0">
                <a:solidFill>
                  <a:schemeClr val="bg1"/>
                </a:solidFill>
              </a:rPr>
              <a:t>admin portal screens</a:t>
            </a:r>
            <a:endParaRPr lang="en-US" sz="1200" dirty="0"/>
          </a:p>
        </p:txBody>
      </p:sp>
      <p:sp>
        <p:nvSpPr>
          <p:cNvPr id="9" name="Text 6"/>
          <p:cNvSpPr txBox="1"/>
          <p:nvPr/>
        </p:nvSpPr>
        <p:spPr>
          <a:xfrm>
            <a:off x="548640" y="2926080"/>
            <a:ext cx="3566160" cy="3383280"/>
          </a:xfrm>
          <a:prstGeom prst="roundRect">
            <a:avLst>
              <a:gd name="adj" fmla="val 2162"/>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lending-service</a:t>
            </a:r>
            <a:endParaRPr lang="en-US" sz="1600" dirty="0"/>
          </a:p>
        </p:txBody>
      </p:sp>
      <p:sp>
        <p:nvSpPr>
          <p:cNvPr id="11" name="Text 8"/>
          <p:cNvSpPr txBox="1"/>
          <p:nvPr/>
        </p:nvSpPr>
        <p:spPr>
          <a:xfrm>
            <a:off x="73152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21  |  Spring Boot 3.3  |  port 8080</a:t>
            </a:r>
            <a:endParaRPr lang="en-US" sz="1050" dirty="0"/>
          </a:p>
        </p:txBody>
      </p:sp>
      <p:sp>
        <p:nvSpPr>
          <p:cNvPr id="12" name="Text 9"/>
          <p:cNvSpPr txBox="1"/>
          <p:nvPr/>
        </p:nvSpPr>
        <p:spPr>
          <a:xfrm>
            <a:off x="73152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Loan products; accounts opened from a product (single, bulk), disburse, lookup</a:t>
            </a:r>
            <a:endParaRPr lang="en-US" sz="1250" dirty="0"/>
          </a:p>
          <a:p>
            <a:pPr marL="342900" indent="-342900">
              <a:spcAft>
                <a:spcPts val="400"/>
              </a:spcAft>
              <a:buSzPct val="100000"/>
              <a:buChar char="•"/>
            </a:pPr>
            <a:r>
              <a:rPr lang="en-US" sz="1250" dirty="0">
                <a:solidFill>
                  <a:schemeClr val="tx1"/>
                </a:solidFill>
              </a:rPr>
              <a:t>Amortisation schedules with versioning</a:t>
            </a:r>
            <a:endParaRPr lang="en-US" sz="1250" dirty="0"/>
          </a:p>
          <a:p>
            <a:pPr marL="342900" indent="-342900">
              <a:spcAft>
                <a:spcPts val="400"/>
              </a:spcAft>
              <a:buSzPct val="100000"/>
              <a:buChar char="•"/>
            </a:pPr>
            <a:r>
              <a:rPr lang="en-US" sz="1250" dirty="0">
                <a:solidFill>
                  <a:schemeClr val="tx1"/>
                </a:solidFill>
              </a:rPr>
              <a:t>EMI, part-payment and foreclosure postings</a:t>
            </a:r>
            <a:endParaRPr lang="en-US" sz="1250" dirty="0"/>
          </a:p>
          <a:p>
            <a:pPr marL="342900" indent="-342900">
              <a:spcAft>
                <a:spcPts val="400"/>
              </a:spcAft>
              <a:buSzPct val="100000"/>
              <a:buChar char="•"/>
            </a:pPr>
            <a:r>
              <a:rPr lang="en-US" sz="1250" dirty="0">
                <a:solidFill>
                  <a:schemeClr val="tx1"/>
                </a:solidFill>
              </a:rPr>
              <a:t>Daily accrual; delinquency (DPD / NPA) classification</a:t>
            </a:r>
            <a:endParaRPr lang="en-US" sz="1250" dirty="0"/>
          </a:p>
          <a:p>
            <a:pPr marL="342900" indent="-342900">
              <a:spcAft>
                <a:spcPts val="400"/>
              </a:spcAft>
              <a:buSzPct val="100000"/>
              <a:buChar char="•"/>
            </a:pPr>
            <a:r>
              <a:rPr lang="en-US" sz="1250" dirty="0">
                <a:solidFill>
                  <a:schemeClr val="tx1"/>
                </a:solidFill>
              </a:rPr>
              <a:t>Mortgage charge and valuation tracking</a:t>
            </a:r>
            <a:endParaRPr lang="en-US" sz="1250" dirty="0"/>
          </a:p>
          <a:p>
            <a:pPr marL="342900" indent="-342900">
              <a:spcAft>
                <a:spcPts val="400"/>
              </a:spcAft>
              <a:buSzPct val="100000"/>
              <a:buChar char="•"/>
            </a:pPr>
            <a:r>
              <a:rPr lang="en-US" sz="1250" dirty="0">
                <a:solidFill>
                  <a:schemeClr val="tx1"/>
                </a:solidFill>
              </a:rPr>
              <a:t>Ledger outbox, PDF statements, business date</a:t>
            </a:r>
            <a:endParaRPr lang="en-US" sz="1250" dirty="0"/>
          </a:p>
        </p:txBody>
      </p:sp>
      <p:sp>
        <p:nvSpPr>
          <p:cNvPr id="13" name="Text 10"/>
          <p:cNvSpPr txBox="1"/>
          <p:nvPr/>
        </p:nvSpPr>
        <p:spPr>
          <a:xfrm>
            <a:off x="4297680" y="2926080"/>
            <a:ext cx="3566160" cy="3383280"/>
          </a:xfrm>
          <a:prstGeom prst="roundRect">
            <a:avLst>
              <a:gd name="adj" fmla="val 2162"/>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448056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lending-batch-service</a:t>
            </a:r>
            <a:endParaRPr lang="en-US" sz="1600" dirty="0"/>
          </a:p>
        </p:txBody>
      </p:sp>
      <p:sp>
        <p:nvSpPr>
          <p:cNvPr id="15" name="Text 12"/>
          <p:cNvSpPr txBox="1"/>
          <p:nvPr/>
        </p:nvSpPr>
        <p:spPr>
          <a:xfrm>
            <a:off x="448056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Batch 5  |  Quartz  |  Kafka</a:t>
            </a:r>
            <a:endParaRPr lang="en-US" sz="1050" dirty="0"/>
          </a:p>
        </p:txBody>
      </p:sp>
      <p:sp>
        <p:nvSpPr>
          <p:cNvPr id="16" name="Text 13"/>
          <p:cNvSpPr txBox="1"/>
          <p:nvPr/>
        </p:nvSpPr>
        <p:spPr>
          <a:xfrm>
            <a:off x="448056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Clustered Quartz scheduler; nightly end of day</a:t>
            </a:r>
            <a:endParaRPr lang="en-US" sz="1250" dirty="0"/>
          </a:p>
          <a:p>
            <a:pPr marL="342900" indent="-342900">
              <a:spcAft>
                <a:spcPts val="400"/>
              </a:spcAft>
              <a:buSzPct val="100000"/>
              <a:buChar char="•"/>
            </a:pPr>
            <a:r>
              <a:rPr lang="en-US" sz="1250" dirty="0">
                <a:solidFill>
                  <a:schemeClr val="tx1"/>
                </a:solidFill>
              </a:rPr>
              <a:t>36 jobs: 13 daily, 11 monthly, 12 periodic; 9 call lending-service</a:t>
            </a:r>
            <a:endParaRPr lang="en-US" sz="1250" dirty="0"/>
          </a:p>
          <a:p>
            <a:pPr marL="342900" indent="-342900">
              <a:spcAft>
                <a:spcPts val="400"/>
              </a:spcAft>
              <a:buSzPct val="100000"/>
              <a:buChar char="•"/>
            </a:pPr>
            <a:r>
              <a:rPr lang="en-US" sz="1250" dirty="0">
                <a:solidFill>
                  <a:schemeClr val="tx1"/>
                </a:solidFill>
              </a:rPr>
              <a:t>Retry, skip and dead-letter handling per job</a:t>
            </a:r>
            <a:endParaRPr lang="en-US" sz="1250" dirty="0"/>
          </a:p>
          <a:p>
            <a:pPr marL="342900" indent="-342900">
              <a:spcAft>
                <a:spcPts val="400"/>
              </a:spcAft>
              <a:buSzPct val="100000"/>
              <a:buChar char="•"/>
            </a:pPr>
            <a:r>
              <a:rPr lang="en-US" sz="1250" dirty="0">
                <a:solidFill>
                  <a:schemeClr val="tx1"/>
                </a:solidFill>
              </a:rPr>
              <a:t>Admin REST API: trigger, back-date, status, reload, edit a job</a:t>
            </a:r>
            <a:endParaRPr lang="en-US" sz="1250" dirty="0"/>
          </a:p>
          <a:p>
            <a:pPr marL="342900" indent="-342900">
              <a:spcAft>
                <a:spcPts val="400"/>
              </a:spcAft>
              <a:buSzPct val="100000"/>
              <a:buChar char="•"/>
            </a:pPr>
            <a:r>
              <a:rPr lang="en-US" sz="1250" dirty="0">
                <a:solidFill>
                  <a:schemeClr val="tx1"/>
                </a:solidFill>
              </a:rPr>
              <a:t>Job settings live in a table; reload without restart</a:t>
            </a:r>
            <a:endParaRPr lang="en-US" sz="1250" dirty="0"/>
          </a:p>
        </p:txBody>
      </p:sp>
      <p:sp>
        <p:nvSpPr>
          <p:cNvPr id="17" name="Text 14"/>
          <p:cNvSpPr txBox="1"/>
          <p:nvPr/>
        </p:nvSpPr>
        <p:spPr>
          <a:xfrm>
            <a:off x="8046720" y="2926080"/>
            <a:ext cx="3566160" cy="3383280"/>
          </a:xfrm>
          <a:prstGeom prst="roundRect">
            <a:avLst>
              <a:gd name="adj" fmla="val 2162"/>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822960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lending-admin-service  (new)</a:t>
            </a:r>
            <a:endParaRPr lang="en-US" sz="1600" dirty="0"/>
          </a:p>
        </p:txBody>
      </p:sp>
      <p:sp>
        <p:nvSpPr>
          <p:cNvPr id="19" name="Text 16"/>
          <p:cNvSpPr txBox="1"/>
          <p:nvPr/>
        </p:nvSpPr>
        <p:spPr>
          <a:xfrm>
            <a:off x="822960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Boot 3.3 + React 18  |  port 8082</a:t>
            </a:r>
            <a:endParaRPr lang="en-US" sz="1050" dirty="0"/>
          </a:p>
        </p:txBody>
      </p:sp>
      <p:sp>
        <p:nvSpPr>
          <p:cNvPr id="20" name="Text 17"/>
          <p:cNvSpPr txBox="1"/>
          <p:nvPr/>
        </p:nvSpPr>
        <p:spPr>
          <a:xfrm>
            <a:off x="822960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Account search and inquiry: amortisation, accruals, payments, mortgage, statement PDF</a:t>
            </a:r>
            <a:endParaRPr lang="en-US" sz="1250" dirty="0"/>
          </a:p>
          <a:p>
            <a:pPr marL="342900" indent="-342900">
              <a:spcAft>
                <a:spcPts val="400"/>
              </a:spcAft>
              <a:buSzPct val="100000"/>
              <a:buChar char="•"/>
            </a:pPr>
            <a:r>
              <a:rPr lang="en-US" sz="1250" dirty="0">
                <a:solidFill>
                  <a:schemeClr val="tx1"/>
                </a:solidFill>
              </a:rPr>
              <a:t>Upcoming payments and overdue by days past due</a:t>
            </a:r>
            <a:endParaRPr lang="en-US" sz="1250" dirty="0"/>
          </a:p>
          <a:p>
            <a:pPr marL="342900" indent="-342900">
              <a:spcAft>
                <a:spcPts val="400"/>
              </a:spcAft>
              <a:buSzPct val="100000"/>
              <a:buChar char="•"/>
            </a:pPr>
            <a:r>
              <a:rPr lang="en-US" sz="1250" dirty="0">
                <a:solidFill>
                  <a:schemeClr val="tx1"/>
                </a:solidFill>
              </a:rPr>
              <a:t>Products: view, create and edit loan products</a:t>
            </a:r>
            <a:endParaRPr lang="en-US" sz="1250" dirty="0"/>
          </a:p>
          <a:p>
            <a:pPr marL="342900" indent="-342900">
              <a:spcAft>
                <a:spcPts val="400"/>
              </a:spcAft>
              <a:buSzPct val="100000"/>
              <a:buChar char="•"/>
            </a:pPr>
            <a:r>
              <a:rPr lang="en-US" sz="1250" dirty="0">
                <a:solidFill>
                  <a:schemeClr val="tx1"/>
                </a:solidFill>
              </a:rPr>
              <a:t>Dashboard, ledger outbox, batch runs</a:t>
            </a:r>
            <a:endParaRPr lang="en-US" sz="1250" dirty="0"/>
          </a:p>
          <a:p>
            <a:pPr marL="342900" indent="-342900">
              <a:spcAft>
                <a:spcPts val="400"/>
              </a:spcAft>
              <a:buSzPct val="100000"/>
              <a:buChar char="•"/>
            </a:pPr>
            <a:r>
              <a:rPr lang="en-US" sz="1250" dirty="0">
                <a:solidFill>
                  <a:schemeClr val="tx1"/>
                </a:solidFill>
              </a:rPr>
              <a:t>Configuration: edit batch job settings; view every service's settings</a:t>
            </a:r>
            <a:endParaRPr lang="en-US" sz="1250" dirty="0"/>
          </a:p>
          <a:p>
            <a:pPr marL="342900" indent="-342900">
              <a:spcAft>
                <a:spcPts val="400"/>
              </a:spcAft>
              <a:buSzPct val="100000"/>
              <a:buChar char="•"/>
            </a:pPr>
            <a:r>
              <a:rPr lang="en-US" sz="1250" dirty="0">
                <a:solidFill>
                  <a:schemeClr val="tx1"/>
                </a:solidFill>
              </a:rPr>
              <a:t>Basic login; read-only database session</a:t>
            </a:r>
            <a:endParaRPr lang="en-US" sz="12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stateless services share one PostgreSQL database; the admin console only reads it</a:t>
            </a:r>
            <a:endParaRPr lang="en-US" sz="1400" dirty="0"/>
          </a:p>
        </p:txBody>
      </p:sp>
      <p:sp>
        <p:nvSpPr>
          <p:cNvPr id="5" name="Text 2"/>
          <p:cNvSpPr txBox="1"/>
          <p:nvPr/>
        </p:nvSpPr>
        <p:spPr>
          <a:xfrm>
            <a:off x="548640" y="1417320"/>
            <a:ext cx="3566160" cy="640080"/>
          </a:xfrm>
          <a:prstGeom prst="roundRect">
            <a:avLst>
              <a:gd name="adj" fmla="val 11429"/>
            </a:avLst>
          </a:prstGeom>
          <a:solidFill>
            <a:schemeClr val="accent1">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Swagger UI  |  channel and partner apps  |  scripts</a:t>
            </a:r>
            <a:endParaRPr lang="en-US" sz="1100" dirty="0"/>
          </a:p>
        </p:txBody>
      </p:sp>
      <p:sp>
        <p:nvSpPr>
          <p:cNvPr id="6" name="Shape 3"/>
          <p:cNvSpPr/>
          <p:nvPr/>
        </p:nvSpPr>
        <p:spPr>
          <a:xfrm>
            <a:off x="2331720" y="2057400"/>
            <a:ext cx="0" cy="457200"/>
          </a:xfrm>
          <a:prstGeom prst="line">
            <a:avLst/>
          </a:prstGeom>
          <a:noFill/>
          <a:ln w="22225">
            <a:solidFill>
              <a:schemeClr val="tx2"/>
            </a:solidFill>
            <a:prstDash val="solid"/>
            <a:tailEnd type="triangle"/>
          </a:ln>
        </p:spPr>
      </p:sp>
      <p:sp>
        <p:nvSpPr>
          <p:cNvPr id="7" name="Text 4"/>
          <p:cNvSpPr txBox="1"/>
          <p:nvPr/>
        </p:nvSpPr>
        <p:spPr>
          <a:xfrm>
            <a:off x="242316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8" name="Text 5"/>
          <p:cNvSpPr txBox="1"/>
          <p:nvPr/>
        </p:nvSpPr>
        <p:spPr>
          <a:xfrm>
            <a:off x="548640" y="2514600"/>
            <a:ext cx="3566160" cy="2286000"/>
          </a:xfrm>
          <a:prstGeom prst="roundRect">
            <a:avLst>
              <a:gd name="adj" fmla="val 3200"/>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8580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a:p>
            <a:pPr indent="0" marL="0">
              <a:buNone/>
            </a:pPr>
            <a:r>
              <a:rPr lang="en-US" sz="1050" dirty="0">
                <a:solidFill>
                  <a:schemeClr val="tx2"/>
                </a:solidFill>
              </a:rPr>
              <a:t>Java 21  |  Spring Boot 3.3  |  :8080</a:t>
            </a:r>
            <a:endParaRPr lang="en-US" sz="1400" dirty="0"/>
          </a:p>
        </p:txBody>
      </p:sp>
      <p:sp>
        <p:nvSpPr>
          <p:cNvPr id="10" name="Text 7"/>
          <p:cNvSpPr txBox="1"/>
          <p:nvPr/>
        </p:nvSpPr>
        <p:spPr>
          <a:xfrm>
            <a:off x="64008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Products and accounts</a:t>
            </a:r>
            <a:endParaRPr lang="en-US" sz="1050" dirty="0"/>
          </a:p>
        </p:txBody>
      </p:sp>
      <p:sp>
        <p:nvSpPr>
          <p:cNvPr id="11" name="Text 8"/>
          <p:cNvSpPr txBox="1"/>
          <p:nvPr/>
        </p:nvSpPr>
        <p:spPr>
          <a:xfrm>
            <a:off x="237744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Schedule and accrual</a:t>
            </a:r>
            <a:endParaRPr lang="en-US" sz="1050" dirty="0"/>
          </a:p>
        </p:txBody>
      </p:sp>
      <p:sp>
        <p:nvSpPr>
          <p:cNvPr id="12" name="Text 9"/>
          <p:cNvSpPr txBox="1"/>
          <p:nvPr/>
        </p:nvSpPr>
        <p:spPr>
          <a:xfrm>
            <a:off x="64008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Payments</a:t>
            </a:r>
            <a:endParaRPr lang="en-US" sz="1050" dirty="0"/>
          </a:p>
        </p:txBody>
      </p:sp>
      <p:sp>
        <p:nvSpPr>
          <p:cNvPr id="13" name="Text 10"/>
          <p:cNvSpPr txBox="1"/>
          <p:nvPr/>
        </p:nvSpPr>
        <p:spPr>
          <a:xfrm>
            <a:off x="237744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Mortgage</a:t>
            </a:r>
            <a:endParaRPr lang="en-US" sz="1050" dirty="0"/>
          </a:p>
        </p:txBody>
      </p:sp>
      <p:sp>
        <p:nvSpPr>
          <p:cNvPr id="14" name="Text 11"/>
          <p:cNvSpPr txBox="1"/>
          <p:nvPr/>
        </p:nvSpPr>
        <p:spPr>
          <a:xfrm>
            <a:off x="64008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PDF statements</a:t>
            </a:r>
            <a:endParaRPr lang="en-US" sz="1050" dirty="0"/>
          </a:p>
        </p:txBody>
      </p:sp>
      <p:sp>
        <p:nvSpPr>
          <p:cNvPr id="15" name="Text 12"/>
          <p:cNvSpPr txBox="1"/>
          <p:nvPr/>
        </p:nvSpPr>
        <p:spPr>
          <a:xfrm>
            <a:off x="237744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Ledger outbox</a:t>
            </a:r>
            <a:endParaRPr lang="en-US" sz="1050" dirty="0"/>
          </a:p>
        </p:txBody>
      </p:sp>
      <p:sp>
        <p:nvSpPr>
          <p:cNvPr id="16" name="Text 13"/>
          <p:cNvSpPr txBox="1"/>
          <p:nvPr/>
        </p:nvSpPr>
        <p:spPr>
          <a:xfrm>
            <a:off x="4297680" y="1417320"/>
            <a:ext cx="3566160" cy="640080"/>
          </a:xfrm>
          <a:prstGeom prst="roundRect">
            <a:avLst>
              <a:gd name="adj" fmla="val 11429"/>
            </a:avLst>
          </a:prstGeom>
          <a:solidFill>
            <a:schemeClr val="accent4">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Operators  (HTTP Basic, BATCH_ADMIN)</a:t>
            </a:r>
            <a:endParaRPr lang="en-US" sz="1100" dirty="0"/>
          </a:p>
        </p:txBody>
      </p:sp>
      <p:sp>
        <p:nvSpPr>
          <p:cNvPr id="17" name="Shape 14"/>
          <p:cNvSpPr/>
          <p:nvPr/>
        </p:nvSpPr>
        <p:spPr>
          <a:xfrm>
            <a:off x="6080760" y="2057400"/>
            <a:ext cx="0" cy="457200"/>
          </a:xfrm>
          <a:prstGeom prst="line">
            <a:avLst/>
          </a:prstGeom>
          <a:noFill/>
          <a:ln w="22225">
            <a:solidFill>
              <a:schemeClr val="tx2"/>
            </a:solidFill>
            <a:prstDash val="solid"/>
            <a:tailEnd type="triangle"/>
          </a:ln>
        </p:spPr>
      </p:sp>
      <p:sp>
        <p:nvSpPr>
          <p:cNvPr id="18" name="Text 15"/>
          <p:cNvSpPr txBox="1"/>
          <p:nvPr/>
        </p:nvSpPr>
        <p:spPr>
          <a:xfrm>
            <a:off x="617220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19" name="Text 16"/>
          <p:cNvSpPr txBox="1"/>
          <p:nvPr/>
        </p:nvSpPr>
        <p:spPr>
          <a:xfrm>
            <a:off x="4297680" y="2514600"/>
            <a:ext cx="3566160" cy="2286000"/>
          </a:xfrm>
          <a:prstGeom prst="roundRect">
            <a:avLst>
              <a:gd name="adj" fmla="val 3200"/>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20" name="Text 17"/>
          <p:cNvSpPr txBox="1"/>
          <p:nvPr/>
        </p:nvSpPr>
        <p:spPr>
          <a:xfrm>
            <a:off x="443484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a:p>
            <a:pPr indent="0" marL="0">
              <a:buNone/>
            </a:pPr>
            <a:r>
              <a:rPr lang="en-US" sz="1050" dirty="0">
                <a:solidFill>
                  <a:schemeClr val="tx2"/>
                </a:solidFill>
              </a:rPr>
              <a:t>Java 17  |  Spring Batch 5  |  Quartz  |  :8081</a:t>
            </a:r>
            <a:endParaRPr lang="en-US" sz="1400" dirty="0"/>
          </a:p>
        </p:txBody>
      </p:sp>
      <p:sp>
        <p:nvSpPr>
          <p:cNvPr id="21" name="Text 18"/>
          <p:cNvSpPr txBox="1"/>
          <p:nvPr/>
        </p:nvSpPr>
        <p:spPr>
          <a:xfrm>
            <a:off x="438912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Quartz scheduler (clustered)</a:t>
            </a:r>
            <a:endParaRPr lang="en-US" sz="1050" dirty="0"/>
          </a:p>
        </p:txBody>
      </p:sp>
      <p:sp>
        <p:nvSpPr>
          <p:cNvPr id="22" name="Text 19"/>
          <p:cNvSpPr txBox="1"/>
          <p:nvPr/>
        </p:nvSpPr>
        <p:spPr>
          <a:xfrm>
            <a:off x="612648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36 job slots</a:t>
            </a:r>
            <a:endParaRPr lang="en-US" sz="1050" dirty="0"/>
          </a:p>
        </p:txBody>
      </p:sp>
      <p:sp>
        <p:nvSpPr>
          <p:cNvPr id="23" name="Text 20"/>
          <p:cNvSpPr txBox="1"/>
          <p:nvPr/>
        </p:nvSpPr>
        <p:spPr>
          <a:xfrm>
            <a:off x="438912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Admin REST API</a:t>
            </a:r>
            <a:endParaRPr lang="en-US" sz="1050" dirty="0"/>
          </a:p>
        </p:txBody>
      </p:sp>
      <p:sp>
        <p:nvSpPr>
          <p:cNvPr id="24" name="Text 21"/>
          <p:cNvSpPr txBox="1"/>
          <p:nvPr/>
        </p:nvSpPr>
        <p:spPr>
          <a:xfrm>
            <a:off x="612648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Dead-letter and audit</a:t>
            </a:r>
            <a:endParaRPr lang="en-US" sz="1050" dirty="0"/>
          </a:p>
        </p:txBody>
      </p:sp>
      <p:sp>
        <p:nvSpPr>
          <p:cNvPr id="25" name="Text 22"/>
          <p:cNvSpPr txBox="1"/>
          <p:nvPr/>
        </p:nvSpPr>
        <p:spPr>
          <a:xfrm>
            <a:off x="438912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Hot-reload job config</a:t>
            </a:r>
            <a:endParaRPr lang="en-US" sz="1050" dirty="0"/>
          </a:p>
        </p:txBody>
      </p:sp>
      <p:sp>
        <p:nvSpPr>
          <p:cNvPr id="26" name="Text 23"/>
          <p:cNvSpPr txBox="1"/>
          <p:nvPr/>
        </p:nvSpPr>
        <p:spPr>
          <a:xfrm>
            <a:off x="612648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Kafka event producer</a:t>
            </a:r>
            <a:endParaRPr lang="en-US" sz="1050" dirty="0"/>
          </a:p>
        </p:txBody>
      </p:sp>
      <p:sp>
        <p:nvSpPr>
          <p:cNvPr id="27" name="Text 24"/>
          <p:cNvSpPr txBox="1"/>
          <p:nvPr/>
        </p:nvSpPr>
        <p:spPr>
          <a:xfrm>
            <a:off x="8046720" y="1417320"/>
            <a:ext cx="3566160" cy="640080"/>
          </a:xfrm>
          <a:prstGeom prst="roundRect">
            <a:avLst>
              <a:gd name="adj" fmla="val 11429"/>
            </a:avLst>
          </a:prstGeom>
          <a:solidFill>
            <a:schemeClr val="accent2">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Operations staff  (browser, HTTP Basic)</a:t>
            </a:r>
            <a:endParaRPr lang="en-US" sz="1100" dirty="0"/>
          </a:p>
        </p:txBody>
      </p:sp>
      <p:sp>
        <p:nvSpPr>
          <p:cNvPr id="28" name="Shape 25"/>
          <p:cNvSpPr/>
          <p:nvPr/>
        </p:nvSpPr>
        <p:spPr>
          <a:xfrm>
            <a:off x="9829800" y="2057400"/>
            <a:ext cx="0" cy="457200"/>
          </a:xfrm>
          <a:prstGeom prst="line">
            <a:avLst/>
          </a:prstGeom>
          <a:noFill/>
          <a:ln w="22225">
            <a:solidFill>
              <a:schemeClr val="tx2"/>
            </a:solidFill>
            <a:prstDash val="solid"/>
            <a:tailEnd type="triangle"/>
          </a:ln>
        </p:spPr>
      </p:sp>
      <p:sp>
        <p:nvSpPr>
          <p:cNvPr id="29" name="Text 26"/>
          <p:cNvSpPr txBox="1"/>
          <p:nvPr/>
        </p:nvSpPr>
        <p:spPr>
          <a:xfrm>
            <a:off x="992124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30" name="Text 27"/>
          <p:cNvSpPr txBox="1"/>
          <p:nvPr/>
        </p:nvSpPr>
        <p:spPr>
          <a:xfrm>
            <a:off x="8046720" y="2514600"/>
            <a:ext cx="3566160" cy="2286000"/>
          </a:xfrm>
          <a:prstGeom prst="roundRect">
            <a:avLst>
              <a:gd name="adj" fmla="val 3200"/>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18388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lending-admin-service</a:t>
            </a:r>
            <a:endParaRPr lang="en-US" sz="1400" dirty="0"/>
          </a:p>
          <a:p>
            <a:pPr indent="0" marL="0">
              <a:buNone/>
            </a:pPr>
            <a:r>
              <a:rPr lang="en-US" sz="1050" dirty="0">
                <a:solidFill>
                  <a:schemeClr val="tx2"/>
                </a:solidFill>
              </a:rPr>
              <a:t>Java 17  |  Spring Boot + React  |  :8082</a:t>
            </a:r>
            <a:endParaRPr lang="en-US" sz="1400" dirty="0"/>
          </a:p>
        </p:txBody>
      </p:sp>
      <p:sp>
        <p:nvSpPr>
          <p:cNvPr id="32" name="Text 29"/>
          <p:cNvSpPr txBox="1"/>
          <p:nvPr/>
        </p:nvSpPr>
        <p:spPr>
          <a:xfrm>
            <a:off x="813816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Account inquiry</a:t>
            </a:r>
            <a:endParaRPr lang="en-US" sz="1050" dirty="0"/>
          </a:p>
        </p:txBody>
      </p:sp>
      <p:sp>
        <p:nvSpPr>
          <p:cNvPr id="33" name="Text 30"/>
          <p:cNvSpPr txBox="1"/>
          <p:nvPr/>
        </p:nvSpPr>
        <p:spPr>
          <a:xfrm>
            <a:off x="987552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Amortisation and accruals</a:t>
            </a:r>
            <a:endParaRPr lang="en-US" sz="1050" dirty="0"/>
          </a:p>
        </p:txBody>
      </p:sp>
      <p:sp>
        <p:nvSpPr>
          <p:cNvPr id="34" name="Text 31"/>
          <p:cNvSpPr txBox="1"/>
          <p:nvPr/>
        </p:nvSpPr>
        <p:spPr>
          <a:xfrm>
            <a:off x="813816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Upcoming and overdue</a:t>
            </a:r>
            <a:endParaRPr lang="en-US" sz="1050" dirty="0"/>
          </a:p>
        </p:txBody>
      </p:sp>
      <p:sp>
        <p:nvSpPr>
          <p:cNvPr id="35" name="Text 32"/>
          <p:cNvSpPr txBox="1"/>
          <p:nvPr/>
        </p:nvSpPr>
        <p:spPr>
          <a:xfrm>
            <a:off x="987552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Dashboard</a:t>
            </a:r>
            <a:endParaRPr lang="en-US" sz="1050" dirty="0"/>
          </a:p>
        </p:txBody>
      </p:sp>
      <p:sp>
        <p:nvSpPr>
          <p:cNvPr id="36" name="Text 33"/>
          <p:cNvSpPr txBox="1"/>
          <p:nvPr/>
        </p:nvSpPr>
        <p:spPr>
          <a:xfrm>
            <a:off x="813816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Ledger and batch views</a:t>
            </a:r>
            <a:endParaRPr lang="en-US" sz="1050" dirty="0"/>
          </a:p>
        </p:txBody>
      </p:sp>
      <p:sp>
        <p:nvSpPr>
          <p:cNvPr id="37" name="Text 34"/>
          <p:cNvSpPr txBox="1"/>
          <p:nvPr/>
        </p:nvSpPr>
        <p:spPr>
          <a:xfrm>
            <a:off x="987552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Products and configuration</a:t>
            </a:r>
            <a:endParaRPr lang="en-US" sz="1050" dirty="0"/>
          </a:p>
        </p:txBody>
      </p:sp>
      <p:sp>
        <p:nvSpPr>
          <p:cNvPr id="38" name="Shape 35"/>
          <p:cNvSpPr/>
          <p:nvPr/>
        </p:nvSpPr>
        <p:spPr>
          <a:xfrm flipH="1">
            <a:off x="7863840" y="4114800"/>
            <a:ext cx="182880" cy="0"/>
          </a:xfrm>
          <a:prstGeom prst="line">
            <a:avLst/>
          </a:prstGeom>
          <a:noFill/>
          <a:ln w="22225">
            <a:solidFill>
              <a:schemeClr val="accent2"/>
            </a:solidFill>
            <a:prstDash val="dash"/>
            <a:tailEnd type="triangle"/>
          </a:ln>
        </p:spPr>
      </p:sp>
      <p:sp>
        <p:nvSpPr>
          <p:cNvPr id="39" name="Text 36"/>
          <p:cNvSpPr txBox="1"/>
          <p:nvPr/>
        </p:nvSpPr>
        <p:spPr>
          <a:xfrm>
            <a:off x="7635240" y="4828032"/>
            <a:ext cx="1554480" cy="228600"/>
          </a:xfrm>
          <a:prstGeom prst="rect">
            <a:avLst/>
          </a:prstGeom>
          <a:noFill/>
          <a:ln/>
        </p:spPr>
        <p:txBody>
          <a:bodyPr wrap="square" lIns="0" tIns="0" rIns="0" bIns="0" rtlCol="0" anchor="ctr"/>
          <a:lstStyle/>
          <a:p>
            <a:pPr algn="l" indent="0" marL="0">
              <a:buNone/>
            </a:pPr>
            <a:r>
              <a:rPr lang="en-US" sz="900" i="1" dirty="0">
                <a:solidFill>
                  <a:schemeClr val="accent4"/>
                </a:solidFill>
              </a:rPr>
              <a:t>edit jobs (PUT, reload)</a:t>
            </a:r>
            <a:endParaRPr lang="en-US" sz="900" dirty="0"/>
          </a:p>
        </p:txBody>
      </p:sp>
      <p:sp>
        <p:nvSpPr>
          <p:cNvPr id="40" name="Shape 37"/>
          <p:cNvSpPr/>
          <p:nvPr/>
        </p:nvSpPr>
        <p:spPr>
          <a:xfrm>
            <a:off x="2331720" y="4800600"/>
            <a:ext cx="0" cy="548640"/>
          </a:xfrm>
          <a:prstGeom prst="line">
            <a:avLst/>
          </a:prstGeom>
          <a:noFill/>
          <a:ln w="22225">
            <a:solidFill>
              <a:schemeClr val="tx2"/>
            </a:solidFill>
            <a:prstDash val="solid"/>
            <a:headEnd type="triangle"/>
            <a:tailEnd type="triangle"/>
          </a:ln>
        </p:spPr>
      </p:sp>
      <p:sp>
        <p:nvSpPr>
          <p:cNvPr id="41" name="Text 38"/>
          <p:cNvSpPr txBox="1"/>
          <p:nvPr/>
        </p:nvSpPr>
        <p:spPr>
          <a:xfrm>
            <a:off x="242316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2" name="Shape 39"/>
          <p:cNvSpPr/>
          <p:nvPr/>
        </p:nvSpPr>
        <p:spPr>
          <a:xfrm>
            <a:off x="6080760" y="4800600"/>
            <a:ext cx="0" cy="548640"/>
          </a:xfrm>
          <a:prstGeom prst="line">
            <a:avLst/>
          </a:prstGeom>
          <a:noFill/>
          <a:ln w="22225">
            <a:solidFill>
              <a:schemeClr val="tx2"/>
            </a:solidFill>
            <a:prstDash val="solid"/>
            <a:headEnd type="triangle"/>
            <a:tailEnd type="triangle"/>
          </a:ln>
        </p:spPr>
      </p:sp>
      <p:sp>
        <p:nvSpPr>
          <p:cNvPr id="43" name="Text 40"/>
          <p:cNvSpPr txBox="1"/>
          <p:nvPr/>
        </p:nvSpPr>
        <p:spPr>
          <a:xfrm>
            <a:off x="617220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4" name="Shape 41"/>
          <p:cNvSpPr/>
          <p:nvPr/>
        </p:nvSpPr>
        <p:spPr>
          <a:xfrm>
            <a:off x="9829800" y="4800600"/>
            <a:ext cx="0" cy="548640"/>
          </a:xfrm>
          <a:prstGeom prst="line">
            <a:avLst/>
          </a:prstGeom>
          <a:noFill/>
          <a:ln w="22225">
            <a:solidFill>
              <a:schemeClr val="tx2"/>
            </a:solidFill>
            <a:prstDash val="dash"/>
            <a:tailEnd type="triangle"/>
          </a:ln>
        </p:spPr>
      </p:sp>
      <p:sp>
        <p:nvSpPr>
          <p:cNvPr id="45" name="Text 42"/>
          <p:cNvSpPr txBox="1"/>
          <p:nvPr/>
        </p:nvSpPr>
        <p:spPr>
          <a:xfrm>
            <a:off x="992124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SELECT only</a:t>
            </a:r>
            <a:endParaRPr lang="en-US" sz="1000" dirty="0"/>
          </a:p>
        </p:txBody>
      </p:sp>
      <p:sp>
        <p:nvSpPr>
          <p:cNvPr id="46" name="Text 43"/>
          <p:cNvSpPr txBox="1"/>
          <p:nvPr/>
        </p:nvSpPr>
        <p:spPr>
          <a:xfrm>
            <a:off x="548640" y="5349240"/>
            <a:ext cx="11064240" cy="640080"/>
          </a:xfrm>
          <a:prstGeom prst="roundRect">
            <a:avLst>
              <a:gd name="adj" fmla="val 11429"/>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PostgreSQL 16</a:t>
            </a:r>
            <a:endParaRPr lang="en-US" sz="1200" dirty="0"/>
          </a:p>
          <a:p>
            <a:pPr algn="ctr" indent="0" marL="0">
              <a:buNone/>
            </a:pPr>
            <a:r>
              <a:rPr lang="en-US" sz="1200" dirty="0">
                <a:solidFill>
                  <a:schemeClr val="bg1"/>
                </a:solidFill>
              </a:rPr>
              <a:t>schema public: lending tables   |   schema batch: job config, error records, Spring Batch and Quartz tables</a:t>
            </a:r>
            <a:endParaRPr lang="en-US" sz="1200" dirty="0"/>
          </a:p>
        </p:txBody>
      </p:sp>
      <p:sp>
        <p:nvSpPr>
          <p:cNvPr id="47" name="Text 44"/>
          <p:cNvSpPr txBox="1"/>
          <p:nvPr/>
        </p:nvSpPr>
        <p:spPr>
          <a:xfrm>
            <a:off x="548640" y="6053328"/>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External and not deployed in the sandbox: core banking ledger (outbox push, logging stub) and Kafka (batch events). The admin console also proxies the statement PDF from lending-service.</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The Render sandbox</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Everything below is deployed from render.yaml on Render's free tier, region Singapore</a:t>
            </a:r>
            <a:endParaRPr lang="en-US" sz="1400" dirty="0"/>
          </a:p>
        </p:txBody>
      </p:sp>
      <p:sp>
        <p:nvSpPr>
          <p:cNvPr id="5" name="Text 2"/>
          <p:cNvSpPr txBox="1"/>
          <p:nvPr/>
        </p:nvSpPr>
        <p:spPr>
          <a:xfrm>
            <a:off x="548640" y="1371600"/>
            <a:ext cx="5943600" cy="914400"/>
          </a:xfrm>
          <a:prstGeom prst="roundRect">
            <a:avLst>
              <a:gd name="adj" fmla="val 8000"/>
            </a:avLst>
          </a:prstGeom>
          <a:solidFill>
            <a:schemeClr val="accent1">
              <a:alpha val="10000"/>
            </a:schemeClr>
          </a:solidFill>
          <a:ln w="15875">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42646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p:txBody>
      </p:sp>
      <p:sp>
        <p:nvSpPr>
          <p:cNvPr id="7" name="Text 4"/>
          <p:cNvSpPr txBox="1"/>
          <p:nvPr/>
        </p:nvSpPr>
        <p:spPr>
          <a:xfrm>
            <a:off x="731520" y="1700784"/>
            <a:ext cx="5577840" cy="237744"/>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https://lending-service-5tqm.onrender.com</a:t>
            </a:r>
            <a:endParaRPr lang="en-US" sz="1200" dirty="0"/>
          </a:p>
        </p:txBody>
      </p:sp>
      <p:sp>
        <p:nvSpPr>
          <p:cNvPr id="8" name="Text 5"/>
          <p:cNvSpPr txBox="1"/>
          <p:nvPr/>
        </p:nvSpPr>
        <p:spPr>
          <a:xfrm>
            <a:off x="731520" y="1956816"/>
            <a:ext cx="5577840" cy="292608"/>
          </a:xfrm>
          <a:prstGeom prst="rect">
            <a:avLst/>
          </a:prstGeom>
          <a:noFill/>
          <a:ln/>
        </p:spPr>
        <p:txBody>
          <a:bodyPr wrap="square" lIns="0" tIns="0" rIns="0" bIns="0" rtlCol="0" anchor="t"/>
          <a:lstStyle/>
          <a:p>
            <a:pPr indent="0" marL="0">
              <a:buNone/>
            </a:pPr>
            <a:r>
              <a:rPr lang="en-US" sz="1000" dirty="0">
                <a:solidFill>
                  <a:schemeClr val="tx1"/>
                </a:solidFill>
              </a:rPr>
              <a:t>Swagger UI: /swagger-ui.html   |   OpenAPI: /v3/api-docs</a:t>
            </a:r>
            <a:endParaRPr lang="en-US" sz="1000" dirty="0"/>
          </a:p>
        </p:txBody>
      </p:sp>
      <p:sp>
        <p:nvSpPr>
          <p:cNvPr id="9" name="Text 6"/>
          <p:cNvSpPr txBox="1"/>
          <p:nvPr/>
        </p:nvSpPr>
        <p:spPr>
          <a:xfrm>
            <a:off x="548640" y="2377440"/>
            <a:ext cx="5943600" cy="914400"/>
          </a:xfrm>
          <a:prstGeom prst="roundRect">
            <a:avLst>
              <a:gd name="adj" fmla="val 8000"/>
            </a:avLst>
          </a:prstGeom>
          <a:solidFill>
            <a:schemeClr val="accent4">
              <a:alpha val="10000"/>
            </a:schemeClr>
          </a:solidFill>
          <a:ln w="15875">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243230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p:txBody>
      </p:sp>
      <p:sp>
        <p:nvSpPr>
          <p:cNvPr id="11" name="Text 8"/>
          <p:cNvSpPr txBox="1"/>
          <p:nvPr/>
        </p:nvSpPr>
        <p:spPr>
          <a:xfrm>
            <a:off x="731520" y="2706624"/>
            <a:ext cx="5577840" cy="237744"/>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URL assigned by Render (see the dashboard)</a:t>
            </a:r>
            <a:endParaRPr lang="en-US" sz="1200" dirty="0"/>
          </a:p>
        </p:txBody>
      </p:sp>
      <p:sp>
        <p:nvSpPr>
          <p:cNvPr id="12" name="Text 9"/>
          <p:cNvSpPr txBox="1"/>
          <p:nvPr/>
        </p:nvSpPr>
        <p:spPr>
          <a:xfrm>
            <a:off x="731520" y="2962656"/>
            <a:ext cx="5577840" cy="292608"/>
          </a:xfrm>
          <a:prstGeom prst="rect">
            <a:avLst/>
          </a:prstGeom>
          <a:noFill/>
          <a:ln/>
        </p:spPr>
        <p:txBody>
          <a:bodyPr wrap="square" lIns="0" tIns="0" rIns="0" bIns="0" rtlCol="0" anchor="t"/>
          <a:lstStyle/>
          <a:p>
            <a:pPr indent="0" marL="0">
              <a:buNone/>
            </a:pPr>
            <a:r>
              <a:rPr lang="en-US" sz="1000" dirty="0">
                <a:solidFill>
                  <a:schemeClr val="tx1"/>
                </a:solidFill>
              </a:rPr>
              <a:t>Admin API /api/v1/batch-admin/**  |  user batch-admin, password BATCH_ADMIN_PASSWORD</a:t>
            </a:r>
            <a:endParaRPr lang="en-US" sz="1000" dirty="0"/>
          </a:p>
        </p:txBody>
      </p:sp>
      <p:sp>
        <p:nvSpPr>
          <p:cNvPr id="13" name="Text 10"/>
          <p:cNvSpPr txBox="1"/>
          <p:nvPr/>
        </p:nvSpPr>
        <p:spPr>
          <a:xfrm>
            <a:off x="548640" y="3383280"/>
            <a:ext cx="5943600" cy="914400"/>
          </a:xfrm>
          <a:prstGeom prst="roundRect">
            <a:avLst>
              <a:gd name="adj" fmla="val 8000"/>
            </a:avLst>
          </a:prstGeom>
          <a:solidFill>
            <a:schemeClr val="accent2">
              <a:alpha val="10000"/>
            </a:schemeClr>
          </a:solidFill>
          <a:ln w="15875">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731520" y="343814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lending-admin-service  (admin portal)</a:t>
            </a:r>
            <a:endParaRPr lang="en-US" sz="1400" dirty="0"/>
          </a:p>
        </p:txBody>
      </p:sp>
      <p:sp>
        <p:nvSpPr>
          <p:cNvPr id="15" name="Text 12"/>
          <p:cNvSpPr txBox="1"/>
          <p:nvPr/>
        </p:nvSpPr>
        <p:spPr>
          <a:xfrm>
            <a:off x="731520" y="3712464"/>
            <a:ext cx="5577840" cy="237744"/>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https://lending-admin-service-&lt;suffix&gt;.onrender.com</a:t>
            </a:r>
            <a:endParaRPr lang="en-US" sz="1200" dirty="0"/>
          </a:p>
        </p:txBody>
      </p:sp>
      <p:sp>
        <p:nvSpPr>
          <p:cNvPr id="16" name="Text 13"/>
          <p:cNvSpPr txBox="1"/>
          <p:nvPr/>
        </p:nvSpPr>
        <p:spPr>
          <a:xfrm>
            <a:off x="731520" y="3968496"/>
            <a:ext cx="5577840" cy="292608"/>
          </a:xfrm>
          <a:prstGeom prst="rect">
            <a:avLst/>
          </a:prstGeom>
          <a:noFill/>
          <a:ln/>
        </p:spPr>
        <p:txBody>
          <a:bodyPr wrap="square" lIns="0" tIns="0" rIns="0" bIns="0" rtlCol="0" anchor="t"/>
          <a:lstStyle/>
          <a:p>
            <a:pPr indent="0" marL="0">
              <a:buNone/>
            </a:pPr>
            <a:r>
              <a:rPr lang="en-US" sz="1000" dirty="0">
                <a:solidFill>
                  <a:schemeClr val="tx1"/>
                </a:solidFill>
              </a:rPr>
              <a:t>Login admin / ADMIN_PASSWORD (Render &gt; Environment)  |  Swagger: /swagger-ui.html</a:t>
            </a:r>
            <a:endParaRPr lang="en-US" sz="1000" dirty="0"/>
          </a:p>
        </p:txBody>
      </p:sp>
      <p:sp>
        <p:nvSpPr>
          <p:cNvPr id="17" name="Text 14"/>
          <p:cNvSpPr txBox="1"/>
          <p:nvPr/>
        </p:nvSpPr>
        <p:spPr>
          <a:xfrm>
            <a:off x="548640" y="4389120"/>
            <a:ext cx="5943600" cy="914400"/>
          </a:xfrm>
          <a:prstGeom prst="roundRect">
            <a:avLst>
              <a:gd name="adj" fmla="val 8000"/>
            </a:avLst>
          </a:prstGeom>
          <a:solidFill>
            <a:schemeClr val="tx2">
              <a:alpha val="10000"/>
            </a:schemeClr>
          </a:solidFill>
          <a:ln w="15875">
            <a:solidFill>
              <a:schemeClr val="tx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731520" y="444398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lending-db  (PostgreSQL 16)</a:t>
            </a:r>
            <a:endParaRPr lang="en-US" sz="1400" dirty="0"/>
          </a:p>
        </p:txBody>
      </p:sp>
      <p:sp>
        <p:nvSpPr>
          <p:cNvPr id="19" name="Text 16"/>
          <p:cNvSpPr txBox="1"/>
          <p:nvPr/>
        </p:nvSpPr>
        <p:spPr>
          <a:xfrm>
            <a:off x="731520" y="4718304"/>
            <a:ext cx="5577840" cy="237744"/>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Internal connection only, shared by all three services</a:t>
            </a:r>
            <a:endParaRPr lang="en-US" sz="1200" dirty="0"/>
          </a:p>
        </p:txBody>
      </p:sp>
      <p:sp>
        <p:nvSpPr>
          <p:cNvPr id="20" name="Text 17"/>
          <p:cNvSpPr txBox="1"/>
          <p:nvPr/>
        </p:nvSpPr>
        <p:spPr>
          <a:xfrm>
            <a:off x="731520" y="4974336"/>
            <a:ext cx="5577840" cy="292608"/>
          </a:xfrm>
          <a:prstGeom prst="rect">
            <a:avLst/>
          </a:prstGeom>
          <a:noFill/>
          <a:ln/>
        </p:spPr>
        <p:txBody>
          <a:bodyPr wrap="square" lIns="0" tIns="0" rIns="0" bIns="0" rtlCol="0" anchor="t"/>
          <a:lstStyle/>
          <a:p>
            <a:pPr indent="0" marL="0">
              <a:buNone/>
            </a:pPr>
            <a:r>
              <a:rPr lang="en-US" sz="1000" dirty="0">
                <a:solidFill>
                  <a:schemeClr val="tx1"/>
                </a:solidFill>
              </a:rPr>
              <a:t>Free plan: the database is deleted after 30 days</a:t>
            </a:r>
            <a:endParaRPr lang="en-US" sz="1000" dirty="0"/>
          </a:p>
        </p:txBody>
      </p:sp>
      <p:sp>
        <p:nvSpPr>
          <p:cNvPr id="21" name="Text 18"/>
          <p:cNvSpPr txBox="1"/>
          <p:nvPr/>
        </p:nvSpPr>
        <p:spPr>
          <a:xfrm>
            <a:off x="6858000" y="1371600"/>
            <a:ext cx="4754880" cy="320040"/>
          </a:xfrm>
          <a:prstGeom prst="rect">
            <a:avLst/>
          </a:prstGeom>
          <a:noFill/>
          <a:ln/>
        </p:spPr>
        <p:txBody>
          <a:bodyPr wrap="square" lIns="0" tIns="0" rIns="0" bIns="0" rtlCol="0" anchor="t"/>
          <a:lstStyle/>
          <a:p>
            <a:pPr indent="0" marL="0">
              <a:buNone/>
            </a:pPr>
            <a:r>
              <a:rPr lang="en-US" sz="1800" b="1" dirty="0">
                <a:solidFill>
                  <a:schemeClr val="tx2"/>
                </a:solidFill>
              </a:rPr>
              <a:t>Try it in six steps</a:t>
            </a:r>
            <a:endParaRPr lang="en-US" sz="1800" dirty="0"/>
          </a:p>
        </p:txBody>
      </p:sp>
      <p:sp>
        <p:nvSpPr>
          <p:cNvPr id="22" name="Text 19"/>
          <p:cNvSpPr txBox="1"/>
          <p:nvPr/>
        </p:nvSpPr>
        <p:spPr>
          <a:xfrm>
            <a:off x="6858000" y="183794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23" name="Text 20"/>
          <p:cNvSpPr txBox="1"/>
          <p:nvPr/>
        </p:nvSpPr>
        <p:spPr>
          <a:xfrm>
            <a:off x="7452360" y="178308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Swagger on lending-service</a:t>
            </a:r>
            <a:endParaRPr lang="en-US" sz="1300" dirty="0"/>
          </a:p>
        </p:txBody>
      </p:sp>
      <p:sp>
        <p:nvSpPr>
          <p:cNvPr id="24" name="Text 21"/>
          <p:cNvSpPr txBox="1"/>
          <p:nvPr/>
        </p:nvSpPr>
        <p:spPr>
          <a:xfrm>
            <a:off x="6858000" y="2459736"/>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5" name="Text 22"/>
          <p:cNvSpPr txBox="1"/>
          <p:nvPr/>
        </p:nvSpPr>
        <p:spPr>
          <a:xfrm>
            <a:off x="7452360" y="2404872"/>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/loan-accounts/bulk/create with samples/bulk-create-100-accounts.json</a:t>
            </a:r>
            <a:endParaRPr lang="en-US" sz="1300" dirty="0"/>
          </a:p>
        </p:txBody>
      </p:sp>
      <p:sp>
        <p:nvSpPr>
          <p:cNvPr id="26" name="Text 23"/>
          <p:cNvSpPr txBox="1"/>
          <p:nvPr/>
        </p:nvSpPr>
        <p:spPr>
          <a:xfrm>
            <a:off x="6858000" y="308152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7452360" y="3026664"/>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/loan-accounts/bulk/disburse with samples/bulk-disburse-100-accounts.json</a:t>
            </a:r>
            <a:endParaRPr lang="en-US" sz="1300" dirty="0"/>
          </a:p>
        </p:txBody>
      </p:sp>
      <p:sp>
        <p:nvSpPr>
          <p:cNvPr id="28" name="Text 25"/>
          <p:cNvSpPr txBox="1"/>
          <p:nvPr/>
        </p:nvSpPr>
        <p:spPr>
          <a:xfrm>
            <a:off x="6858000" y="370332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9" name="Text 26"/>
          <p:cNvSpPr txBox="1"/>
          <p:nvPr/>
        </p:nvSpPr>
        <p:spPr>
          <a:xfrm>
            <a:off x="7452360" y="3648456"/>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/interest-accruals/run?businessDate=YYYY-MM-DD (or scripts/run-accrual.ps1)</a:t>
            </a:r>
            <a:endParaRPr lang="en-US" sz="1300" dirty="0"/>
          </a:p>
        </p:txBody>
      </p:sp>
      <p:sp>
        <p:nvSpPr>
          <p:cNvPr id="30" name="Text 27"/>
          <p:cNvSpPr txBox="1"/>
          <p:nvPr/>
        </p:nvSpPr>
        <p:spPr>
          <a:xfrm>
            <a:off x="6858000" y="4325112"/>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1" name="Text 28"/>
          <p:cNvSpPr txBox="1"/>
          <p:nvPr/>
        </p:nvSpPr>
        <p:spPr>
          <a:xfrm>
            <a:off x="7452360" y="4270248"/>
            <a:ext cx="4160520" cy="566928"/>
          </a:xfrm>
          <a:prstGeom prst="rect">
            <a:avLst/>
          </a:prstGeom>
          <a:noFill/>
          <a:ln/>
        </p:spPr>
        <p:txBody>
          <a:bodyPr wrap="square" lIns="0" tIns="0" rIns="0" bIns="0" rtlCol="0" anchor="ctr"/>
          <a:lstStyle/>
          <a:p>
            <a:pPr indent="0" marL="0">
              <a:buNone/>
            </a:pPr>
            <a:r>
              <a:rPr lang="en-US" sz="1300" dirty="0">
                <a:solidFill>
                  <a:schemeClr val="tx1"/>
                </a:solidFill>
              </a:rPr>
              <a:t>GET /loan-accounts/{id}/statement to download the customer PDF</a:t>
            </a:r>
            <a:endParaRPr lang="en-US" sz="1300" dirty="0"/>
          </a:p>
        </p:txBody>
      </p:sp>
      <p:sp>
        <p:nvSpPr>
          <p:cNvPr id="32" name="Text 29"/>
          <p:cNvSpPr txBox="1"/>
          <p:nvPr/>
        </p:nvSpPr>
        <p:spPr>
          <a:xfrm>
            <a:off x="6858000" y="494690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3" name="Text 30"/>
          <p:cNvSpPr txBox="1"/>
          <p:nvPr/>
        </p:nvSpPr>
        <p:spPr>
          <a:xfrm>
            <a:off x="7452360" y="489204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the admin portal, sign in, and inspect the accounts and Configuration</a:t>
            </a:r>
            <a:endParaRPr lang="en-US" sz="1300" dirty="0"/>
          </a:p>
        </p:txBody>
      </p:sp>
      <p:sp>
        <p:nvSpPr>
          <p:cNvPr id="34" name="Text 31"/>
          <p:cNvSpPr txBox="1"/>
          <p:nvPr/>
        </p:nvSpPr>
        <p:spPr>
          <a:xfrm>
            <a:off x="548640" y="5532120"/>
            <a:ext cx="11064240" cy="777240"/>
          </a:xfrm>
          <a:prstGeom prst="roundRect">
            <a:avLst>
              <a:gd name="adj" fmla="val 9412"/>
            </a:avLst>
          </a:prstGeom>
          <a:solidFill>
            <a:schemeClr val="accent2">
              <a:alpha val="30000"/>
            </a:schemeClr>
          </a:solidFill>
          <a:ln w="12700">
            <a:solidFill>
              <a:schemeClr val="accent2"/>
            </a:solidFill>
          </a:ln>
        </p:spPr>
        <p:txBody>
          <a:bodyPr wrap="square" lIns="101600" tIns="101600" rIns="101600" bIns="101600" rtlCol="0" anchor="ctr"/>
          <a:lstStyle/>
          <a:p>
            <a:pPr algn="l" indent="0" marL="0">
              <a:buNone/>
            </a:pPr>
            <a:r>
              <a:rPr lang="en-US" sz="1300" dirty="0">
                <a:solidFill>
                  <a:schemeClr val="tx1"/>
                </a:solidFill>
              </a:rPr>
              <a:t>Free-tier behaviour: services sleep after about 15 minutes idle, so the first call can take a minute. There is no Kafka broker on Render, so batch events are not delivered. The ledger gateway is a logging stub, so outbox rows are not posted anywhere yet.</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loan_account is the hub; every other table hangs off account_id</a:t>
            </a:r>
            <a:endParaRPr lang="en-US" sz="1400" dirty="0"/>
          </a:p>
        </p:txBody>
      </p:sp>
      <p:sp>
        <p:nvSpPr>
          <p:cNvPr id="5" name="Text 2"/>
          <p:cNvSpPr txBox="1"/>
          <p:nvPr/>
        </p:nvSpPr>
        <p:spPr>
          <a:xfrm>
            <a:off x="548640" y="137160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a:t>
            </a:r>
            <a:endParaRPr lang="en-US" sz="1100" dirty="0"/>
          </a:p>
        </p:txBody>
      </p:sp>
      <p:sp>
        <p:nvSpPr>
          <p:cNvPr id="6" name="Text 3"/>
          <p:cNvSpPr txBox="1"/>
          <p:nvPr/>
        </p:nvSpPr>
        <p:spPr>
          <a:xfrm>
            <a:off x="548640" y="1682496"/>
            <a:ext cx="3291840" cy="170078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mortgage_id</a:t>
            </a:r>
            <a:endParaRPr lang="en-US" sz="1100" dirty="0"/>
          </a:p>
          <a:p>
            <a:pPr algn="l" indent="0" marL="0">
              <a:buNone/>
            </a:pPr>
            <a:r>
              <a:rPr lang="en-US" sz="1100" dirty="0">
                <a:solidFill>
                  <a:schemeClr val="tx1"/>
                </a:solidFill>
              </a:rPr>
              <a:t>UQ FK  account_id</a:t>
            </a:r>
            <a:endParaRPr lang="en-US" sz="1100" dirty="0"/>
          </a:p>
          <a:p>
            <a:pPr algn="l" indent="0" marL="0">
              <a:buNone/>
            </a:pPr>
            <a:r>
              <a:rPr lang="en-US" sz="1100" dirty="0">
                <a:solidFill>
                  <a:schemeClr val="tx1"/>
                </a:solidFill>
              </a:rPr>
              <a:t>property_type, property_address</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ltv_ratio</a:t>
            </a:r>
            <a:endParaRPr lang="en-US" sz="1100" dirty="0"/>
          </a:p>
          <a:p>
            <a:pPr algn="l" indent="0" marL="0">
              <a:buNone/>
            </a:pPr>
            <a:r>
              <a:rPr lang="en-US" sz="1100" dirty="0">
                <a:solidFill>
                  <a:schemeClr val="tx1"/>
                </a:solidFill>
              </a:rPr>
              <a:t>charge_status  PENDING | REGISTERED | RELEASED</a:t>
            </a:r>
            <a:endParaRPr lang="en-US" sz="1100" dirty="0"/>
          </a:p>
          <a:p>
            <a:pPr algn="l" indent="0" marL="0">
              <a:buNone/>
            </a:pPr>
            <a:r>
              <a:rPr lang="en-US" sz="1100" dirty="0">
                <a:solidFill>
                  <a:schemeClr val="tx1"/>
                </a:solidFill>
              </a:rPr>
              <a:t>cersai, deed and insurance refs</a:t>
            </a:r>
            <a:endParaRPr lang="en-US" sz="1100" dirty="0"/>
          </a:p>
          <a:p>
            <a:pPr algn="l" indent="0" marL="0">
              <a:buNone/>
            </a:pPr>
            <a:r>
              <a:rPr lang="en-US" sz="1100" dirty="0">
                <a:solidFill>
                  <a:schemeClr val="tx1"/>
                </a:solidFill>
              </a:rPr>
              <a:t>legal_verification_status</a:t>
            </a:r>
            <a:endParaRPr lang="en-US" sz="1100" dirty="0"/>
          </a:p>
        </p:txBody>
      </p:sp>
      <p:sp>
        <p:nvSpPr>
          <p:cNvPr id="7" name="Text 4"/>
          <p:cNvSpPr txBox="1"/>
          <p:nvPr/>
        </p:nvSpPr>
        <p:spPr>
          <a:xfrm>
            <a:off x="548640" y="402336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mortgage_valuation_history</a:t>
            </a:r>
            <a:endParaRPr lang="en-US" sz="1100" dirty="0"/>
          </a:p>
        </p:txBody>
      </p:sp>
      <p:sp>
        <p:nvSpPr>
          <p:cNvPr id="8" name="Text 5"/>
          <p:cNvSpPr txBox="1"/>
          <p:nvPr/>
        </p:nvSpPr>
        <p:spPr>
          <a:xfrm>
            <a:off x="548640" y="4334256"/>
            <a:ext cx="3291840" cy="87782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valuation_id</a:t>
            </a:r>
            <a:endParaRPr lang="en-US" sz="1100" dirty="0"/>
          </a:p>
          <a:p>
            <a:pPr algn="l" indent="0" marL="0">
              <a:buNone/>
            </a:pPr>
            <a:r>
              <a:rPr lang="en-US" sz="1100" dirty="0">
                <a:solidFill>
                  <a:schemeClr val="tx1"/>
                </a:solidFill>
              </a:rPr>
              <a:t>FK  mortgage_id</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valuer_ref, valuation_type</a:t>
            </a:r>
            <a:endParaRPr lang="en-US" sz="1100" dirty="0"/>
          </a:p>
        </p:txBody>
      </p:sp>
      <p:sp>
        <p:nvSpPr>
          <p:cNvPr id="9" name="Text 6"/>
          <p:cNvSpPr txBox="1"/>
          <p:nvPr/>
        </p:nvSpPr>
        <p:spPr>
          <a:xfrm>
            <a:off x="4480560" y="1371600"/>
            <a:ext cx="320040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processed_request  (idempotency log)</a:t>
            </a:r>
            <a:endParaRPr lang="en-US" sz="1100" dirty="0"/>
          </a:p>
        </p:txBody>
      </p:sp>
      <p:sp>
        <p:nvSpPr>
          <p:cNvPr id="10" name="Text 7"/>
          <p:cNvSpPr txBox="1"/>
          <p:nvPr/>
        </p:nvSpPr>
        <p:spPr>
          <a:xfrm>
            <a:off x="4480560" y="1682496"/>
            <a:ext cx="3200400" cy="694944"/>
          </a:xfrm>
          <a:prstGeom prst="rect">
            <a:avLst/>
          </a:prstGeom>
          <a:solidFill>
            <a:schemeClr val="bg1"/>
          </a:solidFill>
          <a:ln w="15875">
            <a:solidFill>
              <a:schemeClr val="accent4"/>
            </a:solidFill>
            <a:prstDash val="dash"/>
          </a:ln>
        </p:spPr>
        <p:txBody>
          <a:bodyPr wrap="square" lIns="76200" tIns="76200" rIns="76200" bIns="76200" rtlCol="0" anchor="t"/>
          <a:lstStyle/>
          <a:p>
            <a:pPr algn="l" indent="0" marL="0">
              <a:buNone/>
            </a:pPr>
            <a:r>
              <a:rPr lang="en-US" sz="1100" dirty="0">
                <a:solidFill>
                  <a:schemeClr val="tx1"/>
                </a:solidFill>
              </a:rPr>
              <a:t>PK  idempotency_key</a:t>
            </a:r>
            <a:endParaRPr lang="en-US" sz="1100" dirty="0"/>
          </a:p>
          <a:p>
            <a:pPr algn="l" indent="0" marL="0">
              <a:buNone/>
            </a:pPr>
            <a:r>
              <a:rPr lang="en-US" sz="1100" dirty="0">
                <a:solidFill>
                  <a:schemeClr val="tx1"/>
                </a:solidFill>
              </a:rPr>
              <a:t>endpoint, account_id</a:t>
            </a:r>
            <a:endParaRPr lang="en-US" sz="1100" dirty="0"/>
          </a:p>
          <a:p>
            <a:pPr algn="l" indent="0" marL="0">
              <a:buNone/>
            </a:pPr>
            <a:r>
              <a:rPr lang="en-US" sz="1100" dirty="0">
                <a:solidFill>
                  <a:schemeClr val="tx1"/>
                </a:solidFill>
              </a:rPr>
              <a:t>response_status, response_body (JSONB)</a:t>
            </a:r>
            <a:endParaRPr lang="en-US" sz="1100" dirty="0"/>
          </a:p>
        </p:txBody>
      </p:sp>
      <p:sp>
        <p:nvSpPr>
          <p:cNvPr id="11" name="Text 8"/>
          <p:cNvSpPr txBox="1"/>
          <p:nvPr/>
        </p:nvSpPr>
        <p:spPr>
          <a:xfrm>
            <a:off x="4480560" y="2514600"/>
            <a:ext cx="320040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loan_account</a:t>
            </a:r>
            <a:endParaRPr lang="en-US" sz="1100" dirty="0"/>
          </a:p>
        </p:txBody>
      </p:sp>
      <p:sp>
        <p:nvSpPr>
          <p:cNvPr id="12" name="Text 9"/>
          <p:cNvSpPr txBox="1"/>
          <p:nvPr/>
        </p:nvSpPr>
        <p:spPr>
          <a:xfrm>
            <a:off x="4480560" y="2825496"/>
            <a:ext cx="3200400" cy="2112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account_id</a:t>
            </a:r>
            <a:endParaRPr lang="en-US" sz="1100" dirty="0"/>
          </a:p>
          <a:p>
            <a:pPr algn="l" indent="0" marL="0">
              <a:buNone/>
            </a:pPr>
            <a:r>
              <a:rPr lang="en-US" sz="1100" dirty="0">
                <a:solidFill>
                  <a:schemeClr val="tx1"/>
                </a:solidFill>
              </a:rPr>
              <a:t>UQ  account_number, sanction_ref_id</a:t>
            </a:r>
            <a:endParaRPr lang="en-US" sz="1100" dirty="0"/>
          </a:p>
          <a:p>
            <a:pPr algn="l" indent="0" marL="0">
              <a:buNone/>
            </a:pPr>
            <a:r>
              <a:rPr lang="en-US" sz="1100" dirty="0">
                <a:solidFill>
                  <a:schemeClr val="tx1"/>
                </a:solidFill>
              </a:rPr>
              <a:t>customer_id, product_code, FK product_id</a:t>
            </a:r>
            <a:endParaRPr lang="en-US" sz="1100" dirty="0"/>
          </a:p>
          <a:p>
            <a:pPr algn="l" indent="0" marL="0">
              <a:buNone/>
            </a:pPr>
            <a:r>
              <a:rPr lang="en-US" sz="1100" dirty="0">
                <a:solidFill>
                  <a:schemeClr val="tx1"/>
                </a:solidFill>
              </a:rPr>
              <a:t>account_type  UNSECURED | MORTGAGE</a:t>
            </a:r>
            <a:endParaRPr lang="en-US" sz="1100" dirty="0"/>
          </a:p>
          <a:p>
            <a:pPr algn="l" indent="0" marL="0">
              <a:buNone/>
            </a:pPr>
            <a:r>
              <a:rPr lang="en-US" sz="1100" dirty="0">
                <a:solidFill>
                  <a:schemeClr val="tx1"/>
                </a:solidFill>
              </a:rPr>
              <a:t>rate_type, interest_rate, spread</a:t>
            </a:r>
            <a:endParaRPr lang="en-US" sz="1100" dirty="0"/>
          </a:p>
          <a:p>
            <a:pPr algn="l" indent="0" marL="0">
              <a:buNone/>
            </a:pPr>
            <a:r>
              <a:rPr lang="en-US" sz="1100" dirty="0">
                <a:solidFill>
                  <a:schemeClr val="tx1"/>
                </a:solidFill>
              </a:rPr>
              <a:t>day_count_convention</a:t>
            </a:r>
            <a:endParaRPr lang="en-US" sz="1100" dirty="0"/>
          </a:p>
          <a:p>
            <a:pPr algn="l" indent="0" marL="0">
              <a:buNone/>
            </a:pPr>
            <a:r>
              <a:rPr lang="en-US" sz="1100" dirty="0">
                <a:solidFill>
                  <a:schemeClr val="tx1"/>
                </a:solidFill>
              </a:rPr>
              <a:t>sanctioned_amount, disbursed_amount</a:t>
            </a:r>
            <a:endParaRPr lang="en-US" sz="1100" dirty="0"/>
          </a:p>
          <a:p>
            <a:pPr algn="l" indent="0" marL="0">
              <a:buNone/>
            </a:pPr>
            <a:r>
              <a:rPr lang="en-US" sz="1100" dirty="0">
                <a:solidFill>
                  <a:schemeClr val="tx1"/>
                </a:solidFill>
              </a:rPr>
              <a:t>tenure_months, emi_amount, emi_start_date</a:t>
            </a:r>
            <a:endParaRPr lang="en-US" sz="1100" dirty="0"/>
          </a:p>
          <a:p>
            <a:pPr algn="l" indent="0" marL="0">
              <a:buNone/>
            </a:pPr>
            <a:r>
              <a:rPr lang="en-US" sz="1100" dirty="0">
                <a:solidFill>
                  <a:schemeClr val="tx1"/>
                </a:solidFill>
              </a:rPr>
              <a:t>account_status  (11 states)</a:t>
            </a:r>
            <a:endParaRPr lang="en-US" sz="1100" dirty="0"/>
          </a:p>
          <a:p>
            <a:pPr algn="l" indent="0" marL="0">
              <a:buNone/>
            </a:pPr>
            <a:r>
              <a:rPr lang="en-US" sz="1100" dirty="0">
                <a:solidFill>
                  <a:schemeClr val="tx1"/>
                </a:solidFill>
              </a:rPr>
              <a:t>FK  mortgage_id,  version (optimistic lock)</a:t>
            </a:r>
            <a:endParaRPr lang="en-US" sz="1100" dirty="0"/>
          </a:p>
        </p:txBody>
      </p:sp>
      <p:sp>
        <p:nvSpPr>
          <p:cNvPr id="13" name="Text 10"/>
          <p:cNvSpPr txBox="1"/>
          <p:nvPr/>
        </p:nvSpPr>
        <p:spPr>
          <a:xfrm>
            <a:off x="4480560" y="5303520"/>
            <a:ext cx="3200400" cy="310896"/>
          </a:xfrm>
          <a:prstGeom prst="rect">
            <a:avLst/>
          </a:prstGeom>
          <a:solidFill>
            <a:schemeClr val="accent6"/>
          </a:solidFill>
          <a:ln w="12700">
            <a:solidFill>
              <a:schemeClr val="accent6"/>
            </a:solidFill>
          </a:ln>
        </p:spPr>
        <p:txBody>
          <a:bodyPr wrap="square" lIns="76200" tIns="76200" rIns="76200" bIns="76200" rtlCol="0" anchor="ctr"/>
          <a:lstStyle/>
          <a:p>
            <a:pPr algn="l" indent="0" marL="0">
              <a:buNone/>
            </a:pPr>
            <a:r>
              <a:rPr lang="en-US" sz="1100" b="1" dirty="0">
                <a:solidFill>
                  <a:schemeClr val="bg1"/>
                </a:solidFill>
              </a:rPr>
              <a:t>ledger_outbox</a:t>
            </a:r>
            <a:endParaRPr lang="en-US" sz="1100" dirty="0"/>
          </a:p>
        </p:txBody>
      </p:sp>
      <p:sp>
        <p:nvSpPr>
          <p:cNvPr id="14" name="Text 11"/>
          <p:cNvSpPr txBox="1"/>
          <p:nvPr/>
        </p:nvSpPr>
        <p:spPr>
          <a:xfrm>
            <a:off x="4480560" y="5614416"/>
            <a:ext cx="3200400" cy="603504"/>
          </a:xfrm>
          <a:prstGeom prst="rect">
            <a:avLst/>
          </a:prstGeom>
          <a:solidFill>
            <a:schemeClr val="bg1"/>
          </a:solidFill>
          <a:ln w="15875">
            <a:solidFill>
              <a:schemeClr val="accent6"/>
            </a:solidFill>
          </a:ln>
        </p:spPr>
        <p:txBody>
          <a:bodyPr wrap="square" lIns="76200" tIns="76200" rIns="76200" bIns="76200" rtlCol="0" anchor="t"/>
          <a:lstStyle/>
          <a:p>
            <a:pPr algn="l" indent="0" marL="0">
              <a:buNone/>
            </a:pPr>
            <a:r>
              <a:rPr lang="en-US" sz="1100" dirty="0">
                <a:solidFill>
                  <a:schemeClr val="tx1"/>
                </a:solidFill>
              </a:rPr>
              <a:t>PK  outbox_id,  FK  account_id</a:t>
            </a:r>
            <a:endParaRPr lang="en-US" sz="1100" dirty="0"/>
          </a:p>
          <a:p>
            <a:pPr algn="l" indent="0" marL="0">
              <a:buNone/>
            </a:pPr>
            <a:r>
              <a:rPr lang="en-US" sz="1100" dirty="0">
                <a:solidFill>
                  <a:schemeClr val="tx1"/>
                </a:solidFill>
              </a:rPr>
              <a:t>event_type  DISBURSEMENT | EMI_POSTING | ...</a:t>
            </a:r>
            <a:endParaRPr lang="en-US" sz="1100" dirty="0"/>
          </a:p>
          <a:p>
            <a:pPr algn="l" indent="0" marL="0">
              <a:buNone/>
            </a:pPr>
            <a:r>
              <a:rPr lang="en-US" sz="1100" dirty="0">
                <a:solidFill>
                  <a:schemeClr val="tx1"/>
                </a:solidFill>
              </a:rPr>
              <a:t>posting_status  PENDING | POSTED | FAILED</a:t>
            </a:r>
            <a:endParaRPr lang="en-US" sz="1100" dirty="0"/>
          </a:p>
        </p:txBody>
      </p:sp>
      <p:sp>
        <p:nvSpPr>
          <p:cNvPr id="15" name="Text 12"/>
          <p:cNvSpPr txBox="1"/>
          <p:nvPr/>
        </p:nvSpPr>
        <p:spPr>
          <a:xfrm>
            <a:off x="8503920" y="137160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amortization_schedule</a:t>
            </a:r>
            <a:endParaRPr lang="en-US" sz="1100" dirty="0"/>
          </a:p>
        </p:txBody>
      </p:sp>
      <p:sp>
        <p:nvSpPr>
          <p:cNvPr id="16" name="Text 13"/>
          <p:cNvSpPr txBox="1"/>
          <p:nvPr/>
        </p:nvSpPr>
        <p:spPr>
          <a:xfrm>
            <a:off x="8503920" y="1682496"/>
            <a:ext cx="3108960" cy="11978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schedule_id,  FK  account_id</a:t>
            </a:r>
            <a:endParaRPr lang="en-US" sz="1100" dirty="0"/>
          </a:p>
          <a:p>
            <a:pPr algn="l" indent="0" marL="0">
              <a:buNone/>
            </a:pPr>
            <a:r>
              <a:rPr lang="en-US" sz="1100" dirty="0">
                <a:solidFill>
                  <a:schemeClr val="tx1"/>
                </a:solidFill>
              </a:rPr>
              <a:t>installment_number, due_date</a:t>
            </a:r>
            <a:endParaRPr lang="en-US" sz="1100" dirty="0"/>
          </a:p>
          <a:p>
            <a:pPr algn="l" indent="0" marL="0">
              <a:buNone/>
            </a:pPr>
            <a:r>
              <a:rPr lang="en-US" sz="1100" dirty="0">
                <a:solidFill>
                  <a:schemeClr val="tx1"/>
                </a:solidFill>
              </a:rPr>
              <a:t>principal, interest, outstanding balance</a:t>
            </a:r>
            <a:endParaRPr lang="en-US" sz="1100" dirty="0"/>
          </a:p>
          <a:p>
            <a:pPr algn="l" indent="0" marL="0">
              <a:buNone/>
            </a:pPr>
            <a:r>
              <a:rPr lang="en-US" sz="1100" dirty="0">
                <a:solidFill>
                  <a:schemeClr val="tx1"/>
                </a:solidFill>
              </a:rPr>
              <a:t>status  PENDING | PAID | OVERDUE</a:t>
            </a:r>
            <a:endParaRPr lang="en-US" sz="1100" dirty="0"/>
          </a:p>
          <a:p>
            <a:pPr algn="l" indent="0" marL="0">
              <a:buNone/>
            </a:pPr>
            <a:r>
              <a:rPr lang="en-US" sz="1100" dirty="0">
                <a:solidFill>
                  <a:schemeClr val="tx1"/>
                </a:solidFill>
              </a:rPr>
              <a:t>schedule_version</a:t>
            </a:r>
            <a:endParaRPr lang="en-US" sz="1100" dirty="0"/>
          </a:p>
          <a:p>
            <a:pPr algn="l" indent="0" marL="0">
              <a:buNone/>
            </a:pPr>
            <a:r>
              <a:rPr lang="en-US" sz="1100" dirty="0">
                <a:solidFill>
                  <a:schemeClr val="tx1"/>
                </a:solidFill>
              </a:rPr>
              <a:t>UQ  (account, installment, version)</a:t>
            </a:r>
            <a:endParaRPr lang="en-US" sz="1100" dirty="0"/>
          </a:p>
        </p:txBody>
      </p:sp>
      <p:sp>
        <p:nvSpPr>
          <p:cNvPr id="17" name="Text 14"/>
          <p:cNvSpPr txBox="1"/>
          <p:nvPr/>
        </p:nvSpPr>
        <p:spPr>
          <a:xfrm>
            <a:off x="8503920" y="306324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interest_accrual  [monthly partitions]</a:t>
            </a:r>
            <a:endParaRPr lang="en-US" sz="1100" dirty="0"/>
          </a:p>
        </p:txBody>
      </p:sp>
      <p:sp>
        <p:nvSpPr>
          <p:cNvPr id="18" name="Text 15"/>
          <p:cNvSpPr txBox="1"/>
          <p:nvPr/>
        </p:nvSpPr>
        <p:spPr>
          <a:xfrm>
            <a:off x="8503920" y="3374136"/>
            <a:ext cx="3108960" cy="969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(accrual_id, business_date)</a:t>
            </a:r>
            <a:endParaRPr lang="en-US" sz="1100" dirty="0"/>
          </a:p>
          <a:p>
            <a:pPr algn="l" indent="0" marL="0">
              <a:buNone/>
            </a:pPr>
            <a:r>
              <a:rPr lang="en-US" sz="1100" dirty="0">
                <a:solidFill>
                  <a:schemeClr val="tx1"/>
                </a:solidFill>
              </a:rPr>
              <a:t>FK  account_id</a:t>
            </a:r>
            <a:endParaRPr lang="en-US" sz="1100" dirty="0"/>
          </a:p>
          <a:p>
            <a:pPr algn="l" indent="0" marL="0">
              <a:buNone/>
            </a:pPr>
            <a:r>
              <a:rPr lang="en-US" sz="1100" dirty="0">
                <a:solidFill>
                  <a:schemeClr val="tx1"/>
                </a:solidFill>
              </a:rPr>
              <a:t>accrued_amount, outstanding_principal</a:t>
            </a:r>
            <a:endParaRPr lang="en-US" sz="1100" dirty="0"/>
          </a:p>
          <a:p>
            <a:pPr algn="l" indent="0" marL="0">
              <a:buNone/>
            </a:pPr>
            <a:r>
              <a:rPr lang="en-US" sz="1100" dirty="0">
                <a:solidFill>
                  <a:schemeClr val="tx1"/>
                </a:solidFill>
              </a:rPr>
              <a:t>UQ  (account_id, business_date)</a:t>
            </a:r>
            <a:endParaRPr lang="en-US" sz="1100" dirty="0"/>
          </a:p>
        </p:txBody>
      </p:sp>
      <p:sp>
        <p:nvSpPr>
          <p:cNvPr id="19" name="Text 16"/>
          <p:cNvSpPr txBox="1"/>
          <p:nvPr/>
        </p:nvSpPr>
        <p:spPr>
          <a:xfrm>
            <a:off x="8503920" y="452628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emi_transaction  [monthly partitions]</a:t>
            </a:r>
            <a:endParaRPr lang="en-US" sz="1100" dirty="0"/>
          </a:p>
        </p:txBody>
      </p:sp>
      <p:sp>
        <p:nvSpPr>
          <p:cNvPr id="20" name="Text 17"/>
          <p:cNvSpPr txBox="1"/>
          <p:nvPr/>
        </p:nvSpPr>
        <p:spPr>
          <a:xfrm>
            <a:off x="8503920" y="4837176"/>
            <a:ext cx="3108960" cy="133502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(transaction_id, value_date)</a:t>
            </a:r>
            <a:endParaRPr lang="en-US" sz="1100" dirty="0"/>
          </a:p>
          <a:p>
            <a:pPr algn="l" indent="0" marL="0">
              <a:buNone/>
            </a:pPr>
            <a:r>
              <a:rPr lang="en-US" sz="1100" dirty="0">
                <a:solidFill>
                  <a:schemeClr val="tx1"/>
                </a:solidFill>
              </a:rPr>
              <a:t>FK  account_id,  installment_number</a:t>
            </a:r>
            <a:endParaRPr lang="en-US" sz="1100" dirty="0"/>
          </a:p>
          <a:p>
            <a:pPr algn="l" indent="0" marL="0">
              <a:buNone/>
            </a:pPr>
            <a:r>
              <a:rPr lang="en-US" sz="1100" dirty="0">
                <a:solidFill>
                  <a:schemeClr val="tx1"/>
                </a:solidFill>
              </a:rPr>
              <a:t>type  EMI | PART_PAYMENT | FORECLOSURE</a:t>
            </a:r>
            <a:endParaRPr lang="en-US" sz="1100" dirty="0"/>
          </a:p>
          <a:p>
            <a:pPr algn="l" indent="0" marL="0">
              <a:buNone/>
            </a:pPr>
            <a:r>
              <a:rPr lang="en-US" sz="1100" dirty="0">
                <a:solidFill>
                  <a:schemeClr val="tx1"/>
                </a:solidFill>
              </a:rPr>
              <a:t>amount, principal_paid, interest_paid</a:t>
            </a:r>
            <a:endParaRPr lang="en-US" sz="1100" dirty="0"/>
          </a:p>
          <a:p>
            <a:pPr algn="l" indent="0" marL="0">
              <a:buNone/>
            </a:pPr>
            <a:r>
              <a:rPr lang="en-US" sz="1100" dirty="0">
                <a:solidFill>
                  <a:schemeClr val="tx1"/>
                </a:solidFill>
              </a:rPr>
              <a:t>channel, payment_status</a:t>
            </a:r>
            <a:endParaRPr lang="en-US" sz="1100" dirty="0"/>
          </a:p>
          <a:p>
            <a:pPr algn="l" indent="0" marL="0">
              <a:buNone/>
            </a:pPr>
            <a:r>
              <a:rPr lang="en-US" sz="1100" dirty="0">
                <a:solidFill>
                  <a:schemeClr val="tx1"/>
                </a:solidFill>
              </a:rPr>
              <a:t>UQ  (account, idempotency_key, value_date)</a:t>
            </a:r>
            <a:endParaRPr lang="en-US" sz="1100" dirty="0"/>
          </a:p>
        </p:txBody>
      </p:sp>
      <p:sp>
        <p:nvSpPr>
          <p:cNvPr id="21" name="Shape 18"/>
          <p:cNvSpPr/>
          <p:nvPr/>
        </p:nvSpPr>
        <p:spPr>
          <a:xfrm>
            <a:off x="3840480" y="2834640"/>
            <a:ext cx="640080" cy="0"/>
          </a:xfrm>
          <a:prstGeom prst="line">
            <a:avLst/>
          </a:prstGeom>
          <a:noFill/>
          <a:ln w="19050">
            <a:solidFill>
              <a:schemeClr val="tx2"/>
            </a:solidFill>
            <a:prstDash val="solid"/>
            <a:headEnd type="triangle"/>
            <a:tailEnd type="triangle"/>
          </a:ln>
        </p:spPr>
      </p:sp>
      <p:sp>
        <p:nvSpPr>
          <p:cNvPr id="22" name="Text 19"/>
          <p:cNvSpPr txBox="1"/>
          <p:nvPr/>
        </p:nvSpPr>
        <p:spPr>
          <a:xfrm>
            <a:off x="3840480" y="2560320"/>
            <a:ext cx="64008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1</a:t>
            </a:r>
            <a:endParaRPr lang="en-US" sz="1000" dirty="0"/>
          </a:p>
        </p:txBody>
      </p:sp>
      <p:sp>
        <p:nvSpPr>
          <p:cNvPr id="23" name="Shape 20"/>
          <p:cNvSpPr/>
          <p:nvPr/>
        </p:nvSpPr>
        <p:spPr>
          <a:xfrm>
            <a:off x="2194560" y="3383280"/>
            <a:ext cx="0" cy="640080"/>
          </a:xfrm>
          <a:prstGeom prst="line">
            <a:avLst/>
          </a:prstGeom>
          <a:noFill/>
          <a:ln w="19050">
            <a:solidFill>
              <a:schemeClr val="tx2"/>
            </a:solidFill>
            <a:prstDash val="solid"/>
            <a:headEnd type="triangle"/>
            <a:tailEnd type="triangle"/>
          </a:ln>
        </p:spPr>
      </p:sp>
      <p:sp>
        <p:nvSpPr>
          <p:cNvPr id="24" name="Text 21"/>
          <p:cNvSpPr txBox="1"/>
          <p:nvPr/>
        </p:nvSpPr>
        <p:spPr>
          <a:xfrm>
            <a:off x="2286000" y="35661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hape 22"/>
          <p:cNvSpPr/>
          <p:nvPr/>
        </p:nvSpPr>
        <p:spPr>
          <a:xfrm>
            <a:off x="7680960" y="2651760"/>
            <a:ext cx="822960" cy="0"/>
          </a:xfrm>
          <a:prstGeom prst="line">
            <a:avLst/>
          </a:prstGeom>
          <a:noFill/>
          <a:ln w="19050">
            <a:solidFill>
              <a:schemeClr val="tx2"/>
            </a:solidFill>
            <a:prstDash val="solid"/>
            <a:headEnd type="triangle"/>
            <a:tailEnd type="triangle"/>
          </a:ln>
        </p:spPr>
      </p:sp>
      <p:sp>
        <p:nvSpPr>
          <p:cNvPr id="26" name="Text 23"/>
          <p:cNvSpPr txBox="1"/>
          <p:nvPr/>
        </p:nvSpPr>
        <p:spPr>
          <a:xfrm>
            <a:off x="7680960" y="237744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7" name="Shape 24"/>
          <p:cNvSpPr/>
          <p:nvPr/>
        </p:nvSpPr>
        <p:spPr>
          <a:xfrm>
            <a:off x="7680960" y="3657600"/>
            <a:ext cx="822960" cy="0"/>
          </a:xfrm>
          <a:prstGeom prst="line">
            <a:avLst/>
          </a:prstGeom>
          <a:noFill/>
          <a:ln w="19050">
            <a:solidFill>
              <a:schemeClr val="tx2"/>
            </a:solidFill>
            <a:prstDash val="solid"/>
            <a:headEnd type="triangle"/>
            <a:tailEnd type="triangle"/>
          </a:ln>
        </p:spPr>
      </p:sp>
      <p:sp>
        <p:nvSpPr>
          <p:cNvPr id="28" name="Text 25"/>
          <p:cNvSpPr txBox="1"/>
          <p:nvPr/>
        </p:nvSpPr>
        <p:spPr>
          <a:xfrm>
            <a:off x="7680960" y="338328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9" name="Shape 26"/>
          <p:cNvSpPr/>
          <p:nvPr/>
        </p:nvSpPr>
        <p:spPr>
          <a:xfrm>
            <a:off x="7680960" y="4754880"/>
            <a:ext cx="822960" cy="0"/>
          </a:xfrm>
          <a:prstGeom prst="line">
            <a:avLst/>
          </a:prstGeom>
          <a:noFill/>
          <a:ln w="19050">
            <a:solidFill>
              <a:schemeClr val="tx2"/>
            </a:solidFill>
            <a:prstDash val="solid"/>
            <a:headEnd type="triangle"/>
            <a:tailEnd type="triangle"/>
          </a:ln>
        </p:spPr>
      </p:sp>
      <p:sp>
        <p:nvSpPr>
          <p:cNvPr id="30" name="Text 27"/>
          <p:cNvSpPr txBox="1"/>
          <p:nvPr/>
        </p:nvSpPr>
        <p:spPr>
          <a:xfrm>
            <a:off x="7680960" y="448056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31" name="Shape 28"/>
          <p:cNvSpPr/>
          <p:nvPr/>
        </p:nvSpPr>
        <p:spPr>
          <a:xfrm>
            <a:off x="6080760" y="4937760"/>
            <a:ext cx="0" cy="365760"/>
          </a:xfrm>
          <a:prstGeom prst="line">
            <a:avLst/>
          </a:prstGeom>
          <a:noFill/>
          <a:ln w="19050">
            <a:solidFill>
              <a:schemeClr val="tx2"/>
            </a:solidFill>
            <a:prstDash val="solid"/>
            <a:headEnd type="triangle"/>
            <a:tailEnd type="triangle"/>
          </a:ln>
        </p:spPr>
      </p:sp>
      <p:sp>
        <p:nvSpPr>
          <p:cNvPr id="32" name="Text 29"/>
          <p:cNvSpPr txBox="1"/>
          <p:nvPr/>
        </p:nvSpPr>
        <p:spPr>
          <a:xfrm>
            <a:off x="6172200" y="498348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Loan products: one place for the terms of a loan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An account is opened from a product; it takes the product's terms by default and may differ only inside the product's limits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731520"/>
                <a:gridCol w="1554480"/>
                <a:gridCol w="2103120"/>
                <a:gridCol w="822960"/>
                <a:gridCol w="1188720"/>
                <a:gridCol w="1097280"/>
              </a:tblGrid>
              <a:tr h="420624">
                <a:tc>
                  <a:txBody>
                    <a:bodyPr/>
                    <a:lstStyle/>
                    <a:p>
                      <a:pPr indent="0" marL="0">
                        <a:buNone/>
                      </a:pPr>
                      <a:r>
                        <a:rPr lang="en-US" sz="1200" b="1" dirty="0">
                          <a:solidFill>
                            <a:schemeClr val="bg1"/>
                          </a:solidFill>
                        </a:rPr>
                        <a:t>Code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Type / rate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Default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Rate band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Months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PL01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Personal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10.50%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6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BL01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Business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11.50%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EL01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Education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GL01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Gold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7%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3 to 36</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AL01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Auto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REPO + 3.00%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HL01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Home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Mortgage, REPO + 2.50%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60 to 360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4480560"/>
            <a:ext cx="7498080" cy="274320"/>
          </a:xfrm>
          <a:prstGeom prst="rect">
            <a:avLst/>
          </a:prstGeom>
          <a:noFill/>
          <a:ln/>
        </p:spPr>
        <p:txBody>
          <a:bodyPr wrap="square" lIns="0" tIns="0" rIns="0" bIns="0" rtlCol="0" anchor="t"/>
          <a:lstStyle/>
          <a:p>
            <a:pPr indent="0" marL="0">
              <a:buNone/>
            </a:pPr>
            <a:r>
              <a:rPr lang="en-US" sz="1050" i="1" dirty="0">
                <a:solidFill>
                  <a:schemeClr val="accent4"/>
                </a:solidFill>
              </a:rPr>
              <a:t>Standard products; amount bands also apply. Existing product codes not listed are kept as open "Legacy" products.</a:t>
            </a:r>
            <a:endParaRPr lang="en-US" sz="1050" dirty="0"/>
          </a:p>
        </p:txBody>
      </p:sp>
      <p:sp>
        <p:nvSpPr>
          <p:cNvPr id="7" name="Text 3"/>
          <p:cNvSpPr txBox="1"/>
          <p:nvPr/>
        </p:nvSpPr>
        <p:spPr>
          <a:xfrm>
            <a:off x="8321040" y="1463040"/>
            <a:ext cx="3291840" cy="3200400"/>
          </a:xfrm>
          <a:prstGeom prst="roundRect">
            <a:avLst>
              <a:gd name="adj" fmla="val 2286"/>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buNone/>
            </a:pPr>
            <a:r>
              <a:rPr lang="en-US" sz="1500" b="1" dirty="0">
                <a:solidFill>
                  <a:schemeClr val="tx2"/>
                </a:solidFill>
              </a:rPr>
              <a:t>Opening an account</a:t>
            </a:r>
            <a:endParaRPr lang="en-US" sz="1200" dirty="0"/>
          </a:p>
          <a:p>
            <a:pPr algn="l" marL="342900" indent="-342900">
              <a:spcAft>
                <a:spcPts val="600"/>
              </a:spcAft>
              <a:buSzPct val="100000"/>
              <a:buChar char="•"/>
            </a:pPr>
            <a:r>
              <a:rPr lang="en-US" sz="1300" dirty="0">
                <a:solidFill>
                  <a:schemeClr val="tx1"/>
                </a:solidFill>
              </a:rPr>
              <a:t>Give product, customer, amount, tenure</a:t>
            </a:r>
            <a:endParaRPr lang="en-US" sz="1200" dirty="0"/>
          </a:p>
          <a:p>
            <a:pPr algn="l" marL="342900" indent="-342900">
              <a:spcAft>
                <a:spcPts val="600"/>
              </a:spcAft>
              <a:buSzPct val="100000"/>
              <a:buChar char="•"/>
            </a:pPr>
            <a:r>
              <a:rPr lang="en-US" sz="1300" dirty="0">
                <a:solidFill>
                  <a:schemeClr val="tx1"/>
                </a:solidFill>
              </a:rPr>
              <a:t>Everything else defaults from the product</a:t>
            </a:r>
            <a:endParaRPr lang="en-US" sz="1200" dirty="0"/>
          </a:p>
          <a:p>
            <a:pPr algn="l" marL="342900" indent="-342900">
              <a:spcAft>
                <a:spcPts val="600"/>
              </a:spcAft>
              <a:buSzPct val="100000"/>
              <a:buChar char="•"/>
            </a:pPr>
            <a:r>
              <a:rPr lang="en-US" sz="1300" dirty="0">
                <a:solidFill>
                  <a:schemeClr val="tx1"/>
                </a:solidFill>
              </a:rPr>
              <a:t>Own values allowed inside the bands</a:t>
            </a:r>
            <a:endParaRPr lang="en-US" sz="1200" dirty="0"/>
          </a:p>
          <a:p>
            <a:pPr algn="l" marL="342900" indent="-342900">
              <a:spcAft>
                <a:spcPts val="600"/>
              </a:spcAft>
              <a:buSzPct val="100000"/>
              <a:buChar char="•"/>
            </a:pPr>
            <a:r>
              <a:rPr lang="en-US" sz="1300" dirty="0">
                <a:solidFill>
                  <a:schemeClr val="tx1"/>
                </a:solidFill>
              </a:rPr>
              <a:t>Account and rate type must match</a:t>
            </a:r>
            <a:endParaRPr lang="en-US" sz="1200" dirty="0"/>
          </a:p>
          <a:p>
            <a:pPr algn="l" marL="342900" indent="-342900">
              <a:spcAft>
                <a:spcPts val="600"/>
              </a:spcAft>
              <a:buSzPct val="100000"/>
              <a:buChar char="•"/>
            </a:pPr>
            <a:r>
              <a:rPr lang="en-US" sz="1300" dirty="0">
                <a:solidFill>
                  <a:schemeClr val="tx1"/>
                </a:solidFill>
              </a:rPr>
              <a:t>All problems returned in one 400</a:t>
            </a:r>
            <a:endParaRPr lang="en-US" sz="1200" dirty="0"/>
          </a:p>
        </p:txBody>
      </p:sp>
      <p:sp>
        <p:nvSpPr>
          <p:cNvPr id="8" name="Text 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What a product defines</a:t>
            </a:r>
            <a:endParaRPr lang="en-US" sz="1200" dirty="0"/>
          </a:p>
          <a:p>
            <a:pPr algn="l" indent="0" marL="0">
              <a:buNone/>
            </a:pPr>
            <a:r>
              <a:rPr lang="en-US" sz="1200" dirty="0">
                <a:solidFill>
                  <a:schemeClr val="tx1"/>
                </a:solidFill>
              </a:rPr>
              <a:t>Account type, rate type, schedule type, day count, repayment frequency, moratorium, balloon and step-up; benchmark, default rate and spread; bands for rate, spread, amount and tenure; status.</a:t>
            </a:r>
            <a:endParaRPr lang="en-US" sz="1200" dirty="0"/>
          </a:p>
        </p:txBody>
      </p:sp>
      <p:sp>
        <p:nvSpPr>
          <p:cNvPr id="9" name="Text 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When a change applies</a:t>
            </a:r>
            <a:endParaRPr lang="en-US" sz="1200" dirty="0"/>
          </a:p>
          <a:p>
            <a:pPr algn="l" indent="0" marL="0">
              <a:buNone/>
            </a:pPr>
            <a:r>
              <a:rPr lang="en-US" sz="1200" dirty="0">
                <a:solidFill>
                  <a:schemeClr val="tx1"/>
                </a:solidFill>
              </a:rPr>
              <a:t>New accounts, and one account at a floating rate reset (the rate band floors and caps it). Existing accounts keep their terms; no reschedule-all.</a:t>
            </a:r>
            <a:endParaRPr lang="en-US" sz="1200" dirty="0"/>
          </a:p>
        </p:txBody>
      </p:sp>
      <p:sp>
        <p:nvSpPr>
          <p:cNvPr id="10" name="Text 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Where it lives</a:t>
            </a:r>
            <a:endParaRPr lang="en-US" sz="1200" dirty="0"/>
          </a:p>
          <a:p>
            <a:pPr algn="l" indent="0" marL="0">
              <a:buNone/>
            </a:pPr>
            <a:r>
              <a:rPr lang="en-US" sz="1200" dirty="0">
                <a:solidFill>
                  <a:schemeClr val="tx1"/>
                </a:solidFill>
              </a:rPr>
              <a:t>Table loan_product (V10, V11), API /api/v1/loan-products, and the Products screen in the admin portal (view, create, edit).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Day counts and repayment schedules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product chooses how interest is counted and how the loan is repaid; the account keeps its own copy</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029200" cy="914400"/>
        </p:xfrm>
        <a:graphic>
          <a:graphicData uri="http://schemas.openxmlformats.org/drawingml/2006/table">
            <a:tbl>
              <a:tblPr/>
              <a:tblGrid>
                <a:gridCol w="1463040"/>
                <a:gridCol w="3566160"/>
              </a:tblGrid>
              <a:tr h="420624">
                <a:tc>
                  <a:txBody>
                    <a:bodyPr/>
                    <a:lstStyle/>
                    <a:p>
                      <a:pPr indent="0" marL="0">
                        <a:buNone/>
                      </a:pPr>
                      <a:r>
                        <a:rPr lang="en-US" sz="1200" b="1" dirty="0">
                          <a:solidFill>
                            <a:schemeClr val="bg1"/>
                          </a:solidFill>
                        </a:rPr>
                        <a:t>Day count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Interest for an instalment period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ACT/365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ACT/ACT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Each year's days / 365 or 366</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ACT/360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30/360 (US)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30-day months, 360-day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30E/360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30-day months, any 31st = 30th</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852160" y="1463040"/>
          <a:ext cx="5760720" cy="914400"/>
        </p:xfrm>
        <a:graphic>
          <a:graphicData uri="http://schemas.openxmlformats.org/drawingml/2006/table">
            <a:tbl>
              <a:tblPr/>
              <a:tblGrid>
                <a:gridCol w="1737360"/>
                <a:gridCol w="4023360"/>
              </a:tblGrid>
              <a:tr h="420624">
                <a:tc>
                  <a:txBody>
                    <a:bodyPr/>
                    <a:lstStyle/>
                    <a:p>
                      <a:pPr indent="0" marL="0">
                        <a:buNone/>
                      </a:pPr>
                      <a:r>
                        <a:rPr lang="en-US" sz="1200" b="1" dirty="0">
                          <a:solidFill>
                            <a:schemeClr val="bg1"/>
                          </a:solidFill>
                        </a:rPr>
                        <a:t>Schedule type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the borrower pays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Same instalment every time</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Equal principal</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Same principal; instalment falls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Interest only</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Interest; all principal at the end</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Balloon</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Level instalments + balloon % last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Step-up 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Instalment rises x% a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7" name="Text 2"/>
          <p:cNvSpPr txBox="1"/>
          <p:nvPr/>
        </p:nvSpPr>
        <p:spPr>
          <a:xfrm>
            <a:off x="54864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Parameters</a:t>
            </a:r>
            <a:endParaRPr lang="en-US" sz="1200" dirty="0"/>
          </a:p>
          <a:p>
            <a:pPr algn="l" indent="0" marL="0">
              <a:buNone/>
            </a:pPr>
            <a:r>
              <a:rPr lang="en-US" sz="1200" dirty="0">
                <a:solidFill>
                  <a:schemeClr val="tx1"/>
                </a:solidFill>
              </a:rPr>
              <a:t>Repayment frequency (monthly, quarterly, half-yearly, yearly; product lists the allowed ones), moratorium months (interest only first), balloon %, step-up % a year. Default and maximum on the product; the account may choose inside them.</a:t>
            </a:r>
            <a:endParaRPr lang="en-US" sz="1200" dirty="0"/>
          </a:p>
        </p:txBody>
      </p:sp>
      <p:sp>
        <p:nvSpPr>
          <p:cNvPr id="8" name="Text 3"/>
          <p:cNvSpPr txBox="1"/>
          <p:nvPr/>
        </p:nvSpPr>
        <p:spPr>
          <a:xfrm>
            <a:off x="429768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engine</a:t>
            </a:r>
            <a:endParaRPr lang="en-US" sz="1200" dirty="0"/>
          </a:p>
          <a:p>
            <a:pPr algn="l" indent="0" marL="0">
              <a:buNone/>
            </a:pPr>
            <a:r>
              <a:rPr lang="en-US" sz="1200" dirty="0">
                <a:solidFill>
                  <a:schemeClr val="tx1"/>
                </a:solidFill>
              </a:rPr>
              <a:t>First schedule, part-payment and floating rate reset all use ScheduleCalculator. The last instalment clears the balance; a running moratorium and the current step-up year carry on after a reschedule.</a:t>
            </a:r>
            <a:endParaRPr lang="en-US" sz="1200" dirty="0"/>
          </a:p>
        </p:txBody>
      </p:sp>
      <p:sp>
        <p:nvSpPr>
          <p:cNvPr id="9" name="Text 4"/>
          <p:cNvSpPr txBox="1"/>
          <p:nvPr/>
        </p:nvSpPr>
        <p:spPr>
          <a:xfrm>
            <a:off x="804672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Example</a:t>
            </a:r>
            <a:endParaRPr lang="en-US" sz="1200" dirty="0"/>
          </a:p>
          <a:p>
            <a:pPr algn="l" indent="0" marL="0">
              <a:buNone/>
            </a:pPr>
            <a:r>
              <a:rPr lang="en-US" sz="1200" dirty="0">
                <a:solidFill>
                  <a:schemeClr val="tx1"/>
                </a:solidFill>
              </a:rPr>
              <a:t>10,00,000 at 12%, 12 months, 30/360: EMI 88,848.79. Equal principal: 93,333.33 falling to 84,166.70. Sample products: TL01, BB01, AB01, SU01, EM01.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Six design rules in the schema</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These choices make payments safe to retry and history safe to audit</a:t>
            </a:r>
            <a:endParaRPr lang="en-US" sz="1400" dirty="0"/>
          </a:p>
        </p:txBody>
      </p:sp>
      <p:sp>
        <p:nvSpPr>
          <p:cNvPr id="5" name="Text 2"/>
          <p:cNvSpPr txBox="1"/>
          <p:nvPr/>
        </p:nvSpPr>
        <p:spPr>
          <a:xfrm>
            <a:off x="54864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 4"/>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132588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Monthly partitions</a:t>
            </a:r>
            <a:endParaRPr lang="en-US" sz="1600" dirty="0"/>
          </a:p>
        </p:txBody>
      </p:sp>
      <p:sp>
        <p:nvSpPr>
          <p:cNvPr id="9" name="Text 6"/>
          <p:cNvSpPr txBox="1"/>
          <p:nvPr/>
        </p:nvSpPr>
        <p:spPr>
          <a:xfrm>
            <a:off x="77724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interest_accrual and emi_transaction are range-partitioned by date, and their unique keys include the date. A startup job keeps six months of partitions ahead.</a:t>
            </a:r>
            <a:endParaRPr lang="en-US" sz="1500" dirty="0"/>
          </a:p>
        </p:txBody>
      </p:sp>
      <p:sp>
        <p:nvSpPr>
          <p:cNvPr id="10" name="Text 7"/>
          <p:cNvSpPr txBox="1"/>
          <p:nvPr/>
        </p:nvSpPr>
        <p:spPr>
          <a:xfrm>
            <a:off x="429768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1" name="Text 8"/>
          <p:cNvSpPr txBox="1"/>
          <p:nvPr/>
        </p:nvSpPr>
        <p:spPr>
          <a:xfrm>
            <a:off x="448056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 9"/>
          <p:cNvSpPr txBox="1"/>
          <p:nvPr/>
        </p:nvSpPr>
        <p:spPr>
          <a:xfrm>
            <a:off x="44805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507492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Versioned schedules</a:t>
            </a:r>
            <a:endParaRPr lang="en-US" sz="1600" dirty="0"/>
          </a:p>
        </p:txBody>
      </p:sp>
      <p:sp>
        <p:nvSpPr>
          <p:cNvPr id="14" name="Text 11"/>
          <p:cNvSpPr txBox="1"/>
          <p:nvPr/>
        </p:nvSpPr>
        <p:spPr>
          <a:xfrm>
            <a:off x="452628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 rate reset or part-payment writes a new schedule_version for the remaining instalments. The current schedule is the highest version; older ones stay for audit.</a:t>
            </a:r>
            <a:endParaRPr lang="en-US" sz="1500" dirty="0"/>
          </a:p>
        </p:txBody>
      </p:sp>
      <p:sp>
        <p:nvSpPr>
          <p:cNvPr id="15" name="Text 12"/>
          <p:cNvSpPr txBox="1"/>
          <p:nvPr/>
        </p:nvSpPr>
        <p:spPr>
          <a:xfrm>
            <a:off x="804672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822960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 14"/>
          <p:cNvSpPr txBox="1"/>
          <p:nvPr/>
        </p:nvSpPr>
        <p:spPr>
          <a:xfrm>
            <a:off x="822960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882396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Idempotent by design</a:t>
            </a:r>
            <a:endParaRPr lang="en-US" sz="1600" dirty="0"/>
          </a:p>
        </p:txBody>
      </p:sp>
      <p:sp>
        <p:nvSpPr>
          <p:cNvPr id="19" name="Text 16"/>
          <p:cNvSpPr txBox="1"/>
          <p:nvPr/>
        </p:nvSpPr>
        <p:spPr>
          <a:xfrm>
            <a:off x="827532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Account creation keys on sanction_ref_id, payments on account plus idempotency key, accruals on account plus date. A retry never double-posts.</a:t>
            </a:r>
            <a:endParaRPr lang="en-US" sz="1500" dirty="0"/>
          </a:p>
        </p:txBody>
      </p:sp>
      <p:sp>
        <p:nvSpPr>
          <p:cNvPr id="20" name="Text 17"/>
          <p:cNvSpPr txBox="1"/>
          <p:nvPr/>
        </p:nvSpPr>
        <p:spPr>
          <a:xfrm>
            <a:off x="54864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73152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2" name="Text 19"/>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0"/>
          <p:cNvSpPr txBox="1"/>
          <p:nvPr/>
        </p:nvSpPr>
        <p:spPr>
          <a:xfrm>
            <a:off x="132588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Transactional outbox</a:t>
            </a:r>
            <a:endParaRPr lang="en-US" sz="1600" dirty="0"/>
          </a:p>
        </p:txBody>
      </p:sp>
      <p:sp>
        <p:nvSpPr>
          <p:cNvPr id="24" name="Text 21"/>
          <p:cNvSpPr txBox="1"/>
          <p:nvPr/>
        </p:nvSpPr>
        <p:spPr>
          <a:xfrm>
            <a:off x="77724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Disbursement, EMI and foreclosure write a ledger_outbox row in the same transaction. A push job later marks it POSTED or FAILED.</a:t>
            </a:r>
            <a:endParaRPr lang="en-US" sz="1500" dirty="0"/>
          </a:p>
        </p:txBody>
      </p:sp>
      <p:sp>
        <p:nvSpPr>
          <p:cNvPr id="25" name="Text 22"/>
          <p:cNvSpPr txBox="1"/>
          <p:nvPr/>
        </p:nvSpPr>
        <p:spPr>
          <a:xfrm>
            <a:off x="429768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448056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7" name="Text 24"/>
          <p:cNvSpPr txBox="1"/>
          <p:nvPr/>
        </p:nvSpPr>
        <p:spPr>
          <a:xfrm>
            <a:off x="448056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5"/>
          <p:cNvSpPr txBox="1"/>
          <p:nvPr/>
        </p:nvSpPr>
        <p:spPr>
          <a:xfrm>
            <a:off x="507492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Optimistic locking</a:t>
            </a:r>
            <a:endParaRPr lang="en-US" sz="1600" dirty="0"/>
          </a:p>
        </p:txBody>
      </p:sp>
      <p:sp>
        <p:nvSpPr>
          <p:cNvPr id="29" name="Text 26"/>
          <p:cNvSpPr txBox="1"/>
          <p:nvPr/>
        </p:nvSpPr>
        <p:spPr>
          <a:xfrm>
            <a:off x="452628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loan_account and mortgage carry a version column, so two concurrent writers cannot silently overwrite each other.</a:t>
            </a:r>
            <a:endParaRPr lang="en-US" sz="1500" dirty="0"/>
          </a:p>
        </p:txBody>
      </p:sp>
      <p:sp>
        <p:nvSpPr>
          <p:cNvPr id="30" name="Text 27"/>
          <p:cNvSpPr txBox="1"/>
          <p:nvPr/>
        </p:nvSpPr>
        <p:spPr>
          <a:xfrm>
            <a:off x="804672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22960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2" name="Text 29"/>
          <p:cNvSpPr txBox="1"/>
          <p:nvPr/>
        </p:nvSpPr>
        <p:spPr>
          <a:xfrm>
            <a:off x="822960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ext 30"/>
          <p:cNvSpPr txBox="1"/>
          <p:nvPr/>
        </p:nvSpPr>
        <p:spPr>
          <a:xfrm>
            <a:off x="882396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Day-count aware interest</a:t>
            </a:r>
            <a:endParaRPr lang="en-US" sz="1600" dirty="0"/>
          </a:p>
        </p:txBody>
      </p:sp>
      <p:sp>
        <p:nvSpPr>
          <p:cNvPr id="34" name="Text 31"/>
          <p:cNvSpPr txBox="1"/>
          <p:nvPr/>
        </p:nvSpPr>
        <p:spPr>
          <a:xfrm>
            <a:off x="827532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Daily interest uses the convention stored on the account: ACT/365, ACT/ACT or 30/360, applied to the current outstanding principal.</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Application flow of one request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API call follows the same layered path; the example is a loan disbursement</a:t>
            </a:r>
            <a:endParaRPr lang="en-US" sz="1400" dirty="0"/>
          </a:p>
        </p:txBody>
      </p:sp>
      <p:sp>
        <p:nvSpPr>
          <p:cNvPr id="5" name="Text 2"/>
          <p:cNvSpPr txBox="1"/>
          <p:nvPr/>
        </p:nvSpPr>
        <p:spPr>
          <a:xfrm>
            <a:off x="548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Client</a:t>
            </a:r>
            <a:endParaRPr lang="en-US" sz="1200" dirty="0"/>
          </a:p>
          <a:p>
            <a:pPr algn="ctr" indent="0" marL="0">
              <a:buNone/>
            </a:pPr>
            <a:r>
              <a:rPr lang="en-US" sz="1100" dirty="0">
                <a:solidFill>
                  <a:schemeClr val="bg1"/>
                </a:solidFill>
              </a:rPr>
              <a:t>Swagger, app or script</a:t>
            </a:r>
            <a:endParaRPr lang="en-US" sz="1200" dirty="0"/>
          </a:p>
        </p:txBody>
      </p:sp>
      <p:sp>
        <p:nvSpPr>
          <p:cNvPr id="6" name="Shape 3"/>
          <p:cNvSpPr/>
          <p:nvPr/>
        </p:nvSpPr>
        <p:spPr>
          <a:xfrm>
            <a:off x="2377440" y="1988820"/>
            <a:ext cx="457200" cy="0"/>
          </a:xfrm>
          <a:prstGeom prst="line">
            <a:avLst/>
          </a:prstGeom>
          <a:noFill/>
          <a:ln w="22225">
            <a:solidFill>
              <a:schemeClr val="tx2"/>
            </a:solidFill>
            <a:prstDash val="solid"/>
            <a:tailEnd type="triangle"/>
          </a:ln>
        </p:spPr>
      </p:sp>
      <p:sp>
        <p:nvSpPr>
          <p:cNvPr id="7" name="Text 4"/>
          <p:cNvSpPr txBox="1"/>
          <p:nvPr/>
        </p:nvSpPr>
        <p:spPr>
          <a:xfrm>
            <a:off x="2834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Controller</a:t>
            </a:r>
            <a:endParaRPr lang="en-US" sz="1200" dirty="0"/>
          </a:p>
          <a:p>
            <a:pPr algn="ctr" indent="0" marL="0">
              <a:buNone/>
            </a:pPr>
            <a:r>
              <a:rPr lang="en-US" sz="1100" dirty="0">
                <a:solidFill>
                  <a:schemeClr val="bg1"/>
                </a:solidFill>
              </a:rPr>
              <a:t>Bean validation, OpenAPI docs</a:t>
            </a:r>
            <a:endParaRPr lang="en-US" sz="1200" dirty="0"/>
          </a:p>
        </p:txBody>
      </p:sp>
      <p:sp>
        <p:nvSpPr>
          <p:cNvPr id="8" name="Shape 5"/>
          <p:cNvSpPr/>
          <p:nvPr/>
        </p:nvSpPr>
        <p:spPr>
          <a:xfrm>
            <a:off x="4663440" y="1988820"/>
            <a:ext cx="457200" cy="0"/>
          </a:xfrm>
          <a:prstGeom prst="line">
            <a:avLst/>
          </a:prstGeom>
          <a:noFill/>
          <a:ln w="22225">
            <a:solidFill>
              <a:schemeClr val="tx2"/>
            </a:solidFill>
            <a:prstDash val="solid"/>
            <a:tailEnd type="triangle"/>
          </a:ln>
        </p:spPr>
      </p:sp>
      <p:sp>
        <p:nvSpPr>
          <p:cNvPr id="9" name="Text 6"/>
          <p:cNvSpPr txBox="1"/>
          <p:nvPr/>
        </p:nvSpPr>
        <p:spPr>
          <a:xfrm>
            <a:off x="5120640" y="1508760"/>
            <a:ext cx="1828800" cy="960120"/>
          </a:xfrm>
          <a:prstGeom prst="roundRect">
            <a:avLst>
              <a:gd name="adj" fmla="val 761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500" b="1" dirty="0">
                <a:solidFill>
                  <a:schemeClr val="bg1"/>
                </a:solidFill>
              </a:rPr>
              <a:t>Service</a:t>
            </a:r>
            <a:endParaRPr lang="en-US" sz="1200" dirty="0"/>
          </a:p>
          <a:p>
            <a:pPr algn="ctr" indent="0" marL="0">
              <a:buNone/>
            </a:pPr>
            <a:r>
              <a:rPr lang="en-US" sz="1100" dirty="0">
                <a:solidFill>
                  <a:schemeClr val="bg1"/>
                </a:solidFill>
              </a:rPr>
              <a:t>Business rules, @Transactional</a:t>
            </a:r>
            <a:endParaRPr lang="en-US" sz="1200" dirty="0"/>
          </a:p>
        </p:txBody>
      </p:sp>
      <p:sp>
        <p:nvSpPr>
          <p:cNvPr id="10" name="Shape 7"/>
          <p:cNvSpPr/>
          <p:nvPr/>
        </p:nvSpPr>
        <p:spPr>
          <a:xfrm>
            <a:off x="6949440" y="1988820"/>
            <a:ext cx="457200" cy="0"/>
          </a:xfrm>
          <a:prstGeom prst="line">
            <a:avLst/>
          </a:prstGeom>
          <a:noFill/>
          <a:ln w="22225">
            <a:solidFill>
              <a:schemeClr val="tx2"/>
            </a:solidFill>
            <a:prstDash val="solid"/>
            <a:tailEnd type="triangle"/>
          </a:ln>
        </p:spPr>
      </p:sp>
      <p:sp>
        <p:nvSpPr>
          <p:cNvPr id="11" name="Text 8"/>
          <p:cNvSpPr txBox="1"/>
          <p:nvPr/>
        </p:nvSpPr>
        <p:spPr>
          <a:xfrm>
            <a:off x="7406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Repository</a:t>
            </a:r>
            <a:endParaRPr lang="en-US" sz="1200" dirty="0"/>
          </a:p>
          <a:p>
            <a:pPr algn="ctr" indent="0" marL="0">
              <a:buNone/>
            </a:pPr>
            <a:r>
              <a:rPr lang="en-US" sz="1100" dirty="0">
                <a:solidFill>
                  <a:schemeClr val="bg1"/>
                </a:solidFill>
              </a:rPr>
              <a:t>Spring Data JPA, native SQL</a:t>
            </a:r>
            <a:endParaRPr lang="en-US" sz="1200" dirty="0"/>
          </a:p>
        </p:txBody>
      </p:sp>
      <p:sp>
        <p:nvSpPr>
          <p:cNvPr id="12" name="Shape 9"/>
          <p:cNvSpPr/>
          <p:nvPr/>
        </p:nvSpPr>
        <p:spPr>
          <a:xfrm>
            <a:off x="9235440" y="1988820"/>
            <a:ext cx="457200" cy="0"/>
          </a:xfrm>
          <a:prstGeom prst="line">
            <a:avLst/>
          </a:prstGeom>
          <a:noFill/>
          <a:ln w="22225">
            <a:solidFill>
              <a:schemeClr val="tx2"/>
            </a:solidFill>
            <a:prstDash val="solid"/>
            <a:tailEnd type="triangle"/>
          </a:ln>
        </p:spPr>
      </p:sp>
      <p:sp>
        <p:nvSpPr>
          <p:cNvPr id="13" name="Text 10"/>
          <p:cNvSpPr txBox="1"/>
          <p:nvPr/>
        </p:nvSpPr>
        <p:spPr>
          <a:xfrm>
            <a:off x="9692640" y="1508760"/>
            <a:ext cx="1828800" cy="960120"/>
          </a:xfrm>
          <a:prstGeom prst="roundRect">
            <a:avLst>
              <a:gd name="adj" fmla="val 7619"/>
            </a:avLst>
          </a:prstGeom>
          <a:solidFill>
            <a:schemeClr val="tx2"/>
          </a:solidFill>
          <a:ln w="12700">
            <a:solidFill>
              <a:schemeClr val="tx2"/>
            </a:solidFill>
          </a:ln>
        </p:spPr>
        <p:txBody>
          <a:bodyPr wrap="square" lIns="50800" tIns="50800" rIns="50800" bIns="50800" rtlCol="0" anchor="ctr"/>
          <a:lstStyle/>
          <a:p>
            <a:pPr algn="ctr" indent="0" marL="0">
              <a:buNone/>
            </a:pPr>
            <a:r>
              <a:rPr lang="en-US" sz="1500" b="1" dirty="0">
                <a:solidFill>
                  <a:schemeClr val="bg1"/>
                </a:solidFill>
              </a:rPr>
              <a:t>PostgreSQL</a:t>
            </a:r>
            <a:endParaRPr lang="en-US" sz="1200" dirty="0"/>
          </a:p>
          <a:p>
            <a:pPr algn="ctr" indent="0" marL="0">
              <a:buNone/>
            </a:pPr>
            <a:r>
              <a:rPr lang="en-US" sz="1100" dirty="0">
                <a:solidFill>
                  <a:schemeClr val="bg1"/>
                </a:solidFill>
              </a:rPr>
              <a:t>Flyway-managed schema</a:t>
            </a:r>
            <a:endParaRPr lang="en-US" sz="1200" dirty="0"/>
          </a:p>
        </p:txBody>
      </p:sp>
      <p:sp>
        <p:nvSpPr>
          <p:cNvPr id="14" name="Text 11"/>
          <p:cNvSpPr txBox="1"/>
          <p:nvPr/>
        </p:nvSpPr>
        <p:spPr>
          <a:xfrm>
            <a:off x="548640" y="278892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Example: POST /api/v1/loan-accounts/{id}/disburse</a:t>
            </a:r>
            <a:endParaRPr lang="en-US" sz="1600" dirty="0"/>
          </a:p>
        </p:txBody>
      </p:sp>
      <p:sp>
        <p:nvSpPr>
          <p:cNvPr id="15" name="Text 12"/>
          <p:cNvSpPr txBox="1"/>
          <p:nvPr/>
        </p:nvSpPr>
        <p:spPr>
          <a:xfrm>
            <a:off x="548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658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7" name="Text 14"/>
          <p:cNvSpPr txBox="1"/>
          <p:nvPr/>
        </p:nvSpPr>
        <p:spPr>
          <a:xfrm>
            <a:off x="1115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Validate</a:t>
            </a:r>
            <a:endParaRPr lang="en-US" sz="1400" dirty="0"/>
          </a:p>
        </p:txBody>
      </p:sp>
      <p:sp>
        <p:nvSpPr>
          <p:cNvPr id="18" name="Text 15"/>
          <p:cNvSpPr txBox="1"/>
          <p:nvPr/>
        </p:nvSpPr>
        <p:spPr>
          <a:xfrm>
            <a:off x="676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Request body checked; amount and first EMI date required</a:t>
            </a:r>
            <a:endParaRPr lang="en-US" sz="1300" dirty="0"/>
          </a:p>
        </p:txBody>
      </p:sp>
      <p:sp>
        <p:nvSpPr>
          <p:cNvPr id="19" name="Shape 16"/>
          <p:cNvSpPr/>
          <p:nvPr/>
        </p:nvSpPr>
        <p:spPr>
          <a:xfrm>
            <a:off x="2560320" y="4023360"/>
            <a:ext cx="274320" cy="0"/>
          </a:xfrm>
          <a:prstGeom prst="line">
            <a:avLst/>
          </a:prstGeom>
          <a:noFill/>
          <a:ln w="22225">
            <a:solidFill>
              <a:schemeClr val="tx2"/>
            </a:solidFill>
            <a:prstDash val="solid"/>
            <a:tailEnd type="triangle"/>
          </a:ln>
        </p:spPr>
      </p:sp>
      <p:sp>
        <p:nvSpPr>
          <p:cNvPr id="20" name="Text 17"/>
          <p:cNvSpPr txBox="1"/>
          <p:nvPr/>
        </p:nvSpPr>
        <p:spPr>
          <a:xfrm>
            <a:off x="2834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2944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2" name="Text 19"/>
          <p:cNvSpPr txBox="1"/>
          <p:nvPr/>
        </p:nvSpPr>
        <p:spPr>
          <a:xfrm>
            <a:off x="3401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Guard</a:t>
            </a:r>
            <a:endParaRPr lang="en-US" sz="1400" dirty="0"/>
          </a:p>
        </p:txBody>
      </p:sp>
      <p:sp>
        <p:nvSpPr>
          <p:cNvPr id="23" name="Text 20"/>
          <p:cNvSpPr txBox="1"/>
          <p:nvPr/>
        </p:nvSpPr>
        <p:spPr>
          <a:xfrm>
            <a:off x="2962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Account must be PENDING_DISBURSEMENT; mortgage accounts need a linked charge</a:t>
            </a:r>
            <a:endParaRPr lang="en-US" sz="1300" dirty="0"/>
          </a:p>
        </p:txBody>
      </p:sp>
      <p:sp>
        <p:nvSpPr>
          <p:cNvPr id="24" name="Shape 21"/>
          <p:cNvSpPr/>
          <p:nvPr/>
        </p:nvSpPr>
        <p:spPr>
          <a:xfrm>
            <a:off x="4846320" y="4023360"/>
            <a:ext cx="274320" cy="0"/>
          </a:xfrm>
          <a:prstGeom prst="line">
            <a:avLst/>
          </a:prstGeom>
          <a:noFill/>
          <a:ln w="22225">
            <a:solidFill>
              <a:schemeClr val="tx2"/>
            </a:solidFill>
            <a:prstDash val="solid"/>
            <a:tailEnd type="triangle"/>
          </a:ln>
        </p:spPr>
      </p:sp>
      <p:sp>
        <p:nvSpPr>
          <p:cNvPr id="25" name="Text 22"/>
          <p:cNvSpPr txBox="1"/>
          <p:nvPr/>
        </p:nvSpPr>
        <p:spPr>
          <a:xfrm>
            <a:off x="5120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5230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5687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Activate</a:t>
            </a:r>
            <a:endParaRPr lang="en-US" sz="1400" dirty="0"/>
          </a:p>
        </p:txBody>
      </p:sp>
      <p:sp>
        <p:nvSpPr>
          <p:cNvPr id="28" name="Text 25"/>
          <p:cNvSpPr txBox="1"/>
          <p:nvPr/>
        </p:nvSpPr>
        <p:spPr>
          <a:xfrm>
            <a:off x="5248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Status becomes ACTIVE; schedule version 1 is generated</a:t>
            </a:r>
            <a:endParaRPr lang="en-US" sz="1300" dirty="0"/>
          </a:p>
        </p:txBody>
      </p:sp>
      <p:sp>
        <p:nvSpPr>
          <p:cNvPr id="29" name="Shape 26"/>
          <p:cNvSpPr/>
          <p:nvPr/>
        </p:nvSpPr>
        <p:spPr>
          <a:xfrm>
            <a:off x="7132320" y="4023360"/>
            <a:ext cx="274320" cy="0"/>
          </a:xfrm>
          <a:prstGeom prst="line">
            <a:avLst/>
          </a:prstGeom>
          <a:noFill/>
          <a:ln w="22225">
            <a:solidFill>
              <a:schemeClr val="tx2"/>
            </a:solidFill>
            <a:prstDash val="solid"/>
            <a:tailEnd type="triangle"/>
          </a:ln>
        </p:spPr>
      </p:sp>
      <p:sp>
        <p:nvSpPr>
          <p:cNvPr id="30" name="Text 27"/>
          <p:cNvSpPr txBox="1"/>
          <p:nvPr/>
        </p:nvSpPr>
        <p:spPr>
          <a:xfrm>
            <a:off x="7406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7516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2" name="Text 29"/>
          <p:cNvSpPr txBox="1"/>
          <p:nvPr/>
        </p:nvSpPr>
        <p:spPr>
          <a:xfrm>
            <a:off x="7973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Record</a:t>
            </a:r>
            <a:endParaRPr lang="en-US" sz="1400" dirty="0"/>
          </a:p>
        </p:txBody>
      </p:sp>
      <p:sp>
        <p:nvSpPr>
          <p:cNvPr id="33" name="Text 30"/>
          <p:cNvSpPr txBox="1"/>
          <p:nvPr/>
        </p:nvSpPr>
        <p:spPr>
          <a:xfrm>
            <a:off x="7534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 DISBURSEMENT row is written to ledger_outbox</a:t>
            </a:r>
            <a:endParaRPr lang="en-US" sz="1300" dirty="0"/>
          </a:p>
        </p:txBody>
      </p:sp>
      <p:sp>
        <p:nvSpPr>
          <p:cNvPr id="34" name="Shape 31"/>
          <p:cNvSpPr/>
          <p:nvPr/>
        </p:nvSpPr>
        <p:spPr>
          <a:xfrm>
            <a:off x="9418320" y="4023360"/>
            <a:ext cx="274320" cy="0"/>
          </a:xfrm>
          <a:prstGeom prst="line">
            <a:avLst/>
          </a:prstGeom>
          <a:noFill/>
          <a:ln w="22225">
            <a:solidFill>
              <a:schemeClr val="tx2"/>
            </a:solidFill>
            <a:prstDash val="solid"/>
            <a:tailEnd type="triangle"/>
          </a:ln>
        </p:spPr>
      </p:sp>
      <p:sp>
        <p:nvSpPr>
          <p:cNvPr id="35" name="Text 32"/>
          <p:cNvSpPr txBox="1"/>
          <p:nvPr/>
        </p:nvSpPr>
        <p:spPr>
          <a:xfrm>
            <a:off x="9692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6" name="Text 33"/>
          <p:cNvSpPr txBox="1"/>
          <p:nvPr/>
        </p:nvSpPr>
        <p:spPr>
          <a:xfrm>
            <a:off x="9802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7" name="Text 34"/>
          <p:cNvSpPr txBox="1"/>
          <p:nvPr/>
        </p:nvSpPr>
        <p:spPr>
          <a:xfrm>
            <a:off x="10259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Commit</a:t>
            </a:r>
            <a:endParaRPr lang="en-US" sz="1400" dirty="0"/>
          </a:p>
        </p:txBody>
      </p:sp>
      <p:sp>
        <p:nvSpPr>
          <p:cNvPr id="38" name="Text 35"/>
          <p:cNvSpPr txBox="1"/>
          <p:nvPr/>
        </p:nvSpPr>
        <p:spPr>
          <a:xfrm>
            <a:off x="9820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One transaction; the response returns the account</a:t>
            </a:r>
            <a:endParaRPr lang="en-US" sz="1300" dirty="0"/>
          </a:p>
        </p:txBody>
      </p:sp>
      <p:sp>
        <p:nvSpPr>
          <p:cNvPr id="39" name="Text 36"/>
          <p:cNvSpPr txBox="1"/>
          <p:nvPr/>
        </p:nvSpPr>
        <p:spPr>
          <a:xfrm>
            <a:off x="54864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Errors</a:t>
            </a:r>
            <a:endParaRPr lang="en-US" sz="1200" dirty="0"/>
          </a:p>
          <a:p>
            <a:pPr algn="l" indent="0" marL="0">
              <a:buNone/>
            </a:pPr>
            <a:r>
              <a:rPr lang="en-US" sz="1100" dirty="0">
                <a:solidFill>
                  <a:schemeClr val="tx1"/>
                </a:solidFill>
              </a:rPr>
              <a:t>404 not found, 400 invalid input, 409 state or data conflict, mapped in one handler</a:t>
            </a:r>
            <a:endParaRPr lang="en-US" sz="1200" dirty="0"/>
          </a:p>
        </p:txBody>
      </p:sp>
      <p:sp>
        <p:nvSpPr>
          <p:cNvPr id="40" name="Text 37"/>
          <p:cNvSpPr txBox="1"/>
          <p:nvPr/>
        </p:nvSpPr>
        <p:spPr>
          <a:xfrm>
            <a:off x="333756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Retries</a:t>
            </a:r>
            <a:endParaRPr lang="en-US" sz="1200" dirty="0"/>
          </a:p>
          <a:p>
            <a:pPr algn="l" indent="0" marL="0">
              <a:buNone/>
            </a:pPr>
            <a:r>
              <a:rPr lang="en-US" sz="1100" dirty="0">
                <a:solidFill>
                  <a:schemeClr val="tx1"/>
                </a:solidFill>
              </a:rPr>
              <a:t>Replaying a disburse on an ACTIVE account returns it unchanged</a:t>
            </a:r>
            <a:endParaRPr lang="en-US" sz="1200" dirty="0"/>
          </a:p>
        </p:txBody>
      </p:sp>
      <p:sp>
        <p:nvSpPr>
          <p:cNvPr id="41" name="Text 38"/>
          <p:cNvSpPr txBox="1"/>
          <p:nvPr/>
        </p:nvSpPr>
        <p:spPr>
          <a:xfrm>
            <a:off x="612648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Bulk calls</a:t>
            </a:r>
            <a:endParaRPr lang="en-US" sz="1200" dirty="0"/>
          </a:p>
          <a:p>
            <a:pPr algn="l" indent="0" marL="0">
              <a:buNone/>
            </a:pPr>
            <a:r>
              <a:rPr lang="en-US" sz="1100" dirty="0">
                <a:solidFill>
                  <a:schemeClr val="tx1"/>
                </a:solidFill>
              </a:rPr>
              <a:t>Up to 200 items; each item commits on its own and reports success or failure</a:t>
            </a:r>
            <a:endParaRPr lang="en-US" sz="1200" dirty="0"/>
          </a:p>
        </p:txBody>
      </p:sp>
      <p:sp>
        <p:nvSpPr>
          <p:cNvPr id="42" name="Text 39"/>
          <p:cNvSpPr txBox="1"/>
          <p:nvPr/>
        </p:nvSpPr>
        <p:spPr>
          <a:xfrm>
            <a:off x="891540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Housekeeping</a:t>
            </a:r>
            <a:endParaRPr lang="en-US" sz="1200" dirty="0"/>
          </a:p>
          <a:p>
            <a:pPr algn="l" indent="0" marL="0">
              <a:buNone/>
            </a:pPr>
            <a:r>
              <a:rPr lang="en-US" sz="1100" dirty="0">
                <a:solidFill>
                  <a:schemeClr val="tx1"/>
                </a:solidFill>
              </a:rPr>
              <a:t>Partitions are created at startup and twice a month</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originate to disburse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Unsecured loans go straight to disbursement; mortgage loans need a registered charge first</a:t>
            </a:r>
            <a:endParaRPr lang="en-US" sz="1400" dirty="0"/>
          </a:p>
        </p:txBody>
      </p:sp>
      <p:sp>
        <p:nvSpPr>
          <p:cNvPr id="5" name="Text 2"/>
          <p:cNvSpPr txBox="1"/>
          <p:nvPr/>
        </p:nvSpPr>
        <p:spPr>
          <a:xfrm>
            <a:off x="548640" y="1691640"/>
            <a:ext cx="201168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Sanction approved</a:t>
            </a:r>
            <a:endParaRPr lang="en-US" sz="1200" dirty="0"/>
          </a:p>
          <a:p>
            <a:pPr algn="ctr" indent="0" marL="0">
              <a:buNone/>
            </a:pPr>
            <a:r>
              <a:rPr lang="en-US" sz="1100" dirty="0">
                <a:solidFill>
                  <a:schemeClr val="bg1"/>
                </a:solidFill>
              </a:rPr>
              <a:t>sanctionRefId issued</a:t>
            </a:r>
            <a:endParaRPr lang="en-US" sz="1200" dirty="0"/>
          </a:p>
        </p:txBody>
      </p:sp>
      <p:sp>
        <p:nvSpPr>
          <p:cNvPr id="6" name="Text 3"/>
          <p:cNvSpPr txBox="1"/>
          <p:nvPr/>
        </p:nvSpPr>
        <p:spPr>
          <a:xfrm>
            <a:off x="3017520" y="1691640"/>
            <a:ext cx="2468880" cy="822960"/>
          </a:xfrm>
          <a:prstGeom prst="roundRect">
            <a:avLst>
              <a:gd name="adj" fmla="val 888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300" b="1" dirty="0">
                <a:solidFill>
                  <a:schemeClr val="bg1"/>
                </a:solidFill>
              </a:rPr>
              <a:t>POST /loan-accounts</a:t>
            </a:r>
            <a:endParaRPr lang="en-US" sz="1200" dirty="0"/>
          </a:p>
          <a:p>
            <a:pPr algn="ctr" indent="0" marL="0">
              <a:buNone/>
            </a:pPr>
            <a:r>
              <a:rPr lang="en-US" sz="1100" dirty="0">
                <a:solidFill>
                  <a:schemeClr val="bg1"/>
                </a:solidFill>
              </a:rPr>
              <a:t>status PENDING_DISBURSEMENT</a:t>
            </a:r>
            <a:endParaRPr lang="en-US" sz="1200" dirty="0"/>
          </a:p>
        </p:txBody>
      </p:sp>
      <p:sp>
        <p:nvSpPr>
          <p:cNvPr id="7" name="Text 4"/>
          <p:cNvSpPr txBox="1"/>
          <p:nvPr/>
        </p:nvSpPr>
        <p:spPr>
          <a:xfrm>
            <a:off x="5943600" y="1508760"/>
            <a:ext cx="1920240" cy="1188720"/>
          </a:xfrm>
          <a:prstGeom prst="diamond">
            <a:avLst/>
          </a:prstGeom>
          <a:solidFill>
            <a:schemeClr val="accent2"/>
          </a:solidFill>
          <a:ln/>
        </p:spPr>
        <p:txBody>
          <a:bodyPr wrap="square" lIns="0" tIns="0" rIns="0" bIns="0" rtlCol="0" anchor="ctr"/>
          <a:lstStyle/>
          <a:p>
            <a:pPr algn="ctr" indent="0" marL="0">
              <a:buNone/>
            </a:pPr>
            <a:r>
              <a:rPr lang="en-US" sz="1200" b="1" dirty="0">
                <a:solidFill>
                  <a:schemeClr val="tx1"/>
                </a:solidFill>
              </a:rPr>
              <a:t>Mortgage account?</a:t>
            </a:r>
            <a:endParaRPr lang="en-US" sz="1200" dirty="0"/>
          </a:p>
        </p:txBody>
      </p:sp>
      <p:sp>
        <p:nvSpPr>
          <p:cNvPr id="8" name="Text 5"/>
          <p:cNvSpPr txBox="1"/>
          <p:nvPr/>
        </p:nvSpPr>
        <p:spPr>
          <a:xfrm>
            <a:off x="8778240" y="1417320"/>
            <a:ext cx="2834640" cy="1371600"/>
          </a:xfrm>
          <a:prstGeom prst="roundRect">
            <a:avLst>
              <a:gd name="adj" fmla="val 5333"/>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 /{id}/disburse</a:t>
            </a:r>
            <a:endParaRPr lang="en-US" sz="1200" dirty="0"/>
          </a:p>
          <a:p>
            <a:pPr algn="ctr" indent="0" marL="0">
              <a:buNone/>
            </a:pPr>
            <a:r>
              <a:rPr lang="en-US" sz="1200" dirty="0">
                <a:solidFill>
                  <a:schemeClr val="bg1"/>
                </a:solidFill>
              </a:rPr>
              <a:t>Account becomes ACTIVE</a:t>
            </a:r>
            <a:endParaRPr lang="en-US" sz="1200" dirty="0"/>
          </a:p>
          <a:p>
            <a:pPr algn="ctr" indent="0" marL="0">
              <a:buNone/>
            </a:pPr>
            <a:r>
              <a:rPr lang="en-US" sz="1200" dirty="0">
                <a:solidFill>
                  <a:schemeClr val="bg1"/>
                </a:solidFill>
              </a:rPr>
              <a:t>Schedule version 1 generated</a:t>
            </a:r>
            <a:endParaRPr lang="en-US" sz="1200" dirty="0"/>
          </a:p>
          <a:p>
            <a:pPr algn="ctr" indent="0" marL="0">
              <a:buNone/>
            </a:pPr>
            <a:r>
              <a:rPr lang="en-US" sz="1200" dirty="0">
                <a:solidFill>
                  <a:schemeClr val="bg1"/>
                </a:solidFill>
              </a:rPr>
              <a:t>DISBURSEMENT event to ledger outbox</a:t>
            </a:r>
            <a:endParaRPr lang="en-US" sz="1200" dirty="0"/>
          </a:p>
        </p:txBody>
      </p:sp>
      <p:sp>
        <p:nvSpPr>
          <p:cNvPr id="9" name="Shape 6"/>
          <p:cNvSpPr/>
          <p:nvPr/>
        </p:nvSpPr>
        <p:spPr>
          <a:xfrm>
            <a:off x="2560320" y="2103120"/>
            <a:ext cx="457200" cy="0"/>
          </a:xfrm>
          <a:prstGeom prst="line">
            <a:avLst/>
          </a:prstGeom>
          <a:noFill/>
          <a:ln w="22225">
            <a:solidFill>
              <a:schemeClr val="tx2"/>
            </a:solidFill>
            <a:prstDash val="solid"/>
            <a:tailEnd type="triangle"/>
          </a:ln>
        </p:spPr>
      </p:sp>
      <p:sp>
        <p:nvSpPr>
          <p:cNvPr id="10" name="Shape 7"/>
          <p:cNvSpPr/>
          <p:nvPr/>
        </p:nvSpPr>
        <p:spPr>
          <a:xfrm>
            <a:off x="5486400" y="2103120"/>
            <a:ext cx="457200" cy="0"/>
          </a:xfrm>
          <a:prstGeom prst="line">
            <a:avLst/>
          </a:prstGeom>
          <a:noFill/>
          <a:ln w="22225">
            <a:solidFill>
              <a:schemeClr val="tx2"/>
            </a:solidFill>
            <a:prstDash val="solid"/>
            <a:tailEnd type="triangle"/>
          </a:ln>
        </p:spPr>
      </p:sp>
      <p:sp>
        <p:nvSpPr>
          <p:cNvPr id="11" name="Shape 8"/>
          <p:cNvSpPr/>
          <p:nvPr/>
        </p:nvSpPr>
        <p:spPr>
          <a:xfrm>
            <a:off x="7863840" y="2103120"/>
            <a:ext cx="914400" cy="0"/>
          </a:xfrm>
          <a:prstGeom prst="line">
            <a:avLst/>
          </a:prstGeom>
          <a:noFill/>
          <a:ln w="22225">
            <a:solidFill>
              <a:schemeClr val="tx2"/>
            </a:solidFill>
            <a:prstDash val="solid"/>
            <a:tailEnd type="triangle"/>
          </a:ln>
        </p:spPr>
      </p:sp>
      <p:sp>
        <p:nvSpPr>
          <p:cNvPr id="12" name="Text 9"/>
          <p:cNvSpPr txBox="1"/>
          <p:nvPr/>
        </p:nvSpPr>
        <p:spPr>
          <a:xfrm>
            <a:off x="7863840" y="182880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No</a:t>
            </a:r>
            <a:endParaRPr lang="en-US" sz="1000" dirty="0"/>
          </a:p>
        </p:txBody>
      </p:sp>
      <p:sp>
        <p:nvSpPr>
          <p:cNvPr id="13" name="Shape 10"/>
          <p:cNvSpPr/>
          <p:nvPr/>
        </p:nvSpPr>
        <p:spPr>
          <a:xfrm>
            <a:off x="6903720" y="2697480"/>
            <a:ext cx="0" cy="685800"/>
          </a:xfrm>
          <a:prstGeom prst="line">
            <a:avLst/>
          </a:prstGeom>
          <a:noFill/>
          <a:ln w="22225">
            <a:solidFill>
              <a:schemeClr val="tx2"/>
            </a:solidFill>
            <a:prstDash val="solid"/>
            <a:tailEnd type="triangle"/>
          </a:ln>
        </p:spPr>
      </p:sp>
      <p:sp>
        <p:nvSpPr>
          <p:cNvPr id="14" name="Text 11"/>
          <p:cNvSpPr txBox="1"/>
          <p:nvPr/>
        </p:nvSpPr>
        <p:spPr>
          <a:xfrm>
            <a:off x="6995160" y="28803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Yes</a:t>
            </a:r>
            <a:endParaRPr lang="en-US" sz="1000" dirty="0"/>
          </a:p>
        </p:txBody>
      </p:sp>
      <p:sp>
        <p:nvSpPr>
          <p:cNvPr id="15" name="Text 12"/>
          <p:cNvSpPr txBox="1"/>
          <p:nvPr/>
        </p:nvSpPr>
        <p:spPr>
          <a:xfrm>
            <a:off x="5760720" y="3383280"/>
            <a:ext cx="228600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a:t>
            </a:r>
            <a:endParaRPr lang="en-US" sz="1200" dirty="0"/>
          </a:p>
          <a:p>
            <a:pPr algn="ctr" indent="0" marL="0">
              <a:buNone/>
            </a:pPr>
            <a:r>
              <a:rPr lang="en-US" sz="1100" dirty="0">
                <a:solidFill>
                  <a:schemeClr val="bg1"/>
                </a:solidFill>
              </a:rPr>
              <a:t>valuation, LTV ratio</a:t>
            </a:r>
            <a:endParaRPr lang="en-US" sz="1200" dirty="0"/>
          </a:p>
        </p:txBody>
      </p:sp>
      <p:sp>
        <p:nvSpPr>
          <p:cNvPr id="16" name="Text 13"/>
          <p:cNvSpPr txBox="1"/>
          <p:nvPr/>
        </p:nvSpPr>
        <p:spPr>
          <a:xfrm>
            <a:off x="8778240" y="3383280"/>
            <a:ext cx="283464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/mortgages/{id}/charge</a:t>
            </a:r>
            <a:endParaRPr lang="en-US" sz="1200" dirty="0"/>
          </a:p>
          <a:p>
            <a:pPr algn="ctr" indent="0" marL="0">
              <a:buNone/>
            </a:pPr>
            <a:r>
              <a:rPr lang="en-US" sz="1100" dirty="0">
                <a:solidFill>
                  <a:schemeClr val="bg1"/>
                </a:solidFill>
              </a:rPr>
              <a:t>CERSAI and deed references</a:t>
            </a:r>
            <a:endParaRPr lang="en-US" sz="1200" dirty="0"/>
          </a:p>
        </p:txBody>
      </p:sp>
      <p:sp>
        <p:nvSpPr>
          <p:cNvPr id="17" name="Shape 14"/>
          <p:cNvSpPr/>
          <p:nvPr/>
        </p:nvSpPr>
        <p:spPr>
          <a:xfrm>
            <a:off x="8046720" y="3794760"/>
            <a:ext cx="731520" cy="0"/>
          </a:xfrm>
          <a:prstGeom prst="line">
            <a:avLst/>
          </a:prstGeom>
          <a:noFill/>
          <a:ln w="22225">
            <a:solidFill>
              <a:schemeClr val="tx2"/>
            </a:solidFill>
            <a:prstDash val="solid"/>
            <a:tailEnd type="triangle"/>
          </a:ln>
        </p:spPr>
      </p:sp>
      <p:sp>
        <p:nvSpPr>
          <p:cNvPr id="18" name="Shape 15"/>
          <p:cNvSpPr/>
          <p:nvPr/>
        </p:nvSpPr>
        <p:spPr>
          <a:xfrm flipV="1">
            <a:off x="10195560" y="2788920"/>
            <a:ext cx="0" cy="594360"/>
          </a:xfrm>
          <a:prstGeom prst="line">
            <a:avLst/>
          </a:prstGeom>
          <a:noFill/>
          <a:ln w="22225">
            <a:solidFill>
              <a:schemeClr val="tx2"/>
            </a:solidFill>
            <a:prstDash val="solid"/>
            <a:tailEnd type="triangle"/>
          </a:ln>
        </p:spPr>
      </p:sp>
      <p:sp>
        <p:nvSpPr>
          <p:cNvPr id="19" name="Text 16"/>
          <p:cNvSpPr txBox="1"/>
          <p:nvPr/>
        </p:nvSpPr>
        <p:spPr>
          <a:xfrm>
            <a:off x="548640" y="3383280"/>
            <a:ext cx="4663440" cy="822960"/>
          </a:xfrm>
          <a:prstGeom prst="roundRect">
            <a:avLst>
              <a:gd name="adj" fmla="val 8889"/>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b="1" dirty="0">
                <a:solidFill>
                  <a:schemeClr val="tx1"/>
                </a:solidFill>
              </a:rPr>
              <a:t>Account status</a:t>
            </a:r>
            <a:endParaRPr lang="en-US" sz="1200" dirty="0"/>
          </a:p>
          <a:p>
            <a:pPr algn="l" indent="0" marL="0">
              <a:buNone/>
            </a:pPr>
            <a:r>
              <a:rPr lang="en-US" sz="1300" dirty="0">
                <a:solidFill>
                  <a:schemeClr val="tx1"/>
                </a:solidFill>
              </a:rPr>
              <a:t>PENDING_DISBURSEMENT  -&gt;  ACTIVE</a:t>
            </a:r>
            <a:endParaRPr lang="en-US" sz="1200" dirty="0"/>
          </a:p>
        </p:txBody>
      </p:sp>
      <p:sp>
        <p:nvSpPr>
          <p:cNvPr id="20" name="Text 17"/>
          <p:cNvSpPr txBox="1"/>
          <p:nvPr/>
        </p:nvSpPr>
        <p:spPr>
          <a:xfrm>
            <a:off x="548640" y="45262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Guards that protect the flow</a:t>
            </a:r>
            <a:endParaRPr lang="en-US" sz="1600" dirty="0"/>
          </a:p>
        </p:txBody>
      </p:sp>
      <p:sp>
        <p:nvSpPr>
          <p:cNvPr id="21" name="Text 18"/>
          <p:cNvSpPr txBox="1"/>
          <p:nvPr/>
        </p:nvSpPr>
        <p:spPr>
          <a:xfrm>
            <a:off x="54864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creation</a:t>
            </a:r>
            <a:endParaRPr lang="en-US" sz="1200" dirty="0"/>
          </a:p>
          <a:p>
            <a:pPr algn="l" indent="0" marL="0">
              <a:buNone/>
            </a:pPr>
            <a:r>
              <a:rPr lang="en-US" sz="1300" dirty="0">
                <a:solidFill>
                  <a:schemeClr val="tx1"/>
                </a:solidFill>
              </a:rPr>
              <a:t>Re-sending the same sanctionRefId returns the same account, never a second one.</a:t>
            </a:r>
            <a:endParaRPr lang="en-US" sz="1200" dirty="0"/>
          </a:p>
        </p:txBody>
      </p:sp>
      <p:sp>
        <p:nvSpPr>
          <p:cNvPr id="22" name="Text 19"/>
          <p:cNvSpPr txBox="1"/>
          <p:nvPr/>
        </p:nvSpPr>
        <p:spPr>
          <a:xfrm>
            <a:off x="429768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disbursal</a:t>
            </a:r>
            <a:endParaRPr lang="en-US" sz="1200" dirty="0"/>
          </a:p>
          <a:p>
            <a:pPr algn="l" indent="0" marL="0">
              <a:buNone/>
            </a:pPr>
            <a:r>
              <a:rPr lang="en-US" sz="1300" dirty="0">
                <a:solidFill>
                  <a:schemeClr val="tx1"/>
                </a:solidFill>
              </a:rPr>
              <a:t>Disbursing an ACTIVE account returns it unchanged.</a:t>
            </a:r>
            <a:endParaRPr lang="en-US" sz="1200" dirty="0"/>
          </a:p>
        </p:txBody>
      </p:sp>
      <p:sp>
        <p:nvSpPr>
          <p:cNvPr id="23" name="Text 20"/>
          <p:cNvSpPr txBox="1"/>
          <p:nvPr/>
        </p:nvSpPr>
        <p:spPr>
          <a:xfrm>
            <a:off x="804672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Mortgage guard</a:t>
            </a:r>
            <a:endParaRPr lang="en-US" sz="1200" dirty="0"/>
          </a:p>
          <a:p>
            <a:pPr algn="l" indent="0" marL="0">
              <a:buNone/>
            </a:pPr>
            <a:r>
              <a:rPr lang="en-US" sz="1300" dirty="0">
                <a:solidFill>
                  <a:schemeClr val="tx1"/>
                </a:solidFill>
              </a:rPr>
              <a:t>A mortgage account with no linked charge is rejected, so a secured loan is never released without its security.</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repayment and exit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ways money moves after disbursement; each is idempotent on account plus idempotency key</a:t>
            </a:r>
            <a:endParaRPr lang="en-US" sz="1400" dirty="0"/>
          </a:p>
        </p:txBody>
      </p:sp>
      <p:sp>
        <p:nvSpPr>
          <p:cNvPr id="5" name="Text 2"/>
          <p:cNvSpPr txBox="1"/>
          <p:nvPr/>
        </p:nvSpPr>
        <p:spPr>
          <a:xfrm>
            <a:off x="548640" y="1508760"/>
            <a:ext cx="3566160" cy="731520"/>
          </a:xfrm>
          <a:prstGeom prst="roundRect">
            <a:avLst>
              <a:gd name="adj" fmla="val 10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600" b="1" dirty="0">
                <a:solidFill>
                  <a:schemeClr val="bg1"/>
                </a:solidFill>
              </a:rPr>
              <a:t>EMI payment</a:t>
            </a:r>
            <a:endParaRPr lang="en-US" sz="1200" dirty="0"/>
          </a:p>
          <a:p>
            <a:pPr algn="ctr" indent="0" marL="0">
              <a:buNone/>
            </a:pPr>
            <a:r>
              <a:rPr lang="en-US" sz="1200" dirty="0">
                <a:solidFill>
                  <a:schemeClr val="bg1"/>
                </a:solidFill>
              </a:rPr>
              <a:t>POST /payments/emi</a:t>
            </a:r>
            <a:endParaRPr lang="en-US" sz="1200" dirty="0"/>
          </a:p>
        </p:txBody>
      </p:sp>
      <p:sp>
        <p:nvSpPr>
          <p:cNvPr id="6" name="Text 3"/>
          <p:cNvSpPr txBox="1"/>
          <p:nvPr/>
        </p:nvSpPr>
        <p:spPr>
          <a:xfrm>
            <a:off x="548640" y="246888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Account must be ACTIVE</a:t>
            </a:r>
            <a:endParaRPr lang="en-US" sz="1300" dirty="0"/>
          </a:p>
        </p:txBody>
      </p:sp>
      <p:sp>
        <p:nvSpPr>
          <p:cNvPr id="7" name="Shape 4"/>
          <p:cNvSpPr/>
          <p:nvPr/>
        </p:nvSpPr>
        <p:spPr>
          <a:xfrm>
            <a:off x="2331720" y="3200400"/>
            <a:ext cx="0" cy="228600"/>
          </a:xfrm>
          <a:prstGeom prst="line">
            <a:avLst/>
          </a:prstGeom>
          <a:noFill/>
          <a:ln w="22225">
            <a:solidFill>
              <a:schemeClr val="tx2"/>
            </a:solidFill>
            <a:prstDash val="solid"/>
            <a:tailEnd type="triangle"/>
          </a:ln>
        </p:spPr>
      </p:sp>
      <p:sp>
        <p:nvSpPr>
          <p:cNvPr id="8" name="Text 5"/>
          <p:cNvSpPr txBox="1"/>
          <p:nvPr/>
        </p:nvSpPr>
        <p:spPr>
          <a:xfrm>
            <a:off x="548640" y="342900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Amount must equal the EMI due on the oldest pending instalment</a:t>
            </a:r>
            <a:endParaRPr lang="en-US" sz="1300" dirty="0"/>
          </a:p>
        </p:txBody>
      </p:sp>
      <p:sp>
        <p:nvSpPr>
          <p:cNvPr id="9" name="Shape 6"/>
          <p:cNvSpPr/>
          <p:nvPr/>
        </p:nvSpPr>
        <p:spPr>
          <a:xfrm>
            <a:off x="2331720" y="4160520"/>
            <a:ext cx="0" cy="228600"/>
          </a:xfrm>
          <a:prstGeom prst="line">
            <a:avLst/>
          </a:prstGeom>
          <a:noFill/>
          <a:ln w="22225">
            <a:solidFill>
              <a:schemeClr val="tx2"/>
            </a:solidFill>
            <a:prstDash val="solid"/>
            <a:tailEnd type="triangle"/>
          </a:ln>
        </p:spPr>
      </p:sp>
      <p:sp>
        <p:nvSpPr>
          <p:cNvPr id="10" name="Text 7"/>
          <p:cNvSpPr txBox="1"/>
          <p:nvPr/>
        </p:nvSpPr>
        <p:spPr>
          <a:xfrm>
            <a:off x="548640" y="438912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Instalment marked PAID; emi_transaction recorded</a:t>
            </a:r>
            <a:endParaRPr lang="en-US" sz="1300" dirty="0"/>
          </a:p>
        </p:txBody>
      </p:sp>
      <p:sp>
        <p:nvSpPr>
          <p:cNvPr id="11" name="Shape 8"/>
          <p:cNvSpPr/>
          <p:nvPr/>
        </p:nvSpPr>
        <p:spPr>
          <a:xfrm>
            <a:off x="2331720" y="5120640"/>
            <a:ext cx="0" cy="228600"/>
          </a:xfrm>
          <a:prstGeom prst="line">
            <a:avLst/>
          </a:prstGeom>
          <a:noFill/>
          <a:ln w="22225">
            <a:solidFill>
              <a:schemeClr val="tx2"/>
            </a:solidFill>
            <a:prstDash val="solid"/>
            <a:tailEnd type="triangle"/>
          </a:ln>
        </p:spPr>
      </p:sp>
      <p:sp>
        <p:nvSpPr>
          <p:cNvPr id="12" name="Text 9"/>
          <p:cNvSpPr txBox="1"/>
          <p:nvPr/>
        </p:nvSpPr>
        <p:spPr>
          <a:xfrm>
            <a:off x="548640" y="534924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EMI_POSTING event queued; last instalment closes the account</a:t>
            </a:r>
            <a:endParaRPr lang="en-US" sz="1300" dirty="0"/>
          </a:p>
        </p:txBody>
      </p:sp>
      <p:sp>
        <p:nvSpPr>
          <p:cNvPr id="13" name="Text 10"/>
          <p:cNvSpPr txBox="1"/>
          <p:nvPr/>
        </p:nvSpPr>
        <p:spPr>
          <a:xfrm>
            <a:off x="4297680" y="1508760"/>
            <a:ext cx="356616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600" b="1" dirty="0">
                <a:solidFill>
                  <a:schemeClr val="bg1"/>
                </a:solidFill>
              </a:rPr>
              <a:t>Part-payment</a:t>
            </a:r>
            <a:endParaRPr lang="en-US" sz="1200" dirty="0"/>
          </a:p>
          <a:p>
            <a:pPr algn="ctr" indent="0" marL="0">
              <a:buNone/>
            </a:pPr>
            <a:r>
              <a:rPr lang="en-US" sz="1200" dirty="0">
                <a:solidFill>
                  <a:schemeClr val="bg1"/>
                </a:solidFill>
              </a:rPr>
              <a:t>POST /payments/part-payment</a:t>
            </a:r>
            <a:endParaRPr lang="en-US" sz="1200" dirty="0"/>
          </a:p>
        </p:txBody>
      </p:sp>
      <p:sp>
        <p:nvSpPr>
          <p:cNvPr id="14" name="Text 11"/>
          <p:cNvSpPr txBox="1"/>
          <p:nvPr/>
        </p:nvSpPr>
        <p:spPr>
          <a:xfrm>
            <a:off x="4297680" y="246888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Account must be ACTIVE with pending instalments</a:t>
            </a:r>
            <a:endParaRPr lang="en-US" sz="1300" dirty="0"/>
          </a:p>
        </p:txBody>
      </p:sp>
      <p:sp>
        <p:nvSpPr>
          <p:cNvPr id="15" name="Shape 12"/>
          <p:cNvSpPr/>
          <p:nvPr/>
        </p:nvSpPr>
        <p:spPr>
          <a:xfrm>
            <a:off x="6080760" y="3200400"/>
            <a:ext cx="0" cy="228600"/>
          </a:xfrm>
          <a:prstGeom prst="line">
            <a:avLst/>
          </a:prstGeom>
          <a:noFill/>
          <a:ln w="22225">
            <a:solidFill>
              <a:schemeClr val="tx2"/>
            </a:solidFill>
            <a:prstDash val="solid"/>
            <a:tailEnd type="triangle"/>
          </a:ln>
        </p:spPr>
      </p:sp>
      <p:sp>
        <p:nvSpPr>
          <p:cNvPr id="16" name="Text 13"/>
          <p:cNvSpPr txBox="1"/>
          <p:nvPr/>
        </p:nvSpPr>
        <p:spPr>
          <a:xfrm>
            <a:off x="4297680" y="342900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Principal reduced by the amount paid</a:t>
            </a:r>
            <a:endParaRPr lang="en-US" sz="1300" dirty="0"/>
          </a:p>
        </p:txBody>
      </p:sp>
      <p:sp>
        <p:nvSpPr>
          <p:cNvPr id="17" name="Shape 14"/>
          <p:cNvSpPr/>
          <p:nvPr/>
        </p:nvSpPr>
        <p:spPr>
          <a:xfrm>
            <a:off x="6080760" y="4160520"/>
            <a:ext cx="0" cy="228600"/>
          </a:xfrm>
          <a:prstGeom prst="line">
            <a:avLst/>
          </a:prstGeom>
          <a:noFill/>
          <a:ln w="22225">
            <a:solidFill>
              <a:schemeClr val="tx2"/>
            </a:solidFill>
            <a:prstDash val="solid"/>
            <a:tailEnd type="triangle"/>
          </a:ln>
        </p:spPr>
      </p:sp>
      <p:sp>
        <p:nvSpPr>
          <p:cNvPr id="18" name="Text 15"/>
          <p:cNvSpPr txBox="1"/>
          <p:nvPr/>
        </p:nvSpPr>
        <p:spPr>
          <a:xfrm>
            <a:off x="4297680" y="438912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Schedule regenerated as a new version</a:t>
            </a:r>
            <a:endParaRPr lang="en-US" sz="1300" dirty="0"/>
          </a:p>
        </p:txBody>
      </p:sp>
      <p:sp>
        <p:nvSpPr>
          <p:cNvPr id="19" name="Shape 16"/>
          <p:cNvSpPr/>
          <p:nvPr/>
        </p:nvSpPr>
        <p:spPr>
          <a:xfrm>
            <a:off x="6080760" y="5120640"/>
            <a:ext cx="0" cy="228600"/>
          </a:xfrm>
          <a:prstGeom prst="line">
            <a:avLst/>
          </a:prstGeom>
          <a:noFill/>
          <a:ln w="22225">
            <a:solidFill>
              <a:schemeClr val="tx2"/>
            </a:solidFill>
            <a:prstDash val="solid"/>
            <a:tailEnd type="triangle"/>
          </a:ln>
        </p:spPr>
      </p:sp>
      <p:sp>
        <p:nvSpPr>
          <p:cNvPr id="20" name="Text 17"/>
          <p:cNvSpPr txBox="1"/>
          <p:nvPr/>
        </p:nvSpPr>
        <p:spPr>
          <a:xfrm>
            <a:off x="4297680" y="534924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EMI_POSTING event queued; a full clearance closes the account</a:t>
            </a:r>
            <a:endParaRPr lang="en-US" sz="1300" dirty="0"/>
          </a:p>
        </p:txBody>
      </p:sp>
      <p:sp>
        <p:nvSpPr>
          <p:cNvPr id="21" name="Text 18"/>
          <p:cNvSpPr txBox="1"/>
          <p:nvPr/>
        </p:nvSpPr>
        <p:spPr>
          <a:xfrm>
            <a:off x="8046720" y="1508760"/>
            <a:ext cx="3566160" cy="731520"/>
          </a:xfrm>
          <a:prstGeom prst="roundRect">
            <a:avLst>
              <a:gd name="adj" fmla="val 10000"/>
            </a:avLst>
          </a:prstGeom>
          <a:solidFill>
            <a:schemeClr val="accent3"/>
          </a:solidFill>
          <a:ln w="12700">
            <a:solidFill>
              <a:schemeClr val="accent3"/>
            </a:solidFill>
          </a:ln>
        </p:spPr>
        <p:txBody>
          <a:bodyPr wrap="square" lIns="50800" tIns="50800" rIns="50800" bIns="50800" rtlCol="0" anchor="ctr"/>
          <a:lstStyle/>
          <a:p>
            <a:pPr algn="ctr" indent="0" marL="0">
              <a:buNone/>
            </a:pPr>
            <a:r>
              <a:rPr lang="en-US" sz="1600" b="1" dirty="0">
                <a:solidFill>
                  <a:schemeClr val="bg1"/>
                </a:solidFill>
              </a:rPr>
              <a:t>Foreclosure</a:t>
            </a:r>
            <a:endParaRPr lang="en-US" sz="1200" dirty="0"/>
          </a:p>
          <a:p>
            <a:pPr algn="ctr" indent="0" marL="0">
              <a:buNone/>
            </a:pPr>
            <a:r>
              <a:rPr lang="en-US" sz="1200" dirty="0">
                <a:solidFill>
                  <a:schemeClr val="bg1"/>
                </a:solidFill>
              </a:rPr>
              <a:t>POST /payments/foreclosure</a:t>
            </a:r>
            <a:endParaRPr lang="en-US" sz="1200" dirty="0"/>
          </a:p>
        </p:txBody>
      </p:sp>
      <p:sp>
        <p:nvSpPr>
          <p:cNvPr id="22" name="Text 19"/>
          <p:cNvSpPr txBox="1"/>
          <p:nvPr/>
        </p:nvSpPr>
        <p:spPr>
          <a:xfrm>
            <a:off x="8046720" y="246888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Payoff = outstanding principal + accrued interest</a:t>
            </a:r>
            <a:endParaRPr lang="en-US" sz="1300" dirty="0"/>
          </a:p>
        </p:txBody>
      </p:sp>
      <p:sp>
        <p:nvSpPr>
          <p:cNvPr id="23" name="Shape 20"/>
          <p:cNvSpPr/>
          <p:nvPr/>
        </p:nvSpPr>
        <p:spPr>
          <a:xfrm>
            <a:off x="9829800" y="3200400"/>
            <a:ext cx="0" cy="228600"/>
          </a:xfrm>
          <a:prstGeom prst="line">
            <a:avLst/>
          </a:prstGeom>
          <a:noFill/>
          <a:ln w="22225">
            <a:solidFill>
              <a:schemeClr val="tx2"/>
            </a:solidFill>
            <a:prstDash val="solid"/>
            <a:tailEnd type="triangle"/>
          </a:ln>
        </p:spPr>
      </p:sp>
      <p:sp>
        <p:nvSpPr>
          <p:cNvPr id="24" name="Text 21"/>
          <p:cNvSpPr txBox="1"/>
          <p:nvPr/>
        </p:nvSpPr>
        <p:spPr>
          <a:xfrm>
            <a:off x="8046720" y="342900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Accrued interest read from interest_accrual</a:t>
            </a:r>
            <a:endParaRPr lang="en-US" sz="1300" dirty="0"/>
          </a:p>
        </p:txBody>
      </p:sp>
      <p:sp>
        <p:nvSpPr>
          <p:cNvPr id="25" name="Shape 22"/>
          <p:cNvSpPr/>
          <p:nvPr/>
        </p:nvSpPr>
        <p:spPr>
          <a:xfrm>
            <a:off x="9829800" y="4160520"/>
            <a:ext cx="0" cy="228600"/>
          </a:xfrm>
          <a:prstGeom prst="line">
            <a:avLst/>
          </a:prstGeom>
          <a:noFill/>
          <a:ln w="22225">
            <a:solidFill>
              <a:schemeClr val="tx2"/>
            </a:solidFill>
            <a:prstDash val="solid"/>
            <a:tailEnd type="triangle"/>
          </a:ln>
        </p:spPr>
      </p:sp>
      <p:sp>
        <p:nvSpPr>
          <p:cNvPr id="26" name="Text 23"/>
          <p:cNvSpPr txBox="1"/>
          <p:nvPr/>
        </p:nvSpPr>
        <p:spPr>
          <a:xfrm>
            <a:off x="8046720" y="438912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FORECLOSURE transaction recorded in full</a:t>
            </a:r>
            <a:endParaRPr lang="en-US" sz="1300" dirty="0"/>
          </a:p>
        </p:txBody>
      </p:sp>
      <p:sp>
        <p:nvSpPr>
          <p:cNvPr id="27" name="Shape 24"/>
          <p:cNvSpPr/>
          <p:nvPr/>
        </p:nvSpPr>
        <p:spPr>
          <a:xfrm>
            <a:off x="9829800" y="5120640"/>
            <a:ext cx="0" cy="228600"/>
          </a:xfrm>
          <a:prstGeom prst="line">
            <a:avLst/>
          </a:prstGeom>
          <a:noFill/>
          <a:ln w="22225">
            <a:solidFill>
              <a:schemeClr val="tx2"/>
            </a:solidFill>
            <a:prstDash val="solid"/>
            <a:tailEnd type="triangle"/>
          </a:ln>
        </p:spPr>
      </p:sp>
      <p:sp>
        <p:nvSpPr>
          <p:cNvPr id="28" name="Text 25"/>
          <p:cNvSpPr txBox="1"/>
          <p:nvPr/>
        </p:nvSpPr>
        <p:spPr>
          <a:xfrm>
            <a:off x="8046720" y="534924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Status FORECLOSED; FORECLOSURE event queued</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the nightly batch chain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Thirteen daily jobs in priority order; with end of day on (the default) one nightly run goes through them, then advances the date</a:t>
            </a:r>
            <a:endParaRPr lang="en-US" sz="1400" dirty="0"/>
          </a:p>
        </p:txBody>
      </p:sp>
      <p:sp>
        <p:nvSpPr>
          <p:cNvPr id="5" name="Text 2"/>
          <p:cNvSpPr txBox="1"/>
          <p:nvPr/>
        </p:nvSpPr>
        <p:spPr>
          <a:xfrm>
            <a:off x="548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  |  01:00</a:t>
            </a:r>
            <a:endParaRPr lang="en-US" sz="1200" dirty="0"/>
          </a:p>
          <a:p>
            <a:pPr algn="ctr" indent="0" marL="0">
              <a:buNone/>
            </a:pPr>
            <a:r>
              <a:rPr lang="en-US" sz="1100" dirty="0">
                <a:solidFill>
                  <a:schemeClr val="bg1"/>
                </a:solidFill>
              </a:rPr>
              <a:t>Interest accrual</a:t>
            </a:r>
            <a:endParaRPr lang="en-US" sz="1200" dirty="0"/>
          </a:p>
        </p:txBody>
      </p:sp>
      <p:sp>
        <p:nvSpPr>
          <p:cNvPr id="6" name="Shape 3"/>
          <p:cNvSpPr/>
          <p:nvPr/>
        </p:nvSpPr>
        <p:spPr>
          <a:xfrm>
            <a:off x="2011680" y="2011680"/>
            <a:ext cx="137160" cy="0"/>
          </a:xfrm>
          <a:prstGeom prst="line">
            <a:avLst/>
          </a:prstGeom>
          <a:noFill/>
          <a:ln w="15875">
            <a:solidFill>
              <a:schemeClr val="tx2"/>
            </a:solidFill>
            <a:prstDash val="solid"/>
            <a:tailEnd type="triangle"/>
          </a:ln>
        </p:spPr>
      </p:sp>
      <p:sp>
        <p:nvSpPr>
          <p:cNvPr id="7" name="Text 4"/>
          <p:cNvSpPr txBox="1"/>
          <p:nvPr/>
        </p:nvSpPr>
        <p:spPr>
          <a:xfrm>
            <a:off x="2148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2  |  01:05</a:t>
            </a:r>
            <a:endParaRPr lang="en-US" sz="1200" dirty="0"/>
          </a:p>
          <a:p>
            <a:pPr algn="ctr" indent="0" marL="0">
              <a:buNone/>
            </a:pPr>
            <a:r>
              <a:rPr lang="en-US" sz="1100" dirty="0">
                <a:solidFill>
                  <a:schemeClr val="bg1"/>
                </a:solidFill>
              </a:rPr>
              <a:t>Penal interest</a:t>
            </a:r>
            <a:endParaRPr lang="en-US" sz="1200" dirty="0"/>
          </a:p>
        </p:txBody>
      </p:sp>
      <p:sp>
        <p:nvSpPr>
          <p:cNvPr id="8" name="Shape 5"/>
          <p:cNvSpPr/>
          <p:nvPr/>
        </p:nvSpPr>
        <p:spPr>
          <a:xfrm>
            <a:off x="3611880" y="2011680"/>
            <a:ext cx="137160" cy="0"/>
          </a:xfrm>
          <a:prstGeom prst="line">
            <a:avLst/>
          </a:prstGeom>
          <a:noFill/>
          <a:ln w="15875">
            <a:solidFill>
              <a:schemeClr val="tx2"/>
            </a:solidFill>
            <a:prstDash val="solid"/>
            <a:tailEnd type="triangle"/>
          </a:ln>
        </p:spPr>
      </p:sp>
      <p:sp>
        <p:nvSpPr>
          <p:cNvPr id="9" name="Text 6"/>
          <p:cNvSpPr txBox="1"/>
          <p:nvPr/>
        </p:nvSpPr>
        <p:spPr>
          <a:xfrm>
            <a:off x="37490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3  |  01:10</a:t>
            </a:r>
            <a:endParaRPr lang="en-US" sz="1200" dirty="0"/>
          </a:p>
          <a:p>
            <a:pPr algn="ctr" indent="0" marL="0">
              <a:buNone/>
            </a:pPr>
            <a:r>
              <a:rPr lang="en-US" sz="1100" dirty="0">
                <a:solidFill>
                  <a:schemeClr val="tx1"/>
                </a:solidFill>
              </a:rPr>
              <a:t>DPD update</a:t>
            </a:r>
            <a:endParaRPr lang="en-US" sz="1200" dirty="0"/>
          </a:p>
        </p:txBody>
      </p:sp>
      <p:sp>
        <p:nvSpPr>
          <p:cNvPr id="10" name="Shape 7"/>
          <p:cNvSpPr/>
          <p:nvPr/>
        </p:nvSpPr>
        <p:spPr>
          <a:xfrm>
            <a:off x="5212080" y="2011680"/>
            <a:ext cx="137160" cy="0"/>
          </a:xfrm>
          <a:prstGeom prst="line">
            <a:avLst/>
          </a:prstGeom>
          <a:noFill/>
          <a:ln w="15875">
            <a:solidFill>
              <a:schemeClr val="tx2"/>
            </a:solidFill>
            <a:prstDash val="solid"/>
            <a:tailEnd type="triangle"/>
          </a:ln>
        </p:spPr>
      </p:sp>
      <p:sp>
        <p:nvSpPr>
          <p:cNvPr id="11" name="Text 8"/>
          <p:cNvSpPr txBox="1"/>
          <p:nvPr/>
        </p:nvSpPr>
        <p:spPr>
          <a:xfrm>
            <a:off x="53492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4  |  01:15</a:t>
            </a:r>
            <a:endParaRPr lang="en-US" sz="1200" dirty="0"/>
          </a:p>
          <a:p>
            <a:pPr algn="ctr" indent="0" marL="0">
              <a:buNone/>
            </a:pPr>
            <a:r>
              <a:rPr lang="en-US" sz="1100" dirty="0">
                <a:solidFill>
                  <a:schemeClr val="tx1"/>
                </a:solidFill>
              </a:rPr>
              <a:t>NPA classification</a:t>
            </a:r>
            <a:endParaRPr lang="en-US" sz="1200" dirty="0"/>
          </a:p>
        </p:txBody>
      </p:sp>
      <p:sp>
        <p:nvSpPr>
          <p:cNvPr id="12" name="Shape 9"/>
          <p:cNvSpPr/>
          <p:nvPr/>
        </p:nvSpPr>
        <p:spPr>
          <a:xfrm>
            <a:off x="6812280" y="2011680"/>
            <a:ext cx="137160" cy="0"/>
          </a:xfrm>
          <a:prstGeom prst="line">
            <a:avLst/>
          </a:prstGeom>
          <a:noFill/>
          <a:ln w="15875">
            <a:solidFill>
              <a:schemeClr val="tx2"/>
            </a:solidFill>
            <a:prstDash val="solid"/>
            <a:tailEnd type="triangle"/>
          </a:ln>
        </p:spPr>
      </p:sp>
      <p:sp>
        <p:nvSpPr>
          <p:cNvPr id="13" name="Text 10"/>
          <p:cNvSpPr txBox="1"/>
          <p:nvPr/>
        </p:nvSpPr>
        <p:spPr>
          <a:xfrm>
            <a:off x="69494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5  |  01:20</a:t>
            </a:r>
            <a:endParaRPr lang="en-US" sz="1200" dirty="0"/>
          </a:p>
          <a:p>
            <a:pPr algn="ctr" indent="0" marL="0">
              <a:buNone/>
            </a:pPr>
            <a:r>
              <a:rPr lang="en-US" sz="1100" dirty="0">
                <a:solidFill>
                  <a:schemeClr val="bg1"/>
                </a:solidFill>
              </a:rPr>
              <a:t>Auto-debit</a:t>
            </a:r>
            <a:endParaRPr lang="en-US" sz="1200" dirty="0"/>
          </a:p>
        </p:txBody>
      </p:sp>
      <p:sp>
        <p:nvSpPr>
          <p:cNvPr id="14" name="Shape 11"/>
          <p:cNvSpPr/>
          <p:nvPr/>
        </p:nvSpPr>
        <p:spPr>
          <a:xfrm>
            <a:off x="8412480" y="2011680"/>
            <a:ext cx="137160" cy="0"/>
          </a:xfrm>
          <a:prstGeom prst="line">
            <a:avLst/>
          </a:prstGeom>
          <a:noFill/>
          <a:ln w="15875">
            <a:solidFill>
              <a:schemeClr val="tx2"/>
            </a:solidFill>
            <a:prstDash val="solid"/>
            <a:tailEnd type="triangle"/>
          </a:ln>
        </p:spPr>
      </p:sp>
      <p:sp>
        <p:nvSpPr>
          <p:cNvPr id="15" name="Text 12"/>
          <p:cNvSpPr txBox="1"/>
          <p:nvPr/>
        </p:nvSpPr>
        <p:spPr>
          <a:xfrm>
            <a:off x="8549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6  |  01:25</a:t>
            </a:r>
            <a:endParaRPr lang="en-US" sz="1200" dirty="0"/>
          </a:p>
          <a:p>
            <a:pPr algn="ctr" indent="0" marL="0">
              <a:buNone/>
            </a:pPr>
            <a:r>
              <a:rPr lang="en-US" sz="1100" dirty="0">
                <a:solidFill>
                  <a:schemeClr val="bg1"/>
                </a:solidFill>
              </a:rPr>
              <a:t>Bounce and NSF</a:t>
            </a:r>
            <a:endParaRPr lang="en-US" sz="1200" dirty="0"/>
          </a:p>
        </p:txBody>
      </p:sp>
      <p:sp>
        <p:nvSpPr>
          <p:cNvPr id="16" name="Shape 13"/>
          <p:cNvSpPr/>
          <p:nvPr/>
        </p:nvSpPr>
        <p:spPr>
          <a:xfrm>
            <a:off x="10012680" y="2011680"/>
            <a:ext cx="137160" cy="0"/>
          </a:xfrm>
          <a:prstGeom prst="line">
            <a:avLst/>
          </a:prstGeom>
          <a:noFill/>
          <a:ln w="15875">
            <a:solidFill>
              <a:schemeClr val="tx2"/>
            </a:solidFill>
            <a:prstDash val="solid"/>
            <a:tailEnd type="triangle"/>
          </a:ln>
        </p:spPr>
      </p:sp>
      <p:sp>
        <p:nvSpPr>
          <p:cNvPr id="17" name="Text 14"/>
          <p:cNvSpPr txBox="1"/>
          <p:nvPr/>
        </p:nvSpPr>
        <p:spPr>
          <a:xfrm>
            <a:off x="10149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7  |  01:30</a:t>
            </a:r>
            <a:endParaRPr lang="en-US" sz="1200" dirty="0"/>
          </a:p>
          <a:p>
            <a:pPr algn="ctr" indent="0" marL="0">
              <a:buNone/>
            </a:pPr>
            <a:r>
              <a:rPr lang="en-US" sz="1100" dirty="0">
                <a:solidFill>
                  <a:schemeClr val="bg1"/>
                </a:solidFill>
              </a:rPr>
              <a:t>Disbursement settlement</a:t>
            </a:r>
            <a:endParaRPr lang="en-US" sz="1200" dirty="0"/>
          </a:p>
        </p:txBody>
      </p:sp>
      <p:sp>
        <p:nvSpPr>
          <p:cNvPr id="18" name="Text 15"/>
          <p:cNvSpPr txBox="1"/>
          <p:nvPr/>
        </p:nvSpPr>
        <p:spPr>
          <a:xfrm>
            <a:off x="548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8  |  01:35</a:t>
            </a:r>
            <a:endParaRPr lang="en-US" sz="1200" dirty="0"/>
          </a:p>
          <a:p>
            <a:pPr algn="ctr" indent="0" marL="0">
              <a:buNone/>
            </a:pPr>
            <a:r>
              <a:rPr lang="en-US" sz="1100" dirty="0">
                <a:solidFill>
                  <a:schemeClr val="bg1"/>
                </a:solidFill>
              </a:rPr>
              <a:t>GL reconciliation</a:t>
            </a:r>
            <a:endParaRPr lang="en-US" sz="1200" dirty="0"/>
          </a:p>
        </p:txBody>
      </p:sp>
      <p:sp>
        <p:nvSpPr>
          <p:cNvPr id="19" name="Shape 16"/>
          <p:cNvSpPr/>
          <p:nvPr/>
        </p:nvSpPr>
        <p:spPr>
          <a:xfrm>
            <a:off x="2011680" y="3246120"/>
            <a:ext cx="137160" cy="0"/>
          </a:xfrm>
          <a:prstGeom prst="line">
            <a:avLst/>
          </a:prstGeom>
          <a:noFill/>
          <a:ln w="15875">
            <a:solidFill>
              <a:schemeClr val="tx2"/>
            </a:solidFill>
            <a:prstDash val="solid"/>
            <a:tailEnd type="triangle"/>
          </a:ln>
        </p:spPr>
      </p:sp>
      <p:sp>
        <p:nvSpPr>
          <p:cNvPr id="20" name="Text 17"/>
          <p:cNvSpPr txBox="1"/>
          <p:nvPr/>
        </p:nvSpPr>
        <p:spPr>
          <a:xfrm>
            <a:off x="21488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9  |  01:40</a:t>
            </a:r>
            <a:endParaRPr lang="en-US" sz="1200" dirty="0"/>
          </a:p>
          <a:p>
            <a:pPr algn="ctr" indent="0" marL="0">
              <a:buNone/>
            </a:pPr>
            <a:r>
              <a:rPr lang="en-US" sz="1100" dirty="0">
                <a:solidFill>
                  <a:schemeClr val="bg1"/>
                </a:solidFill>
              </a:rPr>
              <a:t>Limit utilisation</a:t>
            </a:r>
            <a:endParaRPr lang="en-US" sz="1200" dirty="0"/>
          </a:p>
        </p:txBody>
      </p:sp>
      <p:sp>
        <p:nvSpPr>
          <p:cNvPr id="21" name="Shape 18"/>
          <p:cNvSpPr/>
          <p:nvPr/>
        </p:nvSpPr>
        <p:spPr>
          <a:xfrm>
            <a:off x="3611880" y="3246120"/>
            <a:ext cx="137160" cy="0"/>
          </a:xfrm>
          <a:prstGeom prst="line">
            <a:avLst/>
          </a:prstGeom>
          <a:noFill/>
          <a:ln w="15875">
            <a:solidFill>
              <a:schemeClr val="tx2"/>
            </a:solidFill>
            <a:prstDash val="solid"/>
            <a:tailEnd type="triangle"/>
          </a:ln>
        </p:spPr>
      </p:sp>
      <p:sp>
        <p:nvSpPr>
          <p:cNvPr id="22" name="Text 19"/>
          <p:cNvSpPr txBox="1"/>
          <p:nvPr/>
        </p:nvSpPr>
        <p:spPr>
          <a:xfrm>
            <a:off x="37490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10  |  01:45</a:t>
            </a:r>
            <a:endParaRPr lang="en-US" sz="1200" dirty="0"/>
          </a:p>
          <a:p>
            <a:pPr algn="ctr" indent="0" marL="0">
              <a:buNone/>
            </a:pPr>
            <a:r>
              <a:rPr lang="en-US" sz="1100" dirty="0">
                <a:solidFill>
                  <a:schemeClr val="bg1"/>
                </a:solidFill>
              </a:rPr>
              <a:t>Fees and charges</a:t>
            </a:r>
            <a:endParaRPr lang="en-US" sz="1200" dirty="0"/>
          </a:p>
        </p:txBody>
      </p:sp>
      <p:sp>
        <p:nvSpPr>
          <p:cNvPr id="23" name="Shape 20"/>
          <p:cNvSpPr/>
          <p:nvPr/>
        </p:nvSpPr>
        <p:spPr>
          <a:xfrm>
            <a:off x="5212080" y="3246120"/>
            <a:ext cx="137160" cy="0"/>
          </a:xfrm>
          <a:prstGeom prst="line">
            <a:avLst/>
          </a:prstGeom>
          <a:noFill/>
          <a:ln w="15875">
            <a:solidFill>
              <a:schemeClr val="tx2"/>
            </a:solidFill>
            <a:prstDash val="solid"/>
            <a:tailEnd type="triangle"/>
          </a:ln>
        </p:spPr>
      </p:sp>
      <p:sp>
        <p:nvSpPr>
          <p:cNvPr id="24" name="Text 21"/>
          <p:cNvSpPr txBox="1"/>
          <p:nvPr/>
        </p:nvSpPr>
        <p:spPr>
          <a:xfrm>
            <a:off x="53492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11  |  01:50</a:t>
            </a:r>
            <a:endParaRPr lang="en-US" sz="1200" dirty="0"/>
          </a:p>
          <a:p>
            <a:pPr algn="ctr" indent="0" marL="0">
              <a:buNone/>
            </a:pPr>
            <a:r>
              <a:rPr lang="en-US" sz="1100" dirty="0">
                <a:solidFill>
                  <a:schemeClr val="bg1"/>
                </a:solidFill>
              </a:rPr>
              <a:t>SOD / EOD balancing</a:t>
            </a:r>
            <a:endParaRPr lang="en-US" sz="1200" dirty="0"/>
          </a:p>
        </p:txBody>
      </p:sp>
      <p:sp>
        <p:nvSpPr>
          <p:cNvPr id="25" name="Shape 22"/>
          <p:cNvSpPr/>
          <p:nvPr/>
        </p:nvSpPr>
        <p:spPr>
          <a:xfrm>
            <a:off x="6812280" y="3246120"/>
            <a:ext cx="137160" cy="0"/>
          </a:xfrm>
          <a:prstGeom prst="line">
            <a:avLst/>
          </a:prstGeom>
          <a:noFill/>
          <a:ln w="15875">
            <a:solidFill>
              <a:schemeClr val="tx2"/>
            </a:solidFill>
            <a:prstDash val="solid"/>
            <a:tailEnd type="triangle"/>
          </a:ln>
        </p:spPr>
      </p:sp>
      <p:sp>
        <p:nvSpPr>
          <p:cNvPr id="26" name="Text 23"/>
          <p:cNvSpPr txBox="1"/>
          <p:nvPr/>
        </p:nvSpPr>
        <p:spPr>
          <a:xfrm>
            <a:off x="69494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12  |  01:55</a:t>
            </a:r>
            <a:endParaRPr lang="en-US" sz="1200" dirty="0"/>
          </a:p>
          <a:p>
            <a:pPr algn="ctr" indent="0" marL="0">
              <a:buNone/>
            </a:pPr>
            <a:r>
              <a:rPr lang="en-US" sz="1100" dirty="0">
                <a:solidFill>
                  <a:schemeClr val="bg1"/>
                </a:solidFill>
              </a:rPr>
              <a:t>Statement notices</a:t>
            </a:r>
            <a:endParaRPr lang="en-US" sz="1200" dirty="0"/>
          </a:p>
        </p:txBody>
      </p:sp>
      <p:sp>
        <p:nvSpPr>
          <p:cNvPr id="27" name="Shape 24"/>
          <p:cNvSpPr/>
          <p:nvPr/>
        </p:nvSpPr>
        <p:spPr>
          <a:xfrm>
            <a:off x="8412480" y="3246120"/>
            <a:ext cx="137160" cy="0"/>
          </a:xfrm>
          <a:prstGeom prst="line">
            <a:avLst/>
          </a:prstGeom>
          <a:noFill/>
          <a:ln w="15875">
            <a:solidFill>
              <a:schemeClr val="tx2"/>
            </a:solidFill>
            <a:prstDash val="solid"/>
            <a:tailEnd type="triangle"/>
          </a:ln>
        </p:spPr>
      </p:sp>
      <p:sp>
        <p:nvSpPr>
          <p:cNvPr id="28" name="Text 25"/>
          <p:cNvSpPr txBox="1"/>
          <p:nvPr/>
        </p:nvSpPr>
        <p:spPr>
          <a:xfrm>
            <a:off x="8549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13  |  02:00</a:t>
            </a:r>
            <a:endParaRPr lang="en-US" sz="1200" dirty="0"/>
          </a:p>
          <a:p>
            <a:pPr algn="ctr" indent="0" marL="0">
              <a:buNone/>
            </a:pPr>
            <a:r>
              <a:rPr lang="en-US" sz="1100" dirty="0">
                <a:solidFill>
                  <a:schemeClr val="bg1"/>
                </a:solidFill>
              </a:rPr>
              <a:t>Rate-reset check</a:t>
            </a:r>
            <a:endParaRPr lang="en-US" sz="1200" dirty="0"/>
          </a:p>
        </p:txBody>
      </p:sp>
      <p:sp>
        <p:nvSpPr>
          <p:cNvPr id="29" name="Text 26"/>
          <p:cNvSpPr txBox="1"/>
          <p:nvPr/>
        </p:nvSpPr>
        <p:spPr>
          <a:xfrm>
            <a:off x="3749040" y="2468880"/>
            <a:ext cx="3108960" cy="274320"/>
          </a:xfrm>
          <a:prstGeom prst="rect">
            <a:avLst/>
          </a:prstGeom>
          <a:noFill/>
          <a:ln/>
        </p:spPr>
        <p:txBody>
          <a:bodyPr wrap="square" lIns="0" tIns="0" rIns="0" bIns="0" rtlCol="0" anchor="ctr"/>
          <a:lstStyle/>
          <a:p>
            <a:pPr algn="l" indent="0" marL="0">
              <a:buNone/>
            </a:pPr>
            <a:r>
              <a:rPr lang="en-US" sz="1000" i="1" dirty="0">
                <a:solidFill>
                  <a:schemeClr val="accent4"/>
                </a:solidFill>
              </a:rPr>
              <a:t>Grey: DPD update must complete before NPA classification</a:t>
            </a:r>
            <a:endParaRPr lang="en-US" sz="1000" dirty="0"/>
          </a:p>
        </p:txBody>
      </p:sp>
      <p:sp>
        <p:nvSpPr>
          <p:cNvPr id="30" name="Text 27"/>
          <p:cNvSpPr txBox="1"/>
          <p:nvPr/>
        </p:nvSpPr>
        <p:spPr>
          <a:xfrm>
            <a:off x="54864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Monthly  (11)</a:t>
            </a:r>
            <a:endParaRPr lang="en-US" sz="1200" dirty="0"/>
          </a:p>
          <a:p>
            <a:pPr algn="l" indent="0" marL="0">
              <a:buNone/>
            </a:pPr>
            <a:r>
              <a:rPr lang="en-US" sz="1400" dirty="0">
                <a:solidFill>
                  <a:schemeClr val="bg1"/>
                </a:solidFill>
              </a:rPr>
              <a:t>EMI billing, interest capitalisation, provisioning, rate reset, schedule refresh, month-end GL close, bureau and regulatory extracts</a:t>
            </a:r>
            <a:endParaRPr lang="en-US" sz="1200" dirty="0"/>
          </a:p>
        </p:txBody>
      </p:sp>
      <p:sp>
        <p:nvSpPr>
          <p:cNvPr id="31" name="Text 28"/>
          <p:cNvSpPr txBox="1"/>
          <p:nvPr/>
        </p:nvSpPr>
        <p:spPr>
          <a:xfrm>
            <a:off x="429768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Periodic  (12)</a:t>
            </a:r>
            <a:endParaRPr lang="en-US" sz="1200" dirty="0"/>
          </a:p>
          <a:p>
            <a:pPr algn="l" indent="0" marL="0">
              <a:buNone/>
            </a:pPr>
            <a:r>
              <a:rPr lang="en-US" sz="1400" dirty="0">
                <a:solidFill>
                  <a:schemeClr val="bg1"/>
                </a:solidFill>
              </a:rPr>
              <a:t>Quarterly NPA provisioning review, stress testing and rate reset; annual insurance and credit-limit review; document expiry; event-triggered jobs</a:t>
            </a:r>
            <a:endParaRPr lang="en-US" sz="1200" dirty="0"/>
          </a:p>
        </p:txBody>
      </p:sp>
      <p:sp>
        <p:nvSpPr>
          <p:cNvPr id="32" name="Text 29"/>
          <p:cNvSpPr txBox="1"/>
          <p:nvPr/>
        </p:nvSpPr>
        <p:spPr>
          <a:xfrm>
            <a:off x="8046720" y="4160520"/>
            <a:ext cx="3566160" cy="18288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buNone/>
            </a:pPr>
            <a:r>
              <a:rPr lang="en-US" sz="1600" b="1" dirty="0">
                <a:solidFill>
                  <a:schemeClr val="tx1"/>
                </a:solidFill>
              </a:rPr>
              <a:t>Status today</a:t>
            </a:r>
            <a:endParaRPr lang="en-US" sz="1200" dirty="0"/>
          </a:p>
          <a:p>
            <a:pPr algn="l" indent="0" marL="0">
              <a:buNone/>
            </a:pPr>
            <a:r>
              <a:rPr lang="en-US" sz="1400" dirty="0">
                <a:solidFill>
                  <a:schemeClr val="tx1"/>
                </a:solidFill>
              </a:rPr>
              <a:t>Scheduler, retry, skip, dead-letter, admin API and end of day are live. Nine of the 36 job bodies call lending-service; the other 27 are stubs.</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flow: the loan lifecycle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Six stages from approved credit to a closed account, with the system action and API behind each</a:t>
            </a:r>
            <a:endParaRPr lang="en-US" sz="1400" dirty="0"/>
          </a:p>
        </p:txBody>
      </p:sp>
      <p:sp>
        <p:nvSpPr>
          <p:cNvPr id="5" name="Text 2"/>
          <p:cNvSpPr txBox="1"/>
          <p:nvPr/>
        </p:nvSpPr>
        <p:spPr>
          <a:xfrm>
            <a:off x="548640" y="1508760"/>
            <a:ext cx="1828800" cy="822960"/>
          </a:xfrm>
          <a:prstGeom prst="homePlate">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Sanction and onboard</a:t>
            </a:r>
            <a:endParaRPr lang="en-US" sz="1200" dirty="0"/>
          </a:p>
        </p:txBody>
      </p:sp>
      <p:sp>
        <p:nvSpPr>
          <p:cNvPr id="6" name="Text 3"/>
          <p:cNvSpPr txBox="1"/>
          <p:nvPr/>
        </p:nvSpPr>
        <p:spPr>
          <a:xfrm>
            <a:off x="5760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7" name="Text 4"/>
          <p:cNvSpPr txBox="1"/>
          <p:nvPr/>
        </p:nvSpPr>
        <p:spPr>
          <a:xfrm>
            <a:off x="6583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8" name="Text 5"/>
          <p:cNvSpPr txBox="1"/>
          <p:nvPr/>
        </p:nvSpPr>
        <p:spPr>
          <a:xfrm>
            <a:off x="6583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Credit approved and terms agreed</a:t>
            </a:r>
            <a:endParaRPr lang="en-US" sz="1200" dirty="0"/>
          </a:p>
        </p:txBody>
      </p:sp>
      <p:sp>
        <p:nvSpPr>
          <p:cNvPr id="9" name="Text 6"/>
          <p:cNvSpPr txBox="1"/>
          <p:nvPr/>
        </p:nvSpPr>
        <p:spPr>
          <a:xfrm>
            <a:off x="6583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0" name="Text 7"/>
          <p:cNvSpPr txBox="1"/>
          <p:nvPr/>
        </p:nvSpPr>
        <p:spPr>
          <a:xfrm>
            <a:off x="6583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created and awaiting disbursement; unique account number</a:t>
            </a:r>
            <a:endParaRPr lang="en-US" sz="1200" dirty="0"/>
          </a:p>
        </p:txBody>
      </p:sp>
      <p:sp>
        <p:nvSpPr>
          <p:cNvPr id="11" name="Text 8"/>
          <p:cNvSpPr txBox="1"/>
          <p:nvPr/>
        </p:nvSpPr>
        <p:spPr>
          <a:xfrm>
            <a:off x="6583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12" name="Text 9"/>
          <p:cNvSpPr txBox="1"/>
          <p:nvPr/>
        </p:nvSpPr>
        <p:spPr>
          <a:xfrm>
            <a:off x="6583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/loan-accounts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/bulk/create</a:t>
            </a:r>
            <a:endParaRPr lang="en-US" sz="1000" dirty="0"/>
          </a:p>
        </p:txBody>
      </p:sp>
      <p:sp>
        <p:nvSpPr>
          <p:cNvPr id="13" name="Text 10"/>
          <p:cNvSpPr txBox="1"/>
          <p:nvPr/>
        </p:nvSpPr>
        <p:spPr>
          <a:xfrm>
            <a:off x="242316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Secure</a:t>
            </a:r>
            <a:endParaRPr lang="en-US" sz="1200" dirty="0"/>
          </a:p>
        </p:txBody>
      </p:sp>
      <p:sp>
        <p:nvSpPr>
          <p:cNvPr id="14" name="Text 11"/>
          <p:cNvSpPr txBox="1"/>
          <p:nvPr/>
        </p:nvSpPr>
        <p:spPr>
          <a:xfrm>
            <a:off x="245059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5" name="Text 12"/>
          <p:cNvSpPr txBox="1"/>
          <p:nvPr/>
        </p:nvSpPr>
        <p:spPr>
          <a:xfrm>
            <a:off x="253288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16" name="Text 13"/>
          <p:cNvSpPr txBox="1"/>
          <p:nvPr/>
        </p:nvSpPr>
        <p:spPr>
          <a:xfrm>
            <a:off x="253288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Property valued and charge registered (mortgage only)</a:t>
            </a:r>
            <a:endParaRPr lang="en-US" sz="1200" dirty="0"/>
          </a:p>
        </p:txBody>
      </p:sp>
      <p:sp>
        <p:nvSpPr>
          <p:cNvPr id="17" name="Text 14"/>
          <p:cNvSpPr txBox="1"/>
          <p:nvPr/>
        </p:nvSpPr>
        <p:spPr>
          <a:xfrm>
            <a:off x="253288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8" name="Text 15"/>
          <p:cNvSpPr txBox="1"/>
          <p:nvPr/>
        </p:nvSpPr>
        <p:spPr>
          <a:xfrm>
            <a:off x="253288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LTV computed; CERSAI and deed refs stored; revaluation tracked</a:t>
            </a:r>
            <a:endParaRPr lang="en-US" sz="1200" dirty="0"/>
          </a:p>
        </p:txBody>
      </p:sp>
      <p:sp>
        <p:nvSpPr>
          <p:cNvPr id="19" name="Text 16"/>
          <p:cNvSpPr txBox="1"/>
          <p:nvPr/>
        </p:nvSpPr>
        <p:spPr>
          <a:xfrm>
            <a:off x="253288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0" name="Text 17"/>
          <p:cNvSpPr txBox="1"/>
          <p:nvPr/>
        </p:nvSpPr>
        <p:spPr>
          <a:xfrm>
            <a:off x="253288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/mortgages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/{id}/charge</a:t>
            </a:r>
            <a:endParaRPr lang="en-US" sz="1000" dirty="0"/>
          </a:p>
        </p:txBody>
      </p:sp>
      <p:sp>
        <p:nvSpPr>
          <p:cNvPr id="21" name="Text 18"/>
          <p:cNvSpPr txBox="1"/>
          <p:nvPr/>
        </p:nvSpPr>
        <p:spPr>
          <a:xfrm>
            <a:off x="4297680" y="1508760"/>
            <a:ext cx="1828800" cy="822960"/>
          </a:xfrm>
          <a:prstGeom prst="chevron">
            <a:avLst/>
          </a:prstGeom>
          <a:solidFill>
            <a:schemeClr val="accent2"/>
          </a:solidFill>
          <a:ln/>
        </p:spPr>
        <p:txBody>
          <a:bodyPr wrap="square" lIns="177800" tIns="177800" rIns="177800" bIns="177800" rtlCol="0" anchor="ctr"/>
          <a:lstStyle/>
          <a:p>
            <a:pPr algn="ctr" indent="0" marL="0">
              <a:buNone/>
            </a:pPr>
            <a:r>
              <a:rPr lang="en-US" sz="1200" b="1" dirty="0">
                <a:solidFill>
                  <a:schemeClr val="tx1"/>
                </a:solidFill>
              </a:rPr>
              <a:t>Disburse</a:t>
            </a:r>
            <a:endParaRPr lang="en-US" sz="1200" dirty="0"/>
          </a:p>
        </p:txBody>
      </p:sp>
      <p:sp>
        <p:nvSpPr>
          <p:cNvPr id="22" name="Text 19"/>
          <p:cNvSpPr txBox="1"/>
          <p:nvPr/>
        </p:nvSpPr>
        <p:spPr>
          <a:xfrm>
            <a:off x="432511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3" name="Text 20"/>
          <p:cNvSpPr txBox="1"/>
          <p:nvPr/>
        </p:nvSpPr>
        <p:spPr>
          <a:xfrm>
            <a:off x="440740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24" name="Text 21"/>
          <p:cNvSpPr txBox="1"/>
          <p:nvPr/>
        </p:nvSpPr>
        <p:spPr>
          <a:xfrm>
            <a:off x="440740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Funds released; first EMI date fixed</a:t>
            </a:r>
            <a:endParaRPr lang="en-US" sz="1200" dirty="0"/>
          </a:p>
        </p:txBody>
      </p:sp>
      <p:sp>
        <p:nvSpPr>
          <p:cNvPr id="25" name="Text 22"/>
          <p:cNvSpPr txBox="1"/>
          <p:nvPr/>
        </p:nvSpPr>
        <p:spPr>
          <a:xfrm>
            <a:off x="440740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26" name="Text 23"/>
          <p:cNvSpPr txBox="1"/>
          <p:nvPr/>
        </p:nvSpPr>
        <p:spPr>
          <a:xfrm>
            <a:off x="440740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ACTIVE; schedule v1; ledger event queued</a:t>
            </a:r>
            <a:endParaRPr lang="en-US" sz="1200" dirty="0"/>
          </a:p>
        </p:txBody>
      </p:sp>
      <p:sp>
        <p:nvSpPr>
          <p:cNvPr id="27" name="Text 24"/>
          <p:cNvSpPr txBox="1"/>
          <p:nvPr/>
        </p:nvSpPr>
        <p:spPr>
          <a:xfrm>
            <a:off x="440740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8" name="Text 25"/>
          <p:cNvSpPr txBox="1"/>
          <p:nvPr/>
        </p:nvSpPr>
        <p:spPr>
          <a:xfrm>
            <a:off x="440740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/{id}/disburse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/bulk/disburse</a:t>
            </a:r>
            <a:endParaRPr lang="en-US" sz="1000" dirty="0"/>
          </a:p>
        </p:txBody>
      </p:sp>
      <p:sp>
        <p:nvSpPr>
          <p:cNvPr id="29" name="Text 26"/>
          <p:cNvSpPr txBox="1"/>
          <p:nvPr/>
        </p:nvSpPr>
        <p:spPr>
          <a:xfrm>
            <a:off x="617220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Repay and accrue</a:t>
            </a:r>
            <a:endParaRPr lang="en-US" sz="1200" dirty="0"/>
          </a:p>
        </p:txBody>
      </p:sp>
      <p:sp>
        <p:nvSpPr>
          <p:cNvPr id="30" name="Text 27"/>
          <p:cNvSpPr txBox="1"/>
          <p:nvPr/>
        </p:nvSpPr>
        <p:spPr>
          <a:xfrm>
            <a:off x="619963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628192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32" name="Text 29"/>
          <p:cNvSpPr txBox="1"/>
          <p:nvPr/>
        </p:nvSpPr>
        <p:spPr>
          <a:xfrm>
            <a:off x="628192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Customer pays EMIs, may part-pay; floating rates reset</a:t>
            </a:r>
            <a:endParaRPr lang="en-US" sz="1200" dirty="0"/>
          </a:p>
        </p:txBody>
      </p:sp>
      <p:sp>
        <p:nvSpPr>
          <p:cNvPr id="33" name="Text 30"/>
          <p:cNvSpPr txBox="1"/>
          <p:nvPr/>
        </p:nvSpPr>
        <p:spPr>
          <a:xfrm>
            <a:off x="628192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34" name="Text 31"/>
          <p:cNvSpPr txBox="1"/>
          <p:nvPr/>
        </p:nvSpPr>
        <p:spPr>
          <a:xfrm>
            <a:off x="628192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Instalments PAID; daily interest accrued; schedule re-versioned</a:t>
            </a:r>
            <a:endParaRPr lang="en-US" sz="1200" dirty="0"/>
          </a:p>
        </p:txBody>
      </p:sp>
      <p:sp>
        <p:nvSpPr>
          <p:cNvPr id="35" name="Text 32"/>
          <p:cNvSpPr txBox="1"/>
          <p:nvPr/>
        </p:nvSpPr>
        <p:spPr>
          <a:xfrm>
            <a:off x="628192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36" name="Text 33"/>
          <p:cNvSpPr txBox="1"/>
          <p:nvPr/>
        </p:nvSpPr>
        <p:spPr>
          <a:xfrm>
            <a:off x="628192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/payments/emi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/part-payment</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/rate-resets</a:t>
            </a:r>
            <a:endParaRPr lang="en-US" sz="1000" dirty="0"/>
          </a:p>
        </p:txBody>
      </p:sp>
      <p:sp>
        <p:nvSpPr>
          <p:cNvPr id="37" name="Text 34"/>
          <p:cNvSpPr txBox="1"/>
          <p:nvPr/>
        </p:nvSpPr>
        <p:spPr>
          <a:xfrm>
            <a:off x="804672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Monitor and recover</a:t>
            </a:r>
            <a:endParaRPr lang="en-US" sz="1200" dirty="0"/>
          </a:p>
        </p:txBody>
      </p:sp>
      <p:sp>
        <p:nvSpPr>
          <p:cNvPr id="38" name="Text 35"/>
          <p:cNvSpPr txBox="1"/>
          <p:nvPr/>
        </p:nvSpPr>
        <p:spPr>
          <a:xfrm>
            <a:off x="807415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9" name="Text 36"/>
          <p:cNvSpPr txBox="1"/>
          <p:nvPr/>
        </p:nvSpPr>
        <p:spPr>
          <a:xfrm>
            <a:off x="815644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0" name="Text 37"/>
          <p:cNvSpPr txBox="1"/>
          <p:nvPr/>
        </p:nvSpPr>
        <p:spPr>
          <a:xfrm>
            <a:off x="815644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Missed EMI ages into DPD and NPA buckets</a:t>
            </a:r>
            <a:endParaRPr lang="en-US" sz="1200" dirty="0"/>
          </a:p>
        </p:txBody>
      </p:sp>
      <p:sp>
        <p:nvSpPr>
          <p:cNvPr id="41" name="Text 38"/>
          <p:cNvSpPr txBox="1"/>
          <p:nvPr/>
        </p:nvSpPr>
        <p:spPr>
          <a:xfrm>
            <a:off x="815644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42" name="Text 39"/>
          <p:cNvSpPr txBox="1"/>
          <p:nvPr/>
        </p:nvSpPr>
        <p:spPr>
          <a:xfrm>
            <a:off x="815644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Overdue instalments flagged; status SMA0 to LOSS</a:t>
            </a:r>
            <a:endParaRPr lang="en-US" sz="1200" dirty="0"/>
          </a:p>
        </p:txBody>
      </p:sp>
      <p:sp>
        <p:nvSpPr>
          <p:cNvPr id="43" name="Text 40"/>
          <p:cNvSpPr txBox="1"/>
          <p:nvPr/>
        </p:nvSpPr>
        <p:spPr>
          <a:xfrm>
            <a:off x="815644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44" name="Text 41"/>
          <p:cNvSpPr txBox="1"/>
          <p:nvPr/>
        </p:nvSpPr>
        <p:spPr>
          <a:xfrm>
            <a:off x="815644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/delinquency-</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classifications</a:t>
            </a:r>
            <a:endParaRPr lang="en-US" sz="1000" dirty="0"/>
          </a:p>
        </p:txBody>
      </p:sp>
      <p:sp>
        <p:nvSpPr>
          <p:cNvPr id="45" name="Text 42"/>
          <p:cNvSpPr txBox="1"/>
          <p:nvPr/>
        </p:nvSpPr>
        <p:spPr>
          <a:xfrm>
            <a:off x="992124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Close</a:t>
            </a:r>
            <a:endParaRPr lang="en-US" sz="1200" dirty="0"/>
          </a:p>
        </p:txBody>
      </p:sp>
      <p:sp>
        <p:nvSpPr>
          <p:cNvPr id="46" name="Text 43"/>
          <p:cNvSpPr txBox="1"/>
          <p:nvPr/>
        </p:nvSpPr>
        <p:spPr>
          <a:xfrm>
            <a:off x="99486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47" name="Text 44"/>
          <p:cNvSpPr txBox="1"/>
          <p:nvPr/>
        </p:nvSpPr>
        <p:spPr>
          <a:xfrm>
            <a:off x="100309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8" name="Text 45"/>
          <p:cNvSpPr txBox="1"/>
          <p:nvPr/>
        </p:nvSpPr>
        <p:spPr>
          <a:xfrm>
            <a:off x="100309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Final EMI, early payoff or write-off</a:t>
            </a:r>
            <a:endParaRPr lang="en-US" sz="1200" dirty="0"/>
          </a:p>
        </p:txBody>
      </p:sp>
      <p:sp>
        <p:nvSpPr>
          <p:cNvPr id="49" name="Text 46"/>
          <p:cNvSpPr txBox="1"/>
          <p:nvPr/>
        </p:nvSpPr>
        <p:spPr>
          <a:xfrm>
            <a:off x="100309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50" name="Text 47"/>
          <p:cNvSpPr txBox="1"/>
          <p:nvPr/>
        </p:nvSpPr>
        <p:spPr>
          <a:xfrm>
            <a:off x="100309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CLOSED or FORECLOSED; statement available</a:t>
            </a:r>
            <a:endParaRPr lang="en-US" sz="1200" dirty="0"/>
          </a:p>
        </p:txBody>
      </p:sp>
      <p:sp>
        <p:nvSpPr>
          <p:cNvPr id="51" name="Text 48"/>
          <p:cNvSpPr txBox="1"/>
          <p:nvPr/>
        </p:nvSpPr>
        <p:spPr>
          <a:xfrm>
            <a:off x="100309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52" name="Text 49"/>
          <p:cNvSpPr txBox="1"/>
          <p:nvPr/>
        </p:nvSpPr>
        <p:spPr>
          <a:xfrm>
            <a:off x="100309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/payments/foreclosure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/{id}/statement</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Account status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Delinquency moves an account down the ladder; clearing dues brings it back to ACTIVE</a:t>
            </a:r>
            <a:endParaRPr lang="en-US" sz="1400" dirty="0"/>
          </a:p>
        </p:txBody>
      </p:sp>
      <p:sp>
        <p:nvSpPr>
          <p:cNvPr id="5" name="Text 2"/>
          <p:cNvSpPr txBox="1"/>
          <p:nvPr/>
        </p:nvSpPr>
        <p:spPr>
          <a:xfrm>
            <a:off x="548640" y="1691640"/>
            <a:ext cx="246888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b="1" dirty="0">
                <a:solidFill>
                  <a:schemeClr val="bg1"/>
                </a:solidFill>
              </a:rPr>
              <a:t>PENDING_DISBURSEMENT</a:t>
            </a:r>
            <a:endParaRPr lang="en-US" sz="1200" dirty="0"/>
          </a:p>
        </p:txBody>
      </p:sp>
      <p:sp>
        <p:nvSpPr>
          <p:cNvPr id="6" name="Text 3"/>
          <p:cNvSpPr txBox="1"/>
          <p:nvPr/>
        </p:nvSpPr>
        <p:spPr>
          <a:xfrm>
            <a:off x="3931920" y="1691640"/>
            <a:ext cx="2103120" cy="731520"/>
          </a:xfrm>
          <a:prstGeom prst="roundRect">
            <a:avLst>
              <a:gd name="adj" fmla="val 10000"/>
            </a:avLst>
          </a:prstGeom>
          <a:solidFill>
            <a:schemeClr val="accent5"/>
          </a:solidFill>
          <a:ln w="12700">
            <a:solidFill>
              <a:schemeClr val="accent5"/>
            </a:solidFill>
          </a:ln>
        </p:spPr>
        <p:txBody>
          <a:bodyPr wrap="square" lIns="50800" tIns="50800" rIns="50800" bIns="50800" rtlCol="0" anchor="ctr"/>
          <a:lstStyle/>
          <a:p>
            <a:pPr algn="ctr" indent="0" marL="0">
              <a:buNone/>
            </a:pPr>
            <a:r>
              <a:rPr lang="en-US" sz="1400" b="1" dirty="0">
                <a:solidFill>
                  <a:schemeClr val="bg1"/>
                </a:solidFill>
              </a:rPr>
              <a:t>ACTIVE</a:t>
            </a:r>
            <a:endParaRPr lang="en-US" sz="1400" dirty="0"/>
          </a:p>
        </p:txBody>
      </p:sp>
      <p:sp>
        <p:nvSpPr>
          <p:cNvPr id="7" name="Text 4"/>
          <p:cNvSpPr txBox="1"/>
          <p:nvPr/>
        </p:nvSpPr>
        <p:spPr>
          <a:xfrm>
            <a:off x="7589520" y="169164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CLOSED</a:t>
            </a:r>
            <a:endParaRPr lang="en-US" sz="1300" dirty="0"/>
          </a:p>
        </p:txBody>
      </p:sp>
      <p:sp>
        <p:nvSpPr>
          <p:cNvPr id="8" name="Text 5"/>
          <p:cNvSpPr txBox="1"/>
          <p:nvPr/>
        </p:nvSpPr>
        <p:spPr>
          <a:xfrm>
            <a:off x="7589520" y="274320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FORECLOSED</a:t>
            </a:r>
            <a:endParaRPr lang="en-US" sz="1300" dirty="0"/>
          </a:p>
        </p:txBody>
      </p:sp>
      <p:sp>
        <p:nvSpPr>
          <p:cNvPr id="9" name="Shape 6"/>
          <p:cNvSpPr/>
          <p:nvPr/>
        </p:nvSpPr>
        <p:spPr>
          <a:xfrm>
            <a:off x="3017520" y="2057400"/>
            <a:ext cx="914400" cy="0"/>
          </a:xfrm>
          <a:prstGeom prst="line">
            <a:avLst/>
          </a:prstGeom>
          <a:noFill/>
          <a:ln w="22225">
            <a:solidFill>
              <a:schemeClr val="tx2"/>
            </a:solidFill>
            <a:prstDash val="solid"/>
            <a:tailEnd type="triangle"/>
          </a:ln>
        </p:spPr>
      </p:sp>
      <p:sp>
        <p:nvSpPr>
          <p:cNvPr id="10" name="Text 7"/>
          <p:cNvSpPr txBox="1"/>
          <p:nvPr/>
        </p:nvSpPr>
        <p:spPr>
          <a:xfrm>
            <a:off x="3017520" y="178308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disburse</a:t>
            </a:r>
            <a:endParaRPr lang="en-US" sz="1000" dirty="0"/>
          </a:p>
        </p:txBody>
      </p:sp>
      <p:sp>
        <p:nvSpPr>
          <p:cNvPr id="11" name="Shape 8"/>
          <p:cNvSpPr/>
          <p:nvPr/>
        </p:nvSpPr>
        <p:spPr>
          <a:xfrm>
            <a:off x="6035040" y="2057400"/>
            <a:ext cx="1554480" cy="0"/>
          </a:xfrm>
          <a:prstGeom prst="line">
            <a:avLst/>
          </a:prstGeom>
          <a:noFill/>
          <a:ln w="22225">
            <a:solidFill>
              <a:schemeClr val="tx2"/>
            </a:solidFill>
            <a:prstDash val="solid"/>
            <a:tailEnd type="triangle"/>
          </a:ln>
        </p:spPr>
      </p:sp>
      <p:sp>
        <p:nvSpPr>
          <p:cNvPr id="12" name="Text 9"/>
          <p:cNvSpPr txBox="1"/>
          <p:nvPr/>
        </p:nvSpPr>
        <p:spPr>
          <a:xfrm>
            <a:off x="6080760" y="1417320"/>
            <a:ext cx="1463040" cy="502920"/>
          </a:xfrm>
          <a:prstGeom prst="rect">
            <a:avLst/>
          </a:prstGeom>
          <a:noFill/>
          <a:ln/>
        </p:spPr>
        <p:txBody>
          <a:bodyPr wrap="square" lIns="0" tIns="0" rIns="0" bIns="0" rtlCol="0" anchor="ctr"/>
          <a:lstStyle/>
          <a:p>
            <a:pPr algn="ctr" indent="0" marL="0">
              <a:buNone/>
            </a:pPr>
            <a:r>
              <a:rPr lang="en-US" sz="1000" i="1" dirty="0">
                <a:solidFill>
                  <a:schemeClr val="accent4"/>
                </a:solidFill>
              </a:rPr>
              <a:t>last EMI paid or balance cleared</a:t>
            </a:r>
            <a:endParaRPr lang="en-US" sz="1000" dirty="0"/>
          </a:p>
        </p:txBody>
      </p:sp>
      <p:sp>
        <p:nvSpPr>
          <p:cNvPr id="13" name="Shape 10"/>
          <p:cNvSpPr/>
          <p:nvPr/>
        </p:nvSpPr>
        <p:spPr>
          <a:xfrm>
            <a:off x="6035040" y="2331720"/>
            <a:ext cx="1554480" cy="777240"/>
          </a:xfrm>
          <a:prstGeom prst="line">
            <a:avLst/>
          </a:prstGeom>
          <a:noFill/>
          <a:ln w="22225">
            <a:solidFill>
              <a:schemeClr val="tx2"/>
            </a:solidFill>
            <a:prstDash val="solid"/>
            <a:tailEnd type="triangle"/>
          </a:ln>
        </p:spPr>
      </p:sp>
      <p:sp>
        <p:nvSpPr>
          <p:cNvPr id="14" name="Text 11"/>
          <p:cNvSpPr txBox="1"/>
          <p:nvPr/>
        </p:nvSpPr>
        <p:spPr>
          <a:xfrm>
            <a:off x="6355080" y="2971800"/>
            <a:ext cx="1188720" cy="228600"/>
          </a:xfrm>
          <a:prstGeom prst="rect">
            <a:avLst/>
          </a:prstGeom>
          <a:noFill/>
          <a:ln/>
        </p:spPr>
        <p:txBody>
          <a:bodyPr wrap="square" lIns="0" tIns="0" rIns="0" bIns="0" rtlCol="0" anchor="ctr"/>
          <a:lstStyle/>
          <a:p>
            <a:pPr algn="ctr" indent="0" marL="0">
              <a:buNone/>
            </a:pPr>
            <a:r>
              <a:rPr lang="en-US" sz="1000" i="1" dirty="0">
                <a:solidFill>
                  <a:schemeClr val="accent4"/>
                </a:solidFill>
              </a:rPr>
              <a:t>foreclosure payoff</a:t>
            </a:r>
            <a:endParaRPr lang="en-US" sz="1000" dirty="0"/>
          </a:p>
        </p:txBody>
      </p:sp>
      <p:sp>
        <p:nvSpPr>
          <p:cNvPr id="15" name="Text 12"/>
          <p:cNvSpPr txBox="1"/>
          <p:nvPr/>
        </p:nvSpPr>
        <p:spPr>
          <a:xfrm>
            <a:off x="5486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SMA0</a:t>
            </a:r>
            <a:endParaRPr lang="en-US" sz="1200" dirty="0"/>
          </a:p>
          <a:p>
            <a:pPr algn="ctr" indent="0" marL="0">
              <a:buNone/>
            </a:pPr>
            <a:r>
              <a:rPr lang="en-US" sz="1100" dirty="0">
                <a:solidFill>
                  <a:schemeClr val="tx1"/>
                </a:solidFill>
              </a:rPr>
              <a:t>1 to 30 days</a:t>
            </a:r>
            <a:endParaRPr lang="en-US" sz="1200" dirty="0"/>
          </a:p>
        </p:txBody>
      </p:sp>
      <p:sp>
        <p:nvSpPr>
          <p:cNvPr id="16" name="Shape 13"/>
          <p:cNvSpPr/>
          <p:nvPr/>
        </p:nvSpPr>
        <p:spPr>
          <a:xfrm>
            <a:off x="2011680" y="4343400"/>
            <a:ext cx="137160" cy="0"/>
          </a:xfrm>
          <a:prstGeom prst="line">
            <a:avLst/>
          </a:prstGeom>
          <a:noFill/>
          <a:ln w="15875">
            <a:solidFill>
              <a:schemeClr val="tx2"/>
            </a:solidFill>
            <a:prstDash val="solid"/>
            <a:tailEnd type="triangle"/>
          </a:ln>
        </p:spPr>
      </p:sp>
      <p:sp>
        <p:nvSpPr>
          <p:cNvPr id="17" name="Text 14"/>
          <p:cNvSpPr txBox="1"/>
          <p:nvPr/>
        </p:nvSpPr>
        <p:spPr>
          <a:xfrm>
            <a:off x="21488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SMA1</a:t>
            </a:r>
            <a:endParaRPr lang="en-US" sz="1200" dirty="0"/>
          </a:p>
          <a:p>
            <a:pPr algn="ctr" indent="0" marL="0">
              <a:buNone/>
            </a:pPr>
            <a:r>
              <a:rPr lang="en-US" sz="1100" dirty="0">
                <a:solidFill>
                  <a:schemeClr val="tx1"/>
                </a:solidFill>
              </a:rPr>
              <a:t>31 to 60</a:t>
            </a:r>
            <a:endParaRPr lang="en-US" sz="1200" dirty="0"/>
          </a:p>
        </p:txBody>
      </p:sp>
      <p:sp>
        <p:nvSpPr>
          <p:cNvPr id="18" name="Shape 15"/>
          <p:cNvSpPr/>
          <p:nvPr/>
        </p:nvSpPr>
        <p:spPr>
          <a:xfrm>
            <a:off x="3611880" y="4343400"/>
            <a:ext cx="137160" cy="0"/>
          </a:xfrm>
          <a:prstGeom prst="line">
            <a:avLst/>
          </a:prstGeom>
          <a:noFill/>
          <a:ln w="15875">
            <a:solidFill>
              <a:schemeClr val="tx2"/>
            </a:solidFill>
            <a:prstDash val="solid"/>
            <a:tailEnd type="triangle"/>
          </a:ln>
        </p:spPr>
      </p:sp>
      <p:sp>
        <p:nvSpPr>
          <p:cNvPr id="19" name="Text 16"/>
          <p:cNvSpPr txBox="1"/>
          <p:nvPr/>
        </p:nvSpPr>
        <p:spPr>
          <a:xfrm>
            <a:off x="37490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SMA2</a:t>
            </a:r>
            <a:endParaRPr lang="en-US" sz="1200" dirty="0"/>
          </a:p>
          <a:p>
            <a:pPr algn="ctr" indent="0" marL="0">
              <a:buNone/>
            </a:pPr>
            <a:r>
              <a:rPr lang="en-US" sz="1100" dirty="0">
                <a:solidFill>
                  <a:schemeClr val="tx1"/>
                </a:solidFill>
              </a:rPr>
              <a:t>61 to 90</a:t>
            </a:r>
            <a:endParaRPr lang="en-US" sz="1200" dirty="0"/>
          </a:p>
        </p:txBody>
      </p:sp>
      <p:sp>
        <p:nvSpPr>
          <p:cNvPr id="20" name="Shape 17"/>
          <p:cNvSpPr/>
          <p:nvPr/>
        </p:nvSpPr>
        <p:spPr>
          <a:xfrm>
            <a:off x="5212080" y="4343400"/>
            <a:ext cx="137160" cy="0"/>
          </a:xfrm>
          <a:prstGeom prst="line">
            <a:avLst/>
          </a:prstGeom>
          <a:noFill/>
          <a:ln w="15875">
            <a:solidFill>
              <a:schemeClr val="tx2"/>
            </a:solidFill>
            <a:prstDash val="solid"/>
            <a:tailEnd type="triangle"/>
          </a:ln>
        </p:spPr>
      </p:sp>
      <p:sp>
        <p:nvSpPr>
          <p:cNvPr id="21" name="Text 18"/>
          <p:cNvSpPr txBox="1"/>
          <p:nvPr/>
        </p:nvSpPr>
        <p:spPr>
          <a:xfrm>
            <a:off x="53492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SUBSTANDARD</a:t>
            </a:r>
            <a:endParaRPr lang="en-US" sz="1200" dirty="0"/>
          </a:p>
          <a:p>
            <a:pPr algn="ctr" indent="0" marL="0">
              <a:buNone/>
            </a:pPr>
            <a:r>
              <a:rPr lang="en-US" sz="1100" dirty="0">
                <a:solidFill>
                  <a:schemeClr val="bg1"/>
                </a:solidFill>
              </a:rPr>
              <a:t>91 to 365</a:t>
            </a:r>
            <a:endParaRPr lang="en-US" sz="1200" dirty="0"/>
          </a:p>
        </p:txBody>
      </p:sp>
      <p:sp>
        <p:nvSpPr>
          <p:cNvPr id="22" name="Shape 19"/>
          <p:cNvSpPr/>
          <p:nvPr/>
        </p:nvSpPr>
        <p:spPr>
          <a:xfrm>
            <a:off x="6812280" y="4343400"/>
            <a:ext cx="137160" cy="0"/>
          </a:xfrm>
          <a:prstGeom prst="line">
            <a:avLst/>
          </a:prstGeom>
          <a:noFill/>
          <a:ln w="15875">
            <a:solidFill>
              <a:schemeClr val="tx2"/>
            </a:solidFill>
            <a:prstDash val="solid"/>
            <a:tailEnd type="triangle"/>
          </a:ln>
        </p:spPr>
      </p:sp>
      <p:sp>
        <p:nvSpPr>
          <p:cNvPr id="23" name="Text 20"/>
          <p:cNvSpPr txBox="1"/>
          <p:nvPr/>
        </p:nvSpPr>
        <p:spPr>
          <a:xfrm>
            <a:off x="69494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DOUBTFUL</a:t>
            </a:r>
            <a:endParaRPr lang="en-US" sz="1200" dirty="0"/>
          </a:p>
          <a:p>
            <a:pPr algn="ctr" indent="0" marL="0">
              <a:buNone/>
            </a:pPr>
            <a:r>
              <a:rPr lang="en-US" sz="1100" dirty="0">
                <a:solidFill>
                  <a:schemeClr val="bg1"/>
                </a:solidFill>
              </a:rPr>
              <a:t>366 to 1095</a:t>
            </a:r>
            <a:endParaRPr lang="en-US" sz="1200" dirty="0"/>
          </a:p>
        </p:txBody>
      </p:sp>
      <p:sp>
        <p:nvSpPr>
          <p:cNvPr id="24" name="Shape 21"/>
          <p:cNvSpPr/>
          <p:nvPr/>
        </p:nvSpPr>
        <p:spPr>
          <a:xfrm>
            <a:off x="8412480" y="4343400"/>
            <a:ext cx="137160" cy="0"/>
          </a:xfrm>
          <a:prstGeom prst="line">
            <a:avLst/>
          </a:prstGeom>
          <a:noFill/>
          <a:ln w="15875">
            <a:solidFill>
              <a:schemeClr val="tx2"/>
            </a:solidFill>
            <a:prstDash val="solid"/>
            <a:tailEnd type="triangle"/>
          </a:ln>
        </p:spPr>
      </p:sp>
      <p:sp>
        <p:nvSpPr>
          <p:cNvPr id="25" name="Text 22"/>
          <p:cNvSpPr txBox="1"/>
          <p:nvPr/>
        </p:nvSpPr>
        <p:spPr>
          <a:xfrm>
            <a:off x="85496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LOSS</a:t>
            </a:r>
            <a:endParaRPr lang="en-US" sz="1200" dirty="0"/>
          </a:p>
          <a:p>
            <a:pPr algn="ctr" indent="0" marL="0">
              <a:buNone/>
            </a:pPr>
            <a:r>
              <a:rPr lang="en-US" sz="1100" dirty="0">
                <a:solidFill>
                  <a:schemeClr val="bg1"/>
                </a:solidFill>
              </a:rPr>
              <a:t>over 1095</a:t>
            </a:r>
            <a:endParaRPr lang="en-US" sz="1200" dirty="0"/>
          </a:p>
        </p:txBody>
      </p:sp>
      <p:sp>
        <p:nvSpPr>
          <p:cNvPr id="26" name="Shape 23"/>
          <p:cNvSpPr/>
          <p:nvPr/>
        </p:nvSpPr>
        <p:spPr>
          <a:xfrm>
            <a:off x="10012680" y="4343400"/>
            <a:ext cx="137160" cy="0"/>
          </a:xfrm>
          <a:prstGeom prst="line">
            <a:avLst/>
          </a:prstGeom>
          <a:noFill/>
          <a:ln w="15875">
            <a:solidFill>
              <a:schemeClr val="tx2"/>
            </a:solidFill>
            <a:prstDash val="solid"/>
            <a:tailEnd type="triangle"/>
          </a:ln>
        </p:spPr>
      </p:sp>
      <p:sp>
        <p:nvSpPr>
          <p:cNvPr id="27" name="Text 24"/>
          <p:cNvSpPr txBox="1"/>
          <p:nvPr/>
        </p:nvSpPr>
        <p:spPr>
          <a:xfrm>
            <a:off x="10149840" y="3931920"/>
            <a:ext cx="1463040" cy="822960"/>
          </a:xfrm>
          <a:prstGeom prst="roundRect">
            <a:avLst>
              <a:gd name="adj" fmla="val 8889"/>
            </a:avLst>
          </a:prstGeom>
          <a:solidFill>
            <a:schemeClr val="tx2"/>
          </a:solidFill>
          <a:ln w="12700">
            <a:solidFill>
              <a:schemeClr val="tx2"/>
            </a:solidFill>
          </a:ln>
        </p:spPr>
        <p:txBody>
          <a:bodyPr wrap="square" lIns="25400" tIns="25400" rIns="25400" bIns="25400" rtlCol="0" anchor="ctr"/>
          <a:lstStyle/>
          <a:p>
            <a:pPr algn="ctr" indent="0" marL="0">
              <a:buNone/>
            </a:pPr>
            <a:r>
              <a:rPr lang="en-US" sz="1100" b="1" dirty="0">
                <a:solidFill>
                  <a:schemeClr val="bg1"/>
                </a:solidFill>
              </a:rPr>
              <a:t>WRITTEN_OFF</a:t>
            </a:r>
            <a:endParaRPr lang="en-US" sz="1200" dirty="0"/>
          </a:p>
          <a:p>
            <a:pPr algn="ctr" indent="0" marL="0">
              <a:buNone/>
            </a:pPr>
            <a:r>
              <a:rPr lang="en-US" sz="1100" dirty="0">
                <a:solidFill>
                  <a:schemeClr val="bg1"/>
                </a:solidFill>
              </a:rPr>
              <a:t>not automated</a:t>
            </a:r>
            <a:endParaRPr lang="en-US" sz="1200" dirty="0"/>
          </a:p>
        </p:txBody>
      </p:sp>
      <p:sp>
        <p:nvSpPr>
          <p:cNvPr id="28" name="Shape 25"/>
          <p:cNvSpPr/>
          <p:nvPr/>
        </p:nvSpPr>
        <p:spPr>
          <a:xfrm flipH="1">
            <a:off x="1280160" y="2423160"/>
            <a:ext cx="3017520" cy="1508760"/>
          </a:xfrm>
          <a:prstGeom prst="line">
            <a:avLst/>
          </a:prstGeom>
          <a:noFill/>
          <a:ln w="22225">
            <a:solidFill>
              <a:schemeClr val="tx2"/>
            </a:solidFill>
            <a:prstDash val="solid"/>
            <a:tailEnd type="triangle"/>
          </a:ln>
        </p:spPr>
      </p:sp>
      <p:sp>
        <p:nvSpPr>
          <p:cNvPr id="29" name="Text 26"/>
          <p:cNvSpPr txBox="1"/>
          <p:nvPr/>
        </p:nvSpPr>
        <p:spPr>
          <a:xfrm>
            <a:off x="1371600" y="2971800"/>
            <a:ext cx="1097280" cy="228600"/>
          </a:xfrm>
          <a:prstGeom prst="rect">
            <a:avLst/>
          </a:prstGeom>
          <a:noFill/>
          <a:ln/>
        </p:spPr>
        <p:txBody>
          <a:bodyPr wrap="square" lIns="0" tIns="0" rIns="0" bIns="0" rtlCol="0" anchor="ctr"/>
          <a:lstStyle/>
          <a:p>
            <a:pPr algn="ctr" indent="0" marL="0">
              <a:buNone/>
            </a:pPr>
            <a:r>
              <a:rPr lang="en-US" sz="1000" i="1" dirty="0">
                <a:solidFill>
                  <a:schemeClr val="accent4"/>
                </a:solidFill>
              </a:rPr>
              <a:t>EMI missed</a:t>
            </a:r>
            <a:endParaRPr lang="en-US" sz="1000" dirty="0"/>
          </a:p>
        </p:txBody>
      </p:sp>
      <p:sp>
        <p:nvSpPr>
          <p:cNvPr id="30" name="Shape 27"/>
          <p:cNvSpPr/>
          <p:nvPr/>
        </p:nvSpPr>
        <p:spPr>
          <a:xfrm flipV="1">
            <a:off x="4663440" y="2423160"/>
            <a:ext cx="274320" cy="1508760"/>
          </a:xfrm>
          <a:prstGeom prst="line">
            <a:avLst/>
          </a:prstGeom>
          <a:noFill/>
          <a:ln w="22225">
            <a:solidFill>
              <a:schemeClr val="tx2"/>
            </a:solidFill>
            <a:prstDash val="dash"/>
            <a:tailEnd type="triangle"/>
          </a:ln>
        </p:spPr>
      </p:sp>
      <p:sp>
        <p:nvSpPr>
          <p:cNvPr id="31" name="Text 28"/>
          <p:cNvSpPr txBox="1"/>
          <p:nvPr/>
        </p:nvSpPr>
        <p:spPr>
          <a:xfrm>
            <a:off x="5029200" y="320040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all dues paid</a:t>
            </a:r>
            <a:endParaRPr lang="en-US" sz="1000" dirty="0"/>
          </a:p>
        </p:txBody>
      </p:sp>
      <p:sp>
        <p:nvSpPr>
          <p:cNvPr id="32" name="Text 29"/>
          <p:cNvSpPr txBox="1"/>
          <p:nvPr/>
        </p:nvSpPr>
        <p:spPr>
          <a:xfrm>
            <a:off x="6126480" y="3611880"/>
            <a:ext cx="5486400" cy="274320"/>
          </a:xfrm>
          <a:prstGeom prst="rect">
            <a:avLst/>
          </a:prstGeom>
          <a:noFill/>
          <a:ln/>
        </p:spPr>
        <p:txBody>
          <a:bodyPr wrap="square" lIns="0" tIns="0" rIns="0" bIns="0" rtlCol="0" anchor="t"/>
          <a:lstStyle/>
          <a:p>
            <a:pPr algn="r" indent="0" marL="0">
              <a:buNone/>
            </a:pPr>
            <a:r>
              <a:rPr lang="en-US" sz="1200" b="1" dirty="0">
                <a:solidFill>
                  <a:schemeClr val="accent4"/>
                </a:solidFill>
              </a:rPr>
              <a:t>Days past due on the oldest unpaid instalment</a:t>
            </a:r>
            <a:endParaRPr lang="en-US" sz="1200" dirty="0"/>
          </a:p>
        </p:txBody>
      </p:sp>
      <p:sp>
        <p:nvSpPr>
          <p:cNvPr id="33" name="Text 30"/>
          <p:cNvSpPr txBox="1"/>
          <p:nvPr/>
        </p:nvSpPr>
        <p:spPr>
          <a:xfrm>
            <a:off x="54864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How it runs</a:t>
            </a:r>
            <a:endParaRPr lang="en-US" sz="1200" dirty="0"/>
          </a:p>
          <a:p>
            <a:pPr algn="l" indent="0" marL="0">
              <a:buNone/>
            </a:pPr>
            <a:r>
              <a:rPr lang="en-US" sz="1200" dirty="0">
                <a:solidFill>
                  <a:schemeClr val="tx1"/>
                </a:solidFill>
              </a:rPr>
              <a:t>POST /loan-accounts/delinquency-classifications with an as-of date recomputes every tracked account and marks the oldest late instalment OVERDUE.</a:t>
            </a:r>
            <a:endParaRPr lang="en-US" sz="1200" dirty="0"/>
          </a:p>
        </p:txBody>
      </p:sp>
      <p:sp>
        <p:nvSpPr>
          <p:cNvPr id="34" name="Text 31"/>
          <p:cNvSpPr txBox="1"/>
          <p:nvPr/>
        </p:nvSpPr>
        <p:spPr>
          <a:xfrm>
            <a:off x="429768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Payments blocked in</a:t>
            </a:r>
            <a:endParaRPr lang="en-US" sz="1200" dirty="0"/>
          </a:p>
          <a:p>
            <a:pPr algn="l" indent="0" marL="0">
              <a:buNone/>
            </a:pPr>
            <a:r>
              <a:rPr lang="en-US" sz="1200" dirty="0">
                <a:solidFill>
                  <a:schemeClr val="tx1"/>
                </a:solidFill>
              </a:rPr>
              <a:t>PENDING_DISBURSEMENT, CLOSED, FORECLOSED and WRITTEN_OFF accounts reject EMI, part-payment and foreclosure postings.</a:t>
            </a:r>
            <a:endParaRPr lang="en-US" sz="1200" dirty="0"/>
          </a:p>
        </p:txBody>
      </p:sp>
      <p:sp>
        <p:nvSpPr>
          <p:cNvPr id="35" name="Text 32"/>
          <p:cNvSpPr txBox="1"/>
          <p:nvPr/>
        </p:nvSpPr>
        <p:spPr>
          <a:xfrm>
            <a:off x="804672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Customer view</a:t>
            </a:r>
            <a:endParaRPr lang="en-US" sz="1200" dirty="0"/>
          </a:p>
          <a:p>
            <a:pPr algn="l" indent="0" marL="0">
              <a:buNone/>
            </a:pPr>
            <a:r>
              <a:rPr lang="en-US" sz="1200" dirty="0">
                <a:solidFill>
                  <a:schemeClr val="tx1"/>
                </a:solidFill>
              </a:rPr>
              <a:t>The PDF statement shows plain wording, never NPA codes: for example "Payment overdue" instead of SMA1.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 separate 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lending-admin-service only reads the Lending database; the few edits go through the owning service's own API</a:t>
            </a:r>
            <a:endParaRPr lang="en-US" sz="1400" dirty="0"/>
          </a:p>
        </p:txBody>
      </p:sp>
      <p:sp>
        <p:nvSpPr>
          <p:cNvPr id="5" name="Text 2"/>
          <p:cNvSpPr txBox="1"/>
          <p:nvPr/>
        </p:nvSpPr>
        <p:spPr>
          <a:xfrm>
            <a:off x="548640" y="2011680"/>
            <a:ext cx="2011680" cy="914400"/>
          </a:xfrm>
          <a:prstGeom prst="roundRect">
            <a:avLst>
              <a:gd name="adj" fmla="val 8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Operations user</a:t>
            </a:r>
            <a:endParaRPr lang="en-US" sz="1200" dirty="0"/>
          </a:p>
          <a:p>
            <a:pPr algn="ctr" indent="0" marL="0">
              <a:buNone/>
            </a:pPr>
            <a:r>
              <a:rPr lang="en-US" sz="1200" dirty="0">
                <a:solidFill>
                  <a:schemeClr val="bg1"/>
                </a:solidFill>
              </a:rPr>
              <a:t>Browser</a:t>
            </a:r>
            <a:endParaRPr lang="en-US" sz="1200" dirty="0"/>
          </a:p>
        </p:txBody>
      </p:sp>
      <p:sp>
        <p:nvSpPr>
          <p:cNvPr id="6" name="Text 3"/>
          <p:cNvSpPr txBox="1"/>
          <p:nvPr/>
        </p:nvSpPr>
        <p:spPr>
          <a:xfrm>
            <a:off x="3291840" y="1828800"/>
            <a:ext cx="3108960" cy="1280160"/>
          </a:xfrm>
          <a:prstGeom prst="roundRect">
            <a:avLst>
              <a:gd name="adj" fmla="val 5714"/>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400" b="1" dirty="0">
                <a:solidFill>
                  <a:schemeClr val="bg1"/>
                </a:solidFill>
              </a:rPr>
              <a:t>lending-admin-service</a:t>
            </a:r>
            <a:endParaRPr lang="en-US" sz="1200" dirty="0"/>
          </a:p>
          <a:p>
            <a:pPr algn="ctr" indent="0" marL="0">
              <a:buNone/>
            </a:pPr>
            <a:r>
              <a:rPr lang="en-US" sz="1200" dirty="0">
                <a:solidFill>
                  <a:schemeClr val="bg1"/>
                </a:solidFill>
              </a:rPr>
              <a:t>React UI + Spring Boot API</a:t>
            </a:r>
            <a:endParaRPr lang="en-US" sz="1200" dirty="0"/>
          </a:p>
          <a:p>
            <a:pPr algn="ctr" indent="0" marL="0">
              <a:buNone/>
            </a:pPr>
            <a:r>
              <a:rPr lang="en-US" sz="1100" dirty="0">
                <a:solidFill>
                  <a:schemeClr val="bg1"/>
                </a:solidFill>
              </a:rPr>
              <a:t>port 8082  |  HTTP Basic login</a:t>
            </a:r>
            <a:endParaRPr lang="en-US" sz="1200" dirty="0"/>
          </a:p>
        </p:txBody>
      </p:sp>
      <p:sp>
        <p:nvSpPr>
          <p:cNvPr id="7" name="Text 4"/>
          <p:cNvSpPr txBox="1"/>
          <p:nvPr/>
        </p:nvSpPr>
        <p:spPr>
          <a:xfrm>
            <a:off x="7223760" y="1828800"/>
            <a:ext cx="2377440" cy="1280160"/>
          </a:xfrm>
          <a:prstGeom prst="roundRect">
            <a:avLst>
              <a:gd name="adj" fmla="val 5714"/>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400" b="1" dirty="0">
                <a:solidFill>
                  <a:schemeClr val="tx1"/>
                </a:solidFill>
              </a:rPr>
              <a:t>PostgreSQL "lending"</a:t>
            </a:r>
            <a:endParaRPr lang="en-US" sz="1200" dirty="0"/>
          </a:p>
          <a:p>
            <a:pPr algn="ctr" indent="0" marL="0">
              <a:buNone/>
            </a:pPr>
            <a:r>
              <a:rPr lang="en-US" sz="1200" dirty="0">
                <a:solidFill>
                  <a:schemeClr val="tx1"/>
                </a:solidFill>
              </a:rPr>
              <a:t>public + batch schemas</a:t>
            </a:r>
            <a:endParaRPr lang="en-US" sz="1200" dirty="0"/>
          </a:p>
        </p:txBody>
      </p:sp>
      <p:sp>
        <p:nvSpPr>
          <p:cNvPr id="8" name="Text 5"/>
          <p:cNvSpPr txBox="1"/>
          <p:nvPr/>
        </p:nvSpPr>
        <p:spPr>
          <a:xfrm>
            <a:off x="3291840" y="3749040"/>
            <a:ext cx="310896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lending-service</a:t>
            </a:r>
            <a:endParaRPr lang="en-US" sz="1200" dirty="0"/>
          </a:p>
          <a:p>
            <a:pPr algn="ctr" indent="0" marL="0">
              <a:buNone/>
            </a:pPr>
            <a:r>
              <a:rPr lang="en-US" sz="1200" dirty="0">
                <a:solidFill>
                  <a:schemeClr val="bg1"/>
                </a:solidFill>
              </a:rPr>
              <a:t>(statement PDF only)</a:t>
            </a:r>
            <a:endParaRPr lang="en-US" sz="1200" dirty="0"/>
          </a:p>
        </p:txBody>
      </p:sp>
      <p:sp>
        <p:nvSpPr>
          <p:cNvPr id="9" name="Shape 6"/>
          <p:cNvSpPr/>
          <p:nvPr/>
        </p:nvSpPr>
        <p:spPr>
          <a:xfrm>
            <a:off x="2560320" y="2468880"/>
            <a:ext cx="731520" cy="0"/>
          </a:xfrm>
          <a:prstGeom prst="line">
            <a:avLst/>
          </a:prstGeom>
          <a:noFill/>
          <a:ln w="22225">
            <a:solidFill>
              <a:schemeClr val="tx2"/>
            </a:solidFill>
            <a:prstDash val="solid"/>
            <a:tailEnd type="triangle"/>
          </a:ln>
        </p:spPr>
      </p:sp>
      <p:sp>
        <p:nvSpPr>
          <p:cNvPr id="10" name="Text 7"/>
          <p:cNvSpPr txBox="1"/>
          <p:nvPr/>
        </p:nvSpPr>
        <p:spPr>
          <a:xfrm>
            <a:off x="2560320" y="2194560"/>
            <a:ext cx="731520" cy="228600"/>
          </a:xfrm>
          <a:prstGeom prst="rect">
            <a:avLst/>
          </a:prstGeom>
          <a:noFill/>
          <a:ln/>
        </p:spPr>
        <p:txBody>
          <a:bodyPr wrap="square" lIns="0" tIns="0" rIns="0" bIns="0" rtlCol="0" anchor="ctr"/>
          <a:lstStyle/>
          <a:p>
            <a:pPr algn="ctr" indent="0" marL="0">
              <a:buNone/>
            </a:pPr>
            <a:r>
              <a:rPr lang="en-US" sz="1000" i="1" dirty="0">
                <a:solidFill>
                  <a:schemeClr val="accent4"/>
                </a:solidFill>
              </a:rPr>
              <a:t>HTTPS</a:t>
            </a:r>
            <a:endParaRPr lang="en-US" sz="1000" dirty="0"/>
          </a:p>
        </p:txBody>
      </p:sp>
      <p:sp>
        <p:nvSpPr>
          <p:cNvPr id="11" name="Shape 8"/>
          <p:cNvSpPr/>
          <p:nvPr/>
        </p:nvSpPr>
        <p:spPr>
          <a:xfrm>
            <a:off x="6400800" y="2468880"/>
            <a:ext cx="822960" cy="0"/>
          </a:xfrm>
          <a:prstGeom prst="line">
            <a:avLst/>
          </a:prstGeom>
          <a:noFill/>
          <a:ln w="22225">
            <a:solidFill>
              <a:schemeClr val="tx2"/>
            </a:solidFill>
            <a:prstDash val="solid"/>
            <a:tailEnd type="triangle"/>
          </a:ln>
        </p:spPr>
      </p:sp>
      <p:sp>
        <p:nvSpPr>
          <p:cNvPr id="12" name="Text 9"/>
          <p:cNvSpPr txBox="1"/>
          <p:nvPr/>
        </p:nvSpPr>
        <p:spPr>
          <a:xfrm>
            <a:off x="6355080" y="219456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SELECT only</a:t>
            </a:r>
            <a:endParaRPr lang="en-US" sz="1000" dirty="0"/>
          </a:p>
        </p:txBody>
      </p:sp>
      <p:sp>
        <p:nvSpPr>
          <p:cNvPr id="13" name="Shape 10"/>
          <p:cNvSpPr/>
          <p:nvPr/>
        </p:nvSpPr>
        <p:spPr>
          <a:xfrm>
            <a:off x="4846320" y="3108960"/>
            <a:ext cx="0" cy="640080"/>
          </a:xfrm>
          <a:prstGeom prst="line">
            <a:avLst/>
          </a:prstGeom>
          <a:noFill/>
          <a:ln w="22225">
            <a:solidFill>
              <a:schemeClr val="tx2"/>
            </a:solidFill>
            <a:prstDash val="dash"/>
            <a:tailEnd type="triangle"/>
          </a:ln>
        </p:spPr>
      </p:sp>
      <p:sp>
        <p:nvSpPr>
          <p:cNvPr id="14" name="Text 11"/>
          <p:cNvSpPr txBox="1"/>
          <p:nvPr/>
        </p:nvSpPr>
        <p:spPr>
          <a:xfrm>
            <a:off x="4937760" y="329184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PDF proxy</a:t>
            </a:r>
            <a:endParaRPr lang="en-US" sz="1000" dirty="0"/>
          </a:p>
        </p:txBody>
      </p:sp>
      <p:sp>
        <p:nvSpPr>
          <p:cNvPr id="15" name="Text 12"/>
          <p:cNvSpPr txBox="1"/>
          <p:nvPr/>
        </p:nvSpPr>
        <p:spPr>
          <a:xfrm>
            <a:off x="9875520" y="1783080"/>
            <a:ext cx="1828800" cy="457200"/>
          </a:xfrm>
          <a:prstGeom prst="rect">
            <a:avLst/>
          </a:prstGeom>
          <a:noFill/>
          <a:ln/>
        </p:spPr>
        <p:txBody>
          <a:bodyPr wrap="square" lIns="0" tIns="0" rIns="0" bIns="0" rtlCol="0" anchor="t"/>
          <a:lstStyle/>
          <a:p>
            <a:pPr indent="0" marL="0">
              <a:buNone/>
            </a:pPr>
            <a:r>
              <a:rPr lang="en-US" sz="1200" b="1" dirty="0">
                <a:solidFill>
                  <a:schemeClr val="tx2"/>
                </a:solidFill>
              </a:rPr>
              <a:t>Why read the database directly</a:t>
            </a:r>
            <a:endParaRPr lang="en-US" sz="1200" dirty="0"/>
          </a:p>
        </p:txBody>
      </p:sp>
      <p:sp>
        <p:nvSpPr>
          <p:cNvPr id="16" name="Text 13"/>
          <p:cNvSpPr txBox="1"/>
          <p:nvPr/>
        </p:nvSpPr>
        <p:spPr>
          <a:xfrm>
            <a:off x="9875520" y="2286000"/>
            <a:ext cx="1737360" cy="1463040"/>
          </a:xfrm>
          <a:prstGeom prst="rect">
            <a:avLst/>
          </a:prstGeom>
          <a:noFill/>
          <a:ln/>
        </p:spPr>
        <p:txBody>
          <a:bodyPr wrap="square" lIns="0" tIns="0" rIns="0" bIns="0" rtlCol="0" anchor="t"/>
          <a:lstStyle/>
          <a:p>
            <a:pPr indent="0" marL="0">
              <a:buNone/>
            </a:pPr>
            <a:r>
              <a:rPr lang="en-US" sz="1100" dirty="0">
                <a:solidFill>
                  <a:schemeClr val="tx1"/>
                </a:solidFill>
              </a:rPr>
              <a:t>The REST API cannot list, search or total up the book. Adding that would change the core service.</a:t>
            </a:r>
            <a:endParaRPr lang="en-US" sz="1100" dirty="0"/>
          </a:p>
        </p:txBody>
      </p:sp>
      <p:sp>
        <p:nvSpPr>
          <p:cNvPr id="17" name="Text 1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Read-only by construction</a:t>
            </a:r>
            <a:endParaRPr lang="en-US" sz="1200" dirty="0"/>
          </a:p>
          <a:p>
            <a:pPr algn="l" indent="0" marL="0">
              <a:buNone/>
            </a:pPr>
            <a:r>
              <a:rPr lang="en-US" sz="1200" dirty="0">
                <a:solidFill>
                  <a:schemeClr val="tx1"/>
                </a:solidFill>
              </a:rPr>
              <a:t>Hikari read-only pool and SET SESSION ... READ ONLY on every connection. An optional SELECT-only DB role adds a second lock.</a:t>
            </a:r>
            <a:endParaRPr lang="en-US" sz="1200" dirty="0"/>
          </a:p>
        </p:txBody>
      </p:sp>
      <p:sp>
        <p:nvSpPr>
          <p:cNvPr id="18" name="Text 1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Current schedule rule</a:t>
            </a:r>
            <a:endParaRPr lang="en-US" sz="1200" dirty="0"/>
          </a:p>
          <a:p>
            <a:pPr algn="l" indent="0" marL="0">
              <a:buNone/>
            </a:pPr>
            <a:r>
              <a:rPr lang="en-US" sz="1200" dirty="0">
                <a:solidFill>
                  <a:schemeClr val="tx1"/>
                </a:solidFill>
              </a:rPr>
              <a:t>A part-payment or rate reset creates a new schedule version; the portal shows the latest per instalment and keeps older versions viewable.</a:t>
            </a:r>
            <a:endParaRPr lang="en-US" sz="1200" dirty="0"/>
          </a:p>
        </p:txBody>
      </p:sp>
      <p:sp>
        <p:nvSpPr>
          <p:cNvPr id="19" name="Text 1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image, one service</a:t>
            </a:r>
            <a:endParaRPr lang="en-US" sz="1200" dirty="0"/>
          </a:p>
          <a:p>
            <a:pPr algn="l" indent="0" marL="0">
              <a:buNone/>
            </a:pPr>
            <a:r>
              <a:rPr lang="en-US" sz="1200" dirty="0">
                <a:solidFill>
                  <a:schemeClr val="tx1"/>
                </a:solidFill>
              </a:rPr>
              <a:t>Node builds the UI, Maven bundles it into the jar, a JRE image runs it. Registered in the root pom, render.yaml and docker-compose.</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the portal shows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Inquiry on accounts, schedules, accruals, payments and the book as a whole</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2103120"/>
                <a:gridCol w="5212080"/>
              </a:tblGrid>
              <a:tr h="475488">
                <a:tc>
                  <a:txBody>
                    <a:bodyPr/>
                    <a:lstStyle/>
                    <a:p>
                      <a:pPr indent="0" marL="0">
                        <a:buNone/>
                      </a:pPr>
                      <a:r>
                        <a:rPr lang="en-US" sz="1200" b="1" dirty="0">
                          <a:solidFill>
                            <a:schemeClr val="bg1"/>
                          </a:solidFill>
                        </a:rPr>
                        <a:t>Screen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gives you</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75488">
                <a:tc>
                  <a:txBody>
                    <a:bodyPr/>
                    <a:lstStyle/>
                    <a:p>
                      <a:pPr indent="0" marL="0">
                        <a:buNone/>
                      </a:pPr>
                      <a:r>
                        <a:rPr lang="en-US" sz="1300" b="1" dirty="0">
                          <a:solidFill>
                            <a:schemeClr val="tx2"/>
                          </a:solidFill>
                        </a:rPr>
                        <a:t>Dashboard</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Accounts, outstanding principal, overdue, due in 7 days, collections month to date, status mix, trends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Accounts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Search by number or customer; filter by status, type, product; sort and page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Account detail</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Overview, Amortization (all versions, CSV), Accruals (range and chart), Payments (CSV), Mortgage, Statement PDF</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Upcoming payments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Due in 7, 15, 30, 60 or 90 days, by product, with totals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Overdue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Unpaid past due, days past due, buckets 1-30, 31-60, 61-90, 90+</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Payments and Accruals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Book-wide EMI transactions with filters; daily accrual totals with drill-down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Ledger outbox and Batch</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Posting status and retries; 36 job slots and recent executions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Products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Loan products: default terms, rate, spread, amount and tenure limits; create and edit (saved through lending-service)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Configuration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Edit batch job settings; view every service's settings and the fixed business rules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8229600" y="1463040"/>
            <a:ext cx="3383280" cy="2377440"/>
          </a:xfrm>
          <a:prstGeom prst="roundRect">
            <a:avLst>
              <a:gd name="adj" fmla="val 3077"/>
            </a:avLst>
          </a:prstGeom>
          <a:solidFill>
            <a:schemeClr val="accent1">
              <a:alpha val="10000"/>
            </a:schemeClr>
          </a:solidFill>
          <a:ln w="12700">
            <a:solidFill>
              <a:schemeClr val="accent1"/>
            </a:solidFill>
          </a:ln>
        </p:spPr>
        <p:txBody>
          <a:bodyPr wrap="square" lIns="152400" tIns="152400" rIns="152400" bIns="152400" rtlCol="0" anchor="t"/>
          <a:lstStyle/>
          <a:p>
            <a:pPr algn="l" indent="0" marL="0">
              <a:buNone/>
            </a:pPr>
            <a:r>
              <a:rPr lang="en-US" sz="1600" b="1" dirty="0">
                <a:solidFill>
                  <a:schemeClr val="tx2"/>
                </a:solidFill>
              </a:rPr>
              <a:t>Sign in</a:t>
            </a:r>
            <a:endParaRPr lang="en-US" sz="1200" dirty="0"/>
          </a:p>
          <a:p>
            <a:pPr algn="l" indent="0" marL="0">
              <a:buNone/>
            </a:pPr>
            <a:r>
              <a:rPr lang="en-US" sz="1400" dirty="0">
                <a:solidFill>
                  <a:schemeClr val="tx1"/>
                </a:solidFill>
              </a:rPr>
              <a:t>User id: admin</a:t>
            </a:r>
            <a:endParaRPr lang="en-US" sz="1200" dirty="0"/>
          </a:p>
          <a:p>
            <a:pPr algn="l" indent="0" marL="0">
              <a:buNone/>
            </a:pPr>
            <a:r>
              <a:rPr lang="en-US" sz="1200" dirty="0">
                <a:solidFill>
                  <a:schemeClr val="tx1"/>
                </a:solidFill>
              </a:rPr>
              <a:t>Password: ADMIN_PASSWORD from the Render dashboard (Environment tab). Local default: changeme</a:t>
            </a:r>
            <a:endParaRPr lang="en-US" sz="1200" dirty="0"/>
          </a:p>
          <a:p>
            <a:pPr algn="l" indent="0" marL="0">
              <a:buNone/>
            </a:pPr>
            <a:r>
              <a:rPr lang="en-US" sz="600" dirty="0">
                <a:solidFill>
                  <a:schemeClr val="tx1"/>
                </a:solidFill>
              </a:rPr>
              <a:t> </a:t>
            </a:r>
            <a:endParaRPr lang="en-US" sz="1200" dirty="0"/>
          </a:p>
          <a:p>
            <a:pPr algn="l" indent="0" marL="0">
              <a:buNone/>
            </a:pPr>
            <a:r>
              <a:rPr lang="en-US" sz="1600" b="1" dirty="0">
                <a:solidFill>
                  <a:schemeClr val="tx2"/>
                </a:solidFill>
              </a:rPr>
              <a:t>Limits</a:t>
            </a:r>
            <a:endParaRPr lang="en-US" sz="1200" dirty="0"/>
          </a:p>
          <a:p>
            <a:pPr algn="l" indent="0" marL="0">
              <a:buNone/>
            </a:pPr>
            <a:r>
              <a:rPr lang="en-US" sz="1200" dirty="0">
                <a:solidFill>
                  <a:schemeClr val="tx1"/>
                </a:solidFill>
              </a:rPr>
              <a:t>Read-only except batch job settings and loan products, saved through the batch service and lending-service. One shared login, no roles or audit trail yet.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Configuration: what can be changed, and where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Batch job settings are editable here (loan products on the Products screen); everything else needs a redeploy or a code change</a:t>
            </a:r>
            <a:endParaRPr lang="en-US" sz="1400" dirty="0"/>
          </a:p>
        </p:txBody>
      </p:sp>
      <p:sp>
        <p:nvSpPr>
          <p:cNvPr id="5" name="Text 2"/>
          <p:cNvSpPr txBox="1"/>
          <p:nvPr/>
        </p:nvSpPr>
        <p:spPr>
          <a:xfrm>
            <a:off x="548640" y="1463040"/>
            <a:ext cx="3566160" cy="4023360"/>
          </a:xfrm>
          <a:prstGeom prst="roundRect">
            <a:avLst>
              <a:gd name="adj" fmla="val 2051"/>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Editable now</a:t>
            </a:r>
            <a:endParaRPr lang="en-US" sz="1800" dirty="0"/>
          </a:p>
        </p:txBody>
      </p:sp>
      <p:sp>
        <p:nvSpPr>
          <p:cNvPr id="7" name="Text 4"/>
          <p:cNvSpPr txBox="1"/>
          <p:nvPr/>
        </p:nvSpPr>
        <p:spPr>
          <a:xfrm>
            <a:off x="73152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Configuration screen &gt; Batch jobs</a:t>
            </a:r>
            <a:endParaRPr lang="en-US" sz="1100" dirty="0"/>
          </a:p>
        </p:txBody>
      </p:sp>
      <p:sp>
        <p:nvSpPr>
          <p:cNvPr id="8" name="Text 5"/>
          <p:cNvSpPr txBox="1"/>
          <p:nvPr/>
        </p:nvSpPr>
        <p:spPr>
          <a:xfrm>
            <a:off x="73152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Per job, 36 jobs: enabled, schedule (cron), restartable</a:t>
            </a:r>
            <a:endParaRPr lang="en-US" sz="1400" dirty="0"/>
          </a:p>
          <a:p>
            <a:pPr marL="342900" indent="-342900">
              <a:spcAft>
                <a:spcPts val="800"/>
              </a:spcAft>
              <a:buSzPct val="100000"/>
              <a:buChar char="•"/>
            </a:pPr>
            <a:r>
              <a:rPr lang="en-US" sz="1400" dirty="0">
                <a:solidFill>
                  <a:schemeClr val="tx1"/>
                </a:solidFill>
              </a:rPr>
              <a:t>Chunk size, concurrency, thread limit (chunk jobs)</a:t>
            </a:r>
            <a:endParaRPr lang="en-US" sz="1400" dirty="0"/>
          </a:p>
          <a:p>
            <a:pPr marL="342900" indent="-342900">
              <a:spcAft>
                <a:spcPts val="800"/>
              </a:spcAft>
              <a:buSzPct val="100000"/>
              <a:buChar char="•"/>
            </a:pPr>
            <a:r>
              <a:rPr lang="en-US" sz="1400" dirty="0">
                <a:solidFill>
                  <a:schemeClr val="tx1"/>
                </a:solidFill>
              </a:rPr>
              <a:t>Retry limit, skip limit, timeout, run order</a:t>
            </a:r>
            <a:endParaRPr lang="en-US" sz="1400" dirty="0"/>
          </a:p>
          <a:p>
            <a:pPr marL="342900" indent="-342900">
              <a:spcAft>
                <a:spcPts val="800"/>
              </a:spcAft>
              <a:buSzPct val="100000"/>
              <a:buChar char="•"/>
            </a:pPr>
            <a:r>
              <a:rPr lang="en-US" sz="1400" dirty="0">
                <a:solidFill>
                  <a:schemeClr val="tx1"/>
                </a:solidFill>
              </a:rPr>
              <a:t>Saved through the batch service (validated, version-checked), then Apply = reload; no restart</a:t>
            </a:r>
            <a:endParaRPr lang="en-US" sz="1400" dirty="0"/>
          </a:p>
        </p:txBody>
      </p:sp>
      <p:sp>
        <p:nvSpPr>
          <p:cNvPr id="9" name="Text 6"/>
          <p:cNvSpPr txBox="1"/>
          <p:nvPr/>
        </p:nvSpPr>
        <p:spPr>
          <a:xfrm>
            <a:off x="4297680" y="1463040"/>
            <a:ext cx="3566160" cy="4023360"/>
          </a:xfrm>
          <a:prstGeom prst="roundRect">
            <a:avLst>
              <a:gd name="adj" fmla="val 2051"/>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448056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Environment variables</a:t>
            </a:r>
            <a:endParaRPr lang="en-US" sz="1800" dirty="0"/>
          </a:p>
        </p:txBody>
      </p:sp>
      <p:sp>
        <p:nvSpPr>
          <p:cNvPr id="11" name="Text 8"/>
          <p:cNvSpPr txBox="1"/>
          <p:nvPr/>
        </p:nvSpPr>
        <p:spPr>
          <a:xfrm>
            <a:off x="448056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Service settings tab (view); change in Render or compose</a:t>
            </a:r>
            <a:endParaRPr lang="en-US" sz="1100" dirty="0"/>
          </a:p>
        </p:txBody>
      </p:sp>
      <p:sp>
        <p:nvSpPr>
          <p:cNvPr id="12" name="Text 9"/>
          <p:cNvSpPr txBox="1"/>
          <p:nvPr/>
        </p:nvSpPr>
        <p:spPr>
          <a:xfrm>
            <a:off x="448056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Database host, user, password, pool size (all three)</a:t>
            </a:r>
            <a:endParaRPr lang="en-US" sz="1400" dirty="0"/>
          </a:p>
          <a:p>
            <a:pPr marL="342900" indent="-342900">
              <a:spcAft>
                <a:spcPts val="800"/>
              </a:spcAft>
              <a:buSzPct val="100000"/>
              <a:buChar char="•"/>
            </a:pPr>
            <a:r>
              <a:rPr lang="en-US" sz="1400" dirty="0">
                <a:solidFill>
                  <a:schemeClr val="tx1"/>
                </a:solidFill>
              </a:rPr>
              <a:t>Ports, JVM heap, profile; BUSINESS_DATE_*, BATCH_EOD_*</a:t>
            </a:r>
            <a:endParaRPr lang="en-US" sz="1400" dirty="0"/>
          </a:p>
          <a:p>
            <a:pPr marL="342900" indent="-342900">
              <a:spcAft>
                <a:spcPts val="800"/>
              </a:spcAft>
              <a:buSzPct val="100000"/>
              <a:buChar char="•"/>
            </a:pPr>
            <a:r>
              <a:rPr lang="en-US" sz="1400" dirty="0">
                <a:solidFill>
                  <a:schemeClr val="tx1"/>
                </a:solidFill>
              </a:rPr>
              <a:t>Logins: ADMIN_*, BATCH_ADMIN_*; links: LENDING_SERVICE_URL, BATCH_SERVICE_URL</a:t>
            </a:r>
            <a:endParaRPr lang="en-US" sz="1400" dirty="0"/>
          </a:p>
          <a:p>
            <a:pPr marL="342900" indent="-342900">
              <a:spcAft>
                <a:spcPts val="800"/>
              </a:spcAft>
              <a:buSzPct val="100000"/>
              <a:buChar char="•"/>
            </a:pPr>
            <a:r>
              <a:rPr lang="en-US" sz="1400" dirty="0">
                <a:solidFill>
                  <a:schemeClr val="tx1"/>
                </a:solidFill>
              </a:rPr>
              <a:t>Statement text and timezone; Kafka address and timeout</a:t>
            </a:r>
            <a:endParaRPr lang="en-US" sz="1400" dirty="0"/>
          </a:p>
          <a:p>
            <a:pPr marL="342900" indent="-342900">
              <a:spcAft>
                <a:spcPts val="800"/>
              </a:spcAft>
              <a:buSzPct val="100000"/>
              <a:buChar char="•"/>
            </a:pPr>
            <a:r>
              <a:rPr lang="en-US" sz="1400" dirty="0">
                <a:solidFill>
                  <a:schemeClr val="tx1"/>
                </a:solidFill>
              </a:rPr>
              <a:t>Takes effect after a restart of that service</a:t>
            </a:r>
            <a:endParaRPr lang="en-US" sz="1400" dirty="0"/>
          </a:p>
        </p:txBody>
      </p:sp>
      <p:sp>
        <p:nvSpPr>
          <p:cNvPr id="13" name="Text 10"/>
          <p:cNvSpPr txBox="1"/>
          <p:nvPr/>
        </p:nvSpPr>
        <p:spPr>
          <a:xfrm>
            <a:off x="8046720" y="1463040"/>
            <a:ext cx="3566160" cy="4023360"/>
          </a:xfrm>
          <a:prstGeom prst="roundRect">
            <a:avLst>
              <a:gd name="adj" fmla="val 2051"/>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822960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Fixed in code</a:t>
            </a:r>
            <a:endParaRPr lang="en-US" sz="1800" dirty="0"/>
          </a:p>
        </p:txBody>
      </p:sp>
      <p:sp>
        <p:nvSpPr>
          <p:cNvPr id="15" name="Text 12"/>
          <p:cNvSpPr txBox="1"/>
          <p:nvPr/>
        </p:nvSpPr>
        <p:spPr>
          <a:xfrm>
            <a:off x="822960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Fixed business rules tab (view)</a:t>
            </a:r>
            <a:endParaRPr lang="en-US" sz="1100" dirty="0"/>
          </a:p>
        </p:txBody>
      </p:sp>
      <p:sp>
        <p:nvSpPr>
          <p:cNvPr id="16" name="Text 13"/>
          <p:cNvSpPr txBox="1"/>
          <p:nvPr/>
        </p:nvSpPr>
        <p:spPr>
          <a:xfrm>
            <a:off x="822960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Accrual formula and day-count conventions</a:t>
            </a:r>
            <a:endParaRPr lang="en-US" sz="1400" dirty="0"/>
          </a:p>
          <a:p>
            <a:pPr marL="342900" indent="-342900">
              <a:spcAft>
                <a:spcPts val="800"/>
              </a:spcAft>
              <a:buSzPct val="100000"/>
              <a:buChar char="•"/>
            </a:pPr>
            <a:r>
              <a:rPr lang="en-US" sz="1400" dirty="0">
                <a:solidFill>
                  <a:schemeClr val="tx1"/>
                </a:solidFill>
              </a:rPr>
              <a:t>EMI formula; delinquency / NPA bands; LTV</a:t>
            </a:r>
            <a:endParaRPr lang="en-US" sz="1400" dirty="0"/>
          </a:p>
          <a:p>
            <a:pPr marL="342900" indent="-342900">
              <a:spcAft>
                <a:spcPts val="800"/>
              </a:spcAft>
              <a:buSzPct val="100000"/>
              <a:buChar char="•"/>
            </a:pPr>
            <a:r>
              <a:rPr lang="en-US" sz="1400" dirty="0">
                <a:solidFill>
                  <a:schemeClr val="tx1"/>
                </a:solidFill>
              </a:rPr>
              <a:t>Idempotency keys; bulk limit of 200</a:t>
            </a:r>
            <a:endParaRPr lang="en-US" sz="1400" dirty="0"/>
          </a:p>
          <a:p>
            <a:pPr marL="342900" indent="-342900">
              <a:spcAft>
                <a:spcPts val="800"/>
              </a:spcAft>
              <a:buSzPct val="100000"/>
              <a:buChar char="•"/>
            </a:pPr>
            <a:r>
              <a:rPr lang="en-US" sz="1400" dirty="0">
                <a:solidFill>
                  <a:schemeClr val="tx1"/>
                </a:solidFill>
              </a:rPr>
              <a:t>Monthly partitions: current + 6 ahead</a:t>
            </a:r>
            <a:endParaRPr lang="en-US" sz="1400" dirty="0"/>
          </a:p>
          <a:p>
            <a:pPr marL="342900" indent="-342900">
              <a:spcAft>
                <a:spcPts val="800"/>
              </a:spcAft>
              <a:buSzPct val="100000"/>
              <a:buChar char="•"/>
            </a:pPr>
            <a:r>
              <a:rPr lang="en-US" sz="1400" dirty="0">
                <a:solidFill>
                  <a:schemeClr val="tx1"/>
                </a:solidFill>
              </a:rPr>
              <a:t>A change here is a code change and a release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Sandbox URLs and changes since v1.0</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Render free tier: services sleep when idle, so the first request takes about a minute</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9052560"/>
              </a:tblGrid>
              <a:tr h="384048">
                <a:tc>
                  <a:txBody>
                    <a:bodyPr/>
                    <a:lstStyle/>
                    <a:p>
                      <a:pPr indent="0" marL="0">
                        <a:buNone/>
                      </a:pPr>
                      <a:r>
                        <a:rPr lang="en-US" sz="1200" b="1" dirty="0">
                          <a:solidFill>
                            <a:schemeClr val="bg1"/>
                          </a:solidFill>
                        </a:rPr>
                        <a:t>Sandbox</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URL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2"/>
                          </a:solidFill>
                        </a:rPr>
                        <a:t>Lending API</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Lending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2"/>
                          </a:solidFill>
                        </a:rPr>
                        <a:t>Admin portal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Admin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36118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Added since the first documents (2 September)</a:t>
            </a:r>
            <a:endParaRPr lang="en-US" sz="1600" dirty="0"/>
          </a:p>
        </p:txBody>
      </p:sp>
      <p:sp>
        <p:nvSpPr>
          <p:cNvPr id="7" name="Text 3"/>
          <p:cNvSpPr txBox="1"/>
          <p:nvPr/>
        </p:nvSpPr>
        <p:spPr>
          <a:xfrm>
            <a:off x="54864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Admin portal</a:t>
            </a:r>
            <a:endParaRPr lang="en-US" sz="1200" dirty="0"/>
          </a:p>
          <a:p>
            <a:pPr algn="l" indent="0" marL="0">
              <a:buNone/>
            </a:pPr>
            <a:r>
              <a:rPr lang="en-US" sz="1200" dirty="0">
                <a:solidFill>
                  <a:schemeClr val="tx1"/>
                </a:solidFill>
              </a:rPr>
              <a:t>New React + Spring Boot service; edits batch jobs and loan products through the owning services</a:t>
            </a:r>
            <a:endParaRPr lang="en-US" sz="1200" dirty="0"/>
          </a:p>
        </p:txBody>
      </p:sp>
      <p:sp>
        <p:nvSpPr>
          <p:cNvPr id="8" name="Text 4"/>
          <p:cNvSpPr txBox="1"/>
          <p:nvPr/>
        </p:nvSpPr>
        <p:spPr>
          <a:xfrm>
            <a:off x="429768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Loan products (V10)</a:t>
            </a:r>
            <a:endParaRPr lang="en-US" sz="1200" dirty="0"/>
          </a:p>
          <a:p>
            <a:pPr algn="l" indent="0" marL="0">
              <a:buNone/>
            </a:pPr>
            <a:r>
              <a:rPr lang="en-US" sz="1200" dirty="0">
                <a:solidFill>
                  <a:schemeClr val="tx1"/>
                </a:solidFill>
              </a:rPr>
              <a:t>Product master; accounts take default terms from it and stay inside its limits</a:t>
            </a:r>
            <a:endParaRPr lang="en-US" sz="1200" dirty="0"/>
          </a:p>
        </p:txBody>
      </p:sp>
      <p:sp>
        <p:nvSpPr>
          <p:cNvPr id="9" name="Text 5"/>
          <p:cNvSpPr txBox="1"/>
          <p:nvPr/>
        </p:nvSpPr>
        <p:spPr>
          <a:xfrm>
            <a:off x="804672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Statement and bulk</a:t>
            </a:r>
            <a:endParaRPr lang="en-US" sz="1200" dirty="0"/>
          </a:p>
          <a:p>
            <a:pPr algn="l" indent="0" marL="0">
              <a:buNone/>
            </a:pPr>
            <a:r>
              <a:rPr lang="en-US" sz="1200" dirty="0">
                <a:solidFill>
                  <a:schemeClr val="tx1"/>
                </a:solidFill>
              </a:rPr>
              <a:t>PDF statement endpoints; bulk create and disburse, up to 200 per call</a:t>
            </a:r>
            <a:endParaRPr lang="en-US" sz="1200" dirty="0"/>
          </a:p>
        </p:txBody>
      </p:sp>
      <p:sp>
        <p:nvSpPr>
          <p:cNvPr id="10" name="Text 6"/>
          <p:cNvSpPr txBox="1"/>
          <p:nvPr/>
        </p:nvSpPr>
        <p:spPr>
          <a:xfrm>
            <a:off x="54864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Partition fix (V9)</a:t>
            </a:r>
            <a:endParaRPr lang="en-US" sz="1200" dirty="0"/>
          </a:p>
          <a:p>
            <a:pPr algn="l" indent="0" marL="0">
              <a:buNone/>
            </a:pPr>
            <a:r>
              <a:rPr lang="en-US" sz="1200" dirty="0">
                <a:solidFill>
                  <a:schemeClr val="tx1"/>
                </a:solidFill>
              </a:rPr>
              <a:t>Ends 409 on accrual and EMI posting; auto-creates months</a:t>
            </a:r>
            <a:endParaRPr lang="en-US" sz="1200" dirty="0"/>
          </a:p>
        </p:txBody>
      </p:sp>
      <p:sp>
        <p:nvSpPr>
          <p:cNvPr id="11" name="Text 7"/>
          <p:cNvSpPr txBox="1"/>
          <p:nvPr/>
        </p:nvSpPr>
        <p:spPr>
          <a:xfrm>
            <a:off x="429768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Scripts and Render</a:t>
            </a:r>
            <a:endParaRPr lang="en-US" sz="1200" dirty="0"/>
          </a:p>
          <a:p>
            <a:pPr algn="l" indent="0" marL="0">
              <a:buNone/>
            </a:pPr>
            <a:r>
              <a:rPr lang="en-US" sz="1200" dirty="0">
                <a:solidFill>
                  <a:schemeClr val="tx1"/>
                </a:solidFill>
              </a:rPr>
              <a:t>create-account and run-accrual scripts, bulk JSON; blueprint with Postgres plus three services</a:t>
            </a:r>
            <a:endParaRPr lang="en-US" sz="1200" dirty="0"/>
          </a:p>
        </p:txBody>
      </p:sp>
      <p:sp>
        <p:nvSpPr>
          <p:cNvPr id="12" name="Text 8"/>
          <p:cNvSpPr txBox="1"/>
          <p:nvPr/>
        </p:nvSpPr>
        <p:spPr>
          <a:xfrm>
            <a:off x="804672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Batch pool fix</a:t>
            </a:r>
            <a:endParaRPr lang="en-US" sz="1200" dirty="0"/>
          </a:p>
          <a:p>
            <a:pPr algn="l" indent="0" marL="0">
              <a:buNone/>
            </a:pPr>
            <a:r>
              <a:rPr lang="en-US" sz="1200" dirty="0">
                <a:solidFill>
                  <a:schemeClr val="tx1"/>
                </a:solidFill>
              </a:rPr>
              <a:t>Batch DB pool 5 to 20 and 3 Quartz threads, ending the timeouts seen on Render</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Base path /api/v1; lending-service on port 8080, batch admin on lending-batch-service</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188720"/>
                <a:gridCol w="6858000"/>
                <a:gridCol w="3017520"/>
              </a:tblGrid>
              <a:tr h="315468">
                <a:tc>
                  <a:txBody>
                    <a:bodyPr/>
                    <a:lstStyle/>
                    <a:p>
                      <a:pPr indent="0" marL="0">
                        <a:buNone/>
                      </a:pPr>
                      <a:r>
                        <a:rPr lang="en-US" sz="1200" b="1" dirty="0">
                          <a:solidFill>
                            <a:schemeClr val="bg1"/>
                          </a:solidFill>
                        </a:rPr>
                        <a:t>Area</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15468">
                <a:tc>
                  <a:txBody>
                    <a:bodyPr/>
                    <a:lstStyle/>
                    <a:p>
                      <a:pPr indent="0" marL="0">
                        <a:buNone/>
                      </a:pPr>
                      <a:r>
                        <a:rPr lang="en-US" sz="1200" b="1" dirty="0">
                          <a:solidFill>
                            <a:schemeClr val="tx2"/>
                          </a:solidFill>
                        </a:rPr>
                        <a:t>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Create an account; idempotent on sanctionRefId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/loan-accounts/bulk/create  |  /bulk/disburse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Up to 200 items per call, per-item result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Activate and generate schedule v1</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  |  /by-account-number/{no}</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Look up an account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/loan-accounts/rate-resets  |  /delinquency-classifications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Floating rate reset; DPD and NPA classification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/loan-accounts/{id}/schedule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Current amortisation 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Payments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/loan-accounts/{id}/payments/emi  |  part-payment  |  foreclosure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Post a repayment or an exit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Accrual</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/interest-accruals/run?businessDate=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Accrue interest for all ACTIVE 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/loan-accounts/{id}/interest-accruals/{date}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One account's accrual for a date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Mortgage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/mortgages  |  /{id}/charge  |  /{id}/valuations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Create, register charge, record valuation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/mortgages/{id}  |  /by-account/{id}  |  /due-for-revaluation</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Look up and find revaluations due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Statement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/loan-accounts/{id}/statement  |  by-account-number/{no}/statement</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Customer PDF download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Ledger</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/ledger-outbox/push  |  GET /ledger-outbox/pending</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Push or inspect pending ledger events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Batch admin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/batch-admin/jobs  |  /status/today  |  POST /jobs/{name}/trigger</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List, trigger or back-date jobs; status view</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Where we are and what is next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lifecycle, business date and end of day are in; verifying them on real services, the other jobs and integrations are next</a:t>
            </a:r>
            <a:endParaRPr lang="en-US" sz="1400" dirty="0"/>
          </a:p>
        </p:txBody>
      </p:sp>
      <p:sp>
        <p:nvSpPr>
          <p:cNvPr id="5" name="Text 2"/>
          <p:cNvSpPr txBox="1"/>
          <p:nvPr/>
        </p:nvSpPr>
        <p:spPr>
          <a:xfrm>
            <a:off x="548640" y="1600200"/>
            <a:ext cx="5440680" cy="4572000"/>
          </a:xfrm>
          <a:prstGeom prst="roundRect">
            <a:avLst>
              <a:gd name="adj" fmla="val 1600"/>
            </a:avLst>
          </a:prstGeom>
          <a:solidFill>
            <a:schemeClr val="accent1">
              <a:alpha val="30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82296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Working today</a:t>
            </a:r>
            <a:endParaRPr lang="en-US" sz="2200" dirty="0"/>
          </a:p>
        </p:txBody>
      </p:sp>
      <p:sp>
        <p:nvSpPr>
          <p:cNvPr id="7" name="Text 4"/>
          <p:cNvSpPr txBox="1"/>
          <p:nvPr/>
        </p:nvSpPr>
        <p:spPr>
          <a:xfrm>
            <a:off x="82296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Create, bulk create and disburse accounts</a:t>
            </a:r>
            <a:endParaRPr lang="en-US" sz="1700" dirty="0"/>
          </a:p>
          <a:p>
            <a:pPr marL="342900" indent="-342900">
              <a:spcAft>
                <a:spcPts val="1000"/>
              </a:spcAft>
              <a:buSzPct val="100000"/>
              <a:buChar char="•"/>
            </a:pPr>
            <a:r>
              <a:rPr lang="en-US" sz="1700" dirty="0">
                <a:solidFill>
                  <a:schemeClr val="bg1"/>
                </a:solidFill>
              </a:rPr>
              <a:t>Schedules with part-payment and rate-reset versioning</a:t>
            </a:r>
            <a:endParaRPr lang="en-US" sz="1700" dirty="0"/>
          </a:p>
          <a:p>
            <a:pPr marL="342900" indent="-342900">
              <a:spcAft>
                <a:spcPts val="1000"/>
              </a:spcAft>
              <a:buSzPct val="100000"/>
              <a:buChar char="•"/>
            </a:pPr>
            <a:r>
              <a:rPr lang="en-US" sz="1700" dirty="0">
                <a:solidFill>
                  <a:schemeClr val="bg1"/>
                </a:solidFill>
              </a:rPr>
              <a:t>EMI, part-payment and foreclosure postings</a:t>
            </a:r>
            <a:endParaRPr lang="en-US" sz="1700" dirty="0"/>
          </a:p>
          <a:p>
            <a:pPr marL="342900" indent="-342900">
              <a:spcAft>
                <a:spcPts val="1000"/>
              </a:spcAft>
              <a:buSzPct val="100000"/>
              <a:buChar char="•"/>
            </a:pPr>
            <a:r>
              <a:rPr lang="en-US" sz="1700" dirty="0">
                <a:solidFill>
                  <a:schemeClr val="bg1"/>
                </a:solidFill>
              </a:rPr>
              <a:t>Business date, end of day, nine batch jobs</a:t>
            </a:r>
            <a:endParaRPr lang="en-US" sz="1700" dirty="0"/>
          </a:p>
          <a:p>
            <a:pPr marL="342900" indent="-342900">
              <a:spcAft>
                <a:spcPts val="1000"/>
              </a:spcAft>
              <a:buSzPct val="100000"/>
              <a:buChar char="•"/>
            </a:pPr>
            <a:r>
              <a:rPr lang="en-US" sz="1700" dirty="0">
                <a:solidFill>
                  <a:schemeClr val="bg1"/>
                </a:solidFill>
              </a:rPr>
              <a:t>Customer PDF statement download</a:t>
            </a:r>
            <a:endParaRPr lang="en-US" sz="1700" dirty="0"/>
          </a:p>
          <a:p>
            <a:pPr marL="342900" indent="-342900">
              <a:spcAft>
                <a:spcPts val="1000"/>
              </a:spcAft>
              <a:buSzPct val="100000"/>
              <a:buChar char="•"/>
            </a:pPr>
            <a:r>
              <a:rPr lang="en-US" sz="1700" dirty="0">
                <a:solidFill>
                  <a:schemeClr val="bg1"/>
                </a:solidFill>
              </a:rPr>
              <a:t>Read-only admin portal for inquiry</a:t>
            </a:r>
            <a:endParaRPr lang="en-US" sz="1700" dirty="0"/>
          </a:p>
          <a:p>
            <a:pPr marL="342900" indent="-342900">
              <a:spcAft>
                <a:spcPts val="1000"/>
              </a:spcAft>
              <a:buSzPct val="100000"/>
              <a:buChar char="•"/>
            </a:pPr>
            <a:r>
              <a:rPr lang="en-US" sz="1700" dirty="0">
                <a:solidFill>
                  <a:schemeClr val="bg1"/>
                </a:solidFill>
              </a:rPr>
              <a:t>Monthly partitions kept ahead automatically</a:t>
            </a:r>
            <a:endParaRPr lang="en-US" sz="1700" dirty="0"/>
          </a:p>
          <a:p>
            <a:pPr marL="342900" indent="-342900">
              <a:spcAft>
                <a:spcPts val="1000"/>
              </a:spcAft>
              <a:buSzPct val="100000"/>
              <a:buChar char="•"/>
            </a:pPr>
            <a:r>
              <a:rPr lang="en-US" sz="1700" dirty="0">
                <a:solidFill>
                  <a:schemeClr val="bg1"/>
                </a:solidFill>
              </a:rPr>
              <a:t>Free sandbox on Render</a:t>
            </a:r>
            <a:endParaRPr lang="en-US" sz="1700" dirty="0"/>
          </a:p>
        </p:txBody>
      </p:sp>
      <p:sp>
        <p:nvSpPr>
          <p:cNvPr id="8" name="Text 5"/>
          <p:cNvSpPr txBox="1"/>
          <p:nvPr/>
        </p:nvSpPr>
        <p:spPr>
          <a:xfrm>
            <a:off x="6172200" y="1600200"/>
            <a:ext cx="5440680" cy="4572000"/>
          </a:xfrm>
          <a:prstGeom prst="roundRect">
            <a:avLst>
              <a:gd name="adj" fmla="val 1600"/>
            </a:avLst>
          </a:prstGeom>
          <a:solidFill>
            <a:schemeClr val="accent2">
              <a:alpha val="18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44652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Next</a:t>
            </a:r>
            <a:endParaRPr lang="en-US" sz="2200" dirty="0"/>
          </a:p>
        </p:txBody>
      </p:sp>
      <p:sp>
        <p:nvSpPr>
          <p:cNvPr id="10" name="Text 7"/>
          <p:cNvSpPr txBox="1"/>
          <p:nvPr/>
        </p:nvSpPr>
        <p:spPr>
          <a:xfrm>
            <a:off x="644652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Write the other 27 batch job bodies</a:t>
            </a:r>
            <a:endParaRPr lang="en-US" sz="1700" dirty="0"/>
          </a:p>
          <a:p>
            <a:pPr marL="342900" indent="-342900">
              <a:spcAft>
                <a:spcPts val="1000"/>
              </a:spcAft>
              <a:buSzPct val="100000"/>
              <a:buChar char="•"/>
            </a:pPr>
            <a:r>
              <a:rPr lang="en-US" sz="1700" dirty="0">
                <a:solidFill>
                  <a:schemeClr val="bg1"/>
                </a:solidFill>
              </a:rPr>
              <a:t>Add authentication and tie statements to the logged-in customer</a:t>
            </a:r>
            <a:endParaRPr lang="en-US" sz="1700" dirty="0"/>
          </a:p>
          <a:p>
            <a:pPr marL="342900" indent="-342900">
              <a:spcAft>
                <a:spcPts val="1000"/>
              </a:spcAft>
              <a:buSzPct val="100000"/>
              <a:buChar char="•"/>
            </a:pPr>
            <a:r>
              <a:rPr lang="en-US" sz="1700" dirty="0">
                <a:solidFill>
                  <a:schemeClr val="bg1"/>
                </a:solidFill>
              </a:rPr>
              <a:t>Replace the logging ledger stub with the real core-banking client</a:t>
            </a:r>
            <a:endParaRPr lang="en-US" sz="1700" dirty="0"/>
          </a:p>
          <a:p>
            <a:pPr marL="342900" indent="-342900">
              <a:spcAft>
                <a:spcPts val="1000"/>
              </a:spcAft>
              <a:buSzPct val="100000"/>
              <a:buChar char="•"/>
            </a:pPr>
            <a:r>
              <a:rPr lang="en-US" sz="1700" dirty="0">
                <a:solidFill>
                  <a:schemeClr val="bg1"/>
                </a:solidFill>
              </a:rPr>
              <a:t>Provide a Kafka broker for batch events</a:t>
            </a:r>
            <a:endParaRPr lang="en-US" sz="1700" dirty="0"/>
          </a:p>
          <a:p>
            <a:pPr marL="342900" indent="-342900">
              <a:spcAft>
                <a:spcPts val="1000"/>
              </a:spcAft>
              <a:buSzPct val="100000"/>
              <a:buChar char="•"/>
            </a:pPr>
            <a:r>
              <a:rPr lang="en-US" sz="1700" dirty="0">
                <a:solidFill>
                  <a:schemeClr val="bg1"/>
                </a:solidFill>
              </a:rPr>
              <a:t>Move off free hosting: the database expires after 30 days</a:t>
            </a:r>
            <a:endParaRPr lang="en-US" sz="1700" dirty="0"/>
          </a:p>
          <a:p>
            <a:pPr marL="342900" indent="-342900">
              <a:spcAft>
                <a:spcPts val="1000"/>
              </a:spcAft>
              <a:buSzPct val="100000"/>
              <a:buChar char="•"/>
            </a:pPr>
            <a:r>
              <a:rPr lang="en-US" sz="1700" dirty="0">
                <a:solidFill>
                  <a:schemeClr val="bg1"/>
                </a:solidFill>
              </a:rPr>
              <a:t>Build with Maven; run the E2E suite on real services in CI</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date: one date for the whole platform</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lending-service owns it; payments, accrual, delinquency, statements, batch jobs and the admin portal all read it</a:t>
            </a:r>
            <a:endParaRPr lang="en-US" sz="1400" dirty="0"/>
          </a:p>
        </p:txBody>
      </p:sp>
      <p:sp>
        <p:nvSpPr>
          <p:cNvPr id="11" name="Shape 11"/>
          <p:cNvSpPr txBox="1"/>
          <p:nvPr/>
        </p:nvSpPr>
        <p:spPr>
          <a:xfrm>
            <a:off x="548640" y="1554480"/>
            <a:ext cx="2926080" cy="914400"/>
          </a:xfrm>
          <a:prstGeom prst="roundRect">
            <a:avLst>
              <a:gd name="adj" fmla="val 8000"/>
            </a:avLst>
          </a:prstGeom>
          <a:solidFill>
            <a:schemeClr val="accent1"/>
          </a:solidFill>
          <a:ln w="12700">
            <a:solidFill>
              <a:schemeClr val="accent1"/>
            </a:solidFill>
          </a:ln>
        </p:spPr>
        <p:txBody>
          <a:bodyPr wrap="square" lIns="127000" tIns="127000" rIns="127000" bIns="127000" rtlCol="0" anchor="ctr"/>
          <a:lstStyle/>
          <a:p>
            <a:pPr algn="ctr" indent="0" marL="0">
              <a:spcAft>
                <a:spcPts val="200"/>
              </a:spcAft>
              <a:buNone/>
            </a:pPr>
            <a:r>
              <a:rPr lang="en-US" sz="1600" b="1" dirty="0">
                <a:solidFill>
                  <a:schemeClr val="bg1"/>
                </a:solidFill>
              </a:rPr>
              <a:t>OPEN</a:t>
            </a:r>
            <a:endParaRPr lang="en-US" sz="1600" dirty="0"/>
          </a:p>
          <a:p>
            <a:pPr algn="ctr" indent="0" marL="0">
              <a:buNone/>
            </a:pPr>
            <a:r>
              <a:rPr lang="en-US" sz="1300" dirty="0">
                <a:solidFill>
                  <a:schemeClr val="bg1"/>
                </a:solidFill>
              </a:rPr>
              <a:t>business date D</a:t>
            </a:r>
            <a:endParaRPr lang="en-US" sz="1300" dirty="0"/>
          </a:p>
        </p:txBody>
      </p:sp>
      <p:sp>
        <p:nvSpPr>
          <p:cNvPr id="12" name="Shape 12"/>
          <p:cNvSpPr txBox="1"/>
          <p:nvPr/>
        </p:nvSpPr>
        <p:spPr>
          <a:xfrm>
            <a:off x="4617720" y="1554480"/>
            <a:ext cx="2926080" cy="914400"/>
          </a:xfrm>
          <a:prstGeom prst="roundRect">
            <a:avLst>
              <a:gd name="adj" fmla="val 8000"/>
            </a:avLst>
          </a:prstGeom>
          <a:solidFill>
            <a:schemeClr val="accent2"/>
          </a:solidFill>
          <a:ln w="12700">
            <a:solidFill>
              <a:schemeClr val="accent2"/>
            </a:solidFill>
          </a:ln>
        </p:spPr>
        <p:txBody>
          <a:bodyPr wrap="square" lIns="127000" tIns="127000" rIns="127000" bIns="127000" rtlCol="0" anchor="ctr"/>
          <a:lstStyle/>
          <a:p>
            <a:pPr algn="ctr" indent="0" marL="0">
              <a:spcAft>
                <a:spcPts val="200"/>
              </a:spcAft>
              <a:buNone/>
            </a:pPr>
            <a:r>
              <a:rPr lang="en-US" sz="1600" b="1" dirty="0">
                <a:solidFill>
                  <a:schemeClr val="tx1"/>
                </a:solidFill>
              </a:rPr>
              <a:t>EOD_RUNNING</a:t>
            </a:r>
            <a:endParaRPr lang="en-US" sz="1600" dirty="0"/>
          </a:p>
          <a:p>
            <a:pPr algn="ctr" indent="0" marL="0">
              <a:buNone/>
            </a:pPr>
            <a:r>
              <a:rPr lang="en-US" sz="1300" dirty="0">
                <a:solidFill>
                  <a:schemeClr val="tx1"/>
                </a:solidFill>
              </a:rPr>
              <a:t>daily jobs run for D</a:t>
            </a:r>
            <a:endParaRPr lang="en-US" sz="1300" dirty="0"/>
          </a:p>
        </p:txBody>
      </p:sp>
      <p:sp>
        <p:nvSpPr>
          <p:cNvPr id="13" name="Shape 13"/>
          <p:cNvSpPr txBox="1"/>
          <p:nvPr/>
        </p:nvSpPr>
        <p:spPr>
          <a:xfrm>
            <a:off x="8686800" y="1554480"/>
            <a:ext cx="2926080" cy="914400"/>
          </a:xfrm>
          <a:prstGeom prst="roundRect">
            <a:avLst>
              <a:gd name="adj" fmla="val 8000"/>
            </a:avLst>
          </a:prstGeom>
          <a:solidFill>
            <a:schemeClr val="accent1"/>
          </a:solidFill>
          <a:ln w="12700">
            <a:solidFill>
              <a:schemeClr val="accent1"/>
            </a:solidFill>
          </a:ln>
        </p:spPr>
        <p:txBody>
          <a:bodyPr wrap="square" lIns="127000" tIns="127000" rIns="127000" bIns="127000" rtlCol="0" anchor="ctr"/>
          <a:lstStyle/>
          <a:p>
            <a:pPr algn="ctr" indent="0" marL="0">
              <a:spcAft>
                <a:spcPts val="200"/>
              </a:spcAft>
              <a:buNone/>
            </a:pPr>
            <a:r>
              <a:rPr lang="en-US" sz="1600" b="1" dirty="0">
                <a:solidFill>
                  <a:schemeClr val="bg1"/>
                </a:solidFill>
              </a:rPr>
              <a:t>OPEN</a:t>
            </a:r>
            <a:endParaRPr lang="en-US" sz="1600" dirty="0"/>
          </a:p>
          <a:p>
            <a:pPr algn="ctr" indent="0" marL="0">
              <a:buNone/>
            </a:pPr>
            <a:r>
              <a:rPr lang="en-US" sz="1300" dirty="0">
                <a:solidFill>
                  <a:schemeClr val="bg1"/>
                </a:solidFill>
              </a:rPr>
              <a:t>business date D + 1</a:t>
            </a:r>
            <a:endParaRPr lang="en-US" sz="1300" dirty="0"/>
          </a:p>
        </p:txBody>
      </p:sp>
      <p:sp>
        <p:nvSpPr>
          <p:cNvPr id="14" name="Shape 14"/>
          <p:cNvSpPr/>
          <p:nvPr/>
        </p:nvSpPr>
        <p:spPr>
          <a:xfrm>
            <a:off x="3520440" y="2011680"/>
            <a:ext cx="1051560" cy="0"/>
          </a:xfrm>
          <a:prstGeom prst="line">
            <a:avLst/>
          </a:prstGeom>
          <a:noFill/>
          <a:ln w="15875">
            <a:solidFill>
              <a:schemeClr val="tx2"/>
            </a:solidFill>
            <a:prstDash val="solid"/>
            <a:tailEnd type="triangle"/>
          </a:ln>
        </p:spPr>
      </p:sp>
      <p:sp>
        <p:nvSpPr>
          <p:cNvPr id="15" name="Shape 15"/>
          <p:cNvSpPr txBox="1"/>
          <p:nvPr/>
        </p:nvSpPr>
        <p:spPr>
          <a:xfrm>
            <a:off x="3474720" y="1645920"/>
            <a:ext cx="1143000" cy="320040"/>
          </a:xfrm>
          <a:prstGeom prst="rect">
            <a:avLst/>
          </a:prstGeom>
          <a:noFill/>
          <a:ln/>
        </p:spPr>
        <p:txBody>
          <a:bodyPr wrap="square" lIns="0" tIns="0" rIns="0" bIns="0" rtlCol="0" anchor="b"/>
          <a:lstStyle/>
          <a:p>
            <a:pPr algn="ctr" indent="0" marL="0">
              <a:buNone/>
            </a:pPr>
            <a:r>
              <a:rPr lang="en-US" sz="1000" i="1" dirty="0">
                <a:solidFill>
                  <a:schemeClr val="accent4"/>
                </a:solidFill>
              </a:rPr>
              <a:t>end of day starts</a:t>
            </a:r>
            <a:endParaRPr lang="en-US" sz="1000" dirty="0"/>
          </a:p>
        </p:txBody>
      </p:sp>
      <p:sp>
        <p:nvSpPr>
          <p:cNvPr id="16" name="Shape 16"/>
          <p:cNvSpPr/>
          <p:nvPr/>
        </p:nvSpPr>
        <p:spPr>
          <a:xfrm>
            <a:off x="7589520" y="2011680"/>
            <a:ext cx="1051560" cy="0"/>
          </a:xfrm>
          <a:prstGeom prst="line">
            <a:avLst/>
          </a:prstGeom>
          <a:noFill/>
          <a:ln w="15875">
            <a:solidFill>
              <a:schemeClr val="tx2"/>
            </a:solidFill>
            <a:prstDash val="solid"/>
            <a:tailEnd type="triangle"/>
          </a:ln>
        </p:spPr>
      </p:sp>
      <p:sp>
        <p:nvSpPr>
          <p:cNvPr id="17" name="Shape 17"/>
          <p:cNvSpPr txBox="1"/>
          <p:nvPr/>
        </p:nvSpPr>
        <p:spPr>
          <a:xfrm>
            <a:off x="7543800" y="1645920"/>
            <a:ext cx="1143000" cy="320040"/>
          </a:xfrm>
          <a:prstGeom prst="rect">
            <a:avLst/>
          </a:prstGeom>
          <a:noFill/>
          <a:ln/>
        </p:spPr>
        <p:txBody>
          <a:bodyPr wrap="square" lIns="0" tIns="0" rIns="0" bIns="0" rtlCol="0" anchor="b"/>
          <a:lstStyle/>
          <a:p>
            <a:pPr algn="ctr" indent="0" marL="0">
              <a:buNone/>
            </a:pPr>
            <a:r>
              <a:rPr lang="en-US" sz="1000" i="1" dirty="0">
                <a:solidFill>
                  <a:schemeClr val="accent4"/>
                </a:solidFill>
              </a:rPr>
              <a:t>advance, one day</a:t>
            </a:r>
            <a:endParaRPr lang="en-US" sz="1000" dirty="0"/>
          </a:p>
        </p:txBody>
      </p:sp>
      <p:sp>
        <p:nvSpPr>
          <p:cNvPr id="18" name="Shape 18"/>
          <p:cNvSpPr txBox="1"/>
          <p:nvPr/>
        </p:nvSpPr>
        <p:spPr>
          <a:xfrm>
            <a:off x="548640" y="2606040"/>
            <a:ext cx="11064240" cy="300000"/>
          </a:xfrm>
          <a:prstGeom prst="rect">
            <a:avLst/>
          </a:prstGeom>
          <a:noFill/>
          <a:ln/>
        </p:spPr>
        <p:txBody>
          <a:bodyPr wrap="square" lIns="0" tIns="0" rIns="0" bIns="0" rtlCol="0" anchor="t"/>
          <a:lstStyle/>
          <a:p>
            <a:pPr algn="l" indent="0" marL="0">
              <a:buNone/>
            </a:pPr>
            <a:r>
              <a:rPr lang="en-US" sz="1100" i="1" dirty="0">
                <a:solidFill>
                  <a:schemeClr val="accent4"/>
                </a:solidFill>
              </a:rPr>
              <a:t>POST /api/v1/business-date/eod/start, then POST /api/v1/business-date/advance with expectedBusinessDate = D. Asking to advance a date that is already closed changes nothing.</a:t>
            </a:r>
            <a:endParaRPr lang="en-US" sz="1100" dirty="0"/>
          </a:p>
        </p:txBody>
      </p:sp>
      <p:sp>
        <p:nvSpPr>
          <p:cNvPr id="19" name="Shape 19"/>
          <p:cNvSpPr txBox="1"/>
          <p:nvPr/>
        </p:nvSpPr>
        <p:spPr>
          <a:xfrm>
            <a:off x="548640" y="3108960"/>
            <a:ext cx="3566160" cy="29260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Rules</a:t>
            </a:r>
            <a:endParaRPr lang="en-US" sz="1600" dirty="0"/>
          </a:p>
          <a:p>
            <a:pPr marL="228600" indent="-228600" algn="l">
              <a:spcAft>
                <a:spcPts val="400"/>
              </a:spcAft>
              <a:buSzPct val="100000"/>
              <a:buChar char="•"/>
            </a:pPr>
            <a:r>
              <a:rPr lang="en-US" sz="1300" dirty="0">
                <a:solidFill>
                  <a:schemeClr val="tx1"/>
                </a:solidFill>
              </a:rPr>
              <a:t>No payment, accrual, classification or rate-reset date after the business date: HTTP 400</a:t>
            </a:r>
            <a:endParaRPr lang="en-US" sz="1300" dirty="0"/>
          </a:p>
          <a:p>
            <a:pPr marL="228600" indent="-228600" algn="l">
              <a:spcAft>
                <a:spcPts val="400"/>
              </a:spcAft>
              <a:buSzPct val="100000"/>
              <a:buChar char="•"/>
            </a:pPr>
            <a:r>
              <a:rPr lang="en-US" sz="1300" dirty="0">
                <a:solidFill>
                  <a:schemeClr val="tx1"/>
                </a:solidFill>
              </a:rPr>
              <a:t>Earlier dates are accepted, so a late payment books to its own day</a:t>
            </a:r>
            <a:endParaRPr lang="en-US" sz="1300" dirty="0"/>
          </a:p>
          <a:p>
            <a:pPr marL="228600" indent="-228600" algn="l">
              <a:spcAft>
                <a:spcPts val="400"/>
              </a:spcAft>
              <a:buSzPct val="100000"/>
              <a:buChar char="•"/>
            </a:pPr>
            <a:r>
              <a:rPr lang="en-US" sz="1300" dirty="0">
                <a:solidFill>
                  <a:schemeClr val="tx1"/>
                </a:solidFill>
              </a:rPr>
              <a:t>Set directly only while OPEN, and only forward unless the environment allows backward</a:t>
            </a:r>
            <a:endParaRPr lang="en-US" sz="1300" dirty="0"/>
          </a:p>
          <a:p>
            <a:pPr marL="228600" indent="-228600" algn="l">
              <a:spcAft>
                <a:spcPts val="400"/>
              </a:spcAft>
              <a:buSzPct val="100000"/>
              <a:buChar char="•"/>
            </a:pPr>
            <a:r>
              <a:rPr lang="en-US" sz="1300" dirty="0">
                <a:solidFill>
                  <a:schemeClr val="tx1"/>
                </a:solidFill>
              </a:rPr>
              <a:t>Wrong state gives HTTP 409</a:t>
            </a:r>
            <a:endParaRPr lang="en-US" sz="1300" dirty="0"/>
          </a:p>
        </p:txBody>
      </p:sp>
      <p:sp>
        <p:nvSpPr>
          <p:cNvPr id="20" name="Shape 20"/>
          <p:cNvSpPr txBox="1"/>
          <p:nvPr/>
        </p:nvSpPr>
        <p:spPr>
          <a:xfrm>
            <a:off x="4297680" y="3108960"/>
            <a:ext cx="3566160" cy="29260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Who uses it</a:t>
            </a:r>
            <a:endParaRPr lang="en-US" sz="1600" dirty="0"/>
          </a:p>
          <a:p>
            <a:pPr marL="228600" indent="-228600" algn="l">
              <a:spcAft>
                <a:spcPts val="400"/>
              </a:spcAft>
              <a:buSzPct val="100000"/>
              <a:buChar char="•"/>
            </a:pPr>
            <a:r>
              <a:rPr lang="en-US" sz="1300" dirty="0">
                <a:solidFill>
                  <a:schemeClr val="tx1"/>
                </a:solidFill>
              </a:rPr>
              <a:t>EMI, part-payment and foreclosure postings</a:t>
            </a:r>
            <a:endParaRPr lang="en-US" sz="1300" dirty="0"/>
          </a:p>
          <a:p>
            <a:pPr marL="228600" indent="-228600" algn="l">
              <a:spcAft>
                <a:spcPts val="400"/>
              </a:spcAft>
              <a:buSzPct val="100000"/>
              <a:buChar char="•"/>
            </a:pPr>
            <a:r>
              <a:rPr lang="en-US" sz="1300" dirty="0">
                <a:solidFill>
                  <a:schemeClr val="tx1"/>
                </a:solidFill>
              </a:rPr>
              <a:t>Interest accrual, delinquency classification, rate reset</a:t>
            </a:r>
            <a:endParaRPr lang="en-US" sz="1300" dirty="0"/>
          </a:p>
          <a:p>
            <a:pPr marL="228600" indent="-228600" algn="l">
              <a:spcAft>
                <a:spcPts val="400"/>
              </a:spcAft>
              <a:buSzPct val="100000"/>
              <a:buChar char="•"/>
            </a:pPr>
            <a:r>
              <a:rPr lang="en-US" sz="1300" dirty="0">
                <a:solidFill>
                  <a:schemeClr val="tx1"/>
                </a:solidFill>
              </a:rPr>
              <a:t>Customer statement</a:t>
            </a:r>
            <a:endParaRPr lang="en-US" sz="1300" dirty="0"/>
          </a:p>
          <a:p>
            <a:pPr marL="228600" indent="-228600" algn="l">
              <a:spcAft>
                <a:spcPts val="400"/>
              </a:spcAft>
              <a:buSzPct val="100000"/>
              <a:buChar char="•"/>
            </a:pPr>
            <a:r>
              <a:rPr lang="en-US" sz="1300" dirty="0">
                <a:solidFill>
                  <a:schemeClr val="tx1"/>
                </a:solidFill>
              </a:rPr>
              <a:t>Batch jobs: the date comes from lending-service</a:t>
            </a:r>
            <a:endParaRPr lang="en-US" sz="1300" dirty="0"/>
          </a:p>
          <a:p>
            <a:pPr marL="228600" indent="-228600" algn="l">
              <a:spcAft>
                <a:spcPts val="400"/>
              </a:spcAft>
              <a:buSzPct val="100000"/>
              <a:buChar char="•"/>
            </a:pPr>
            <a:r>
              <a:rPr lang="en-US" sz="1300" dirty="0">
                <a:solidFill>
                  <a:schemeClr val="tx1"/>
                </a:solidFill>
              </a:rPr>
              <a:t>Admin portal: dashboard, overdue, upcoming, days past due</a:t>
            </a:r>
            <a:endParaRPr lang="en-US" sz="1300" dirty="0"/>
          </a:p>
        </p:txBody>
      </p:sp>
      <p:sp>
        <p:nvSpPr>
          <p:cNvPr id="21" name="Shape 21"/>
          <p:cNvSpPr txBox="1"/>
          <p:nvPr/>
        </p:nvSpPr>
        <p:spPr>
          <a:xfrm>
            <a:off x="8046720" y="3108960"/>
            <a:ext cx="3566160" cy="292608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Calendar and history</a:t>
            </a:r>
            <a:endParaRPr lang="en-US" sz="1600" dirty="0"/>
          </a:p>
          <a:p>
            <a:pPr marL="228600" indent="-228600" algn="l">
              <a:spcAft>
                <a:spcPts val="400"/>
              </a:spcAft>
              <a:buSzPct val="100000"/>
              <a:buChar char="•"/>
            </a:pPr>
            <a:r>
              <a:rPr lang="en-US" sz="1300" dirty="0">
                <a:solidFill>
                  <a:schemeClr val="tx1"/>
                </a:solidFill>
              </a:rPr>
              <a:t>Weekends from configuration, holidays from a table; the date still moves one calendar day</a:t>
            </a:r>
            <a:endParaRPr lang="en-US" sz="1300" dirty="0"/>
          </a:p>
          <a:p>
            <a:pPr marL="228600" indent="-228600" algn="l">
              <a:spcAft>
                <a:spcPts val="400"/>
              </a:spcAft>
              <a:buSzPct val="100000"/>
              <a:buChar char="•"/>
            </a:pPr>
            <a:r>
              <a:rPr lang="en-US" sz="1300" dirty="0">
                <a:solidFill>
                  <a:schemeClr val="tx1"/>
                </a:solidFill>
              </a:rPr>
              <a:t>Instalment due dates are not moved off holidays</a:t>
            </a:r>
            <a:endParaRPr lang="en-US" sz="1300" dirty="0"/>
          </a:p>
          <a:p>
            <a:pPr marL="228600" indent="-228600" algn="l">
              <a:spcAft>
                <a:spcPts val="400"/>
              </a:spcAft>
              <a:buSzPct val="100000"/>
              <a:buChar char="•"/>
            </a:pPr>
            <a:r>
              <a:rPr lang="en-US" sz="1300" dirty="0">
                <a:solidFill>
                  <a:schemeClr val="tx1"/>
                </a:solidFill>
              </a:rPr>
              <a:t>One history row per date: opened, end of day started, closed, closed by</a:t>
            </a:r>
            <a:endParaRPr lang="en-US" sz="1300" dirty="0"/>
          </a:p>
          <a:p>
            <a:pPr marL="228600" indent="-228600" algn="l">
              <a:spcAft>
                <a:spcPts val="400"/>
              </a:spcAft>
              <a:buSzPct val="100000"/>
              <a:buChar char="•"/>
            </a:pPr>
            <a:r>
              <a:rPr lang="en-US" sz="1300" dirty="0">
                <a:solidFill>
                  <a:schemeClr val="tx1"/>
                </a:solidFill>
              </a:rPr>
              <a:t>One state row under a database lock, so concurrent callers are serialised</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end of day</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One run closes the day: the daily jobs in priority order, then the business date advances</a:t>
            </a:r>
            <a:endParaRPr lang="en-US" sz="1400" dirty="0"/>
          </a:p>
        </p:txBody>
      </p:sp>
      <p:sp>
        <p:nvSpPr>
          <p:cNvPr id="11" name="Shape 11"/>
          <p:cNvSpPr txBox="1"/>
          <p:nvPr/>
        </p:nvSpPr>
        <p:spPr>
          <a:xfrm>
            <a:off x="5486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1  |  Start</a:t>
            </a:r>
            <a:endParaRPr lang="en-US" sz="1400" dirty="0"/>
          </a:p>
          <a:p>
            <a:pPr algn="l" indent="0" marL="0">
              <a:buNone/>
            </a:pPr>
            <a:r>
              <a:rPr lang="en-US" sz="1200" dirty="0">
                <a:solidFill>
                  <a:schemeClr val="bg1"/>
                </a:solidFill>
              </a:rPr>
              <a:t>POST eod/start; status becomes EOD_RUNNING</a:t>
            </a:r>
            <a:endParaRPr lang="en-US" sz="1200" dirty="0"/>
          </a:p>
        </p:txBody>
      </p:sp>
      <p:sp>
        <p:nvSpPr>
          <p:cNvPr id="12" name="Shape 12"/>
          <p:cNvSpPr/>
          <p:nvPr/>
        </p:nvSpPr>
        <p:spPr>
          <a:xfrm>
            <a:off x="2971800" y="2148840"/>
            <a:ext cx="426720" cy="0"/>
          </a:xfrm>
          <a:prstGeom prst="line">
            <a:avLst/>
          </a:prstGeom>
          <a:noFill/>
          <a:ln w="15875">
            <a:solidFill>
              <a:schemeClr val="tx2"/>
            </a:solidFill>
            <a:prstDash val="solid"/>
            <a:tailEnd type="triangle"/>
          </a:ln>
        </p:spPr>
      </p:sp>
      <p:sp>
        <p:nvSpPr>
          <p:cNvPr id="13" name="Shape 13"/>
          <p:cNvSpPr txBox="1"/>
          <p:nvPr/>
        </p:nvSpPr>
        <p:spPr>
          <a:xfrm>
            <a:off x="34442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2  |  Run daily jobs</a:t>
            </a:r>
            <a:endParaRPr lang="en-US" sz="1400" dirty="0"/>
          </a:p>
          <a:p>
            <a:pPr algn="l" indent="0" marL="0">
              <a:buNone/>
            </a:pPr>
            <a:r>
              <a:rPr lang="en-US" sz="1200" dirty="0">
                <a:solidFill>
                  <a:schemeClr val="bg1"/>
                </a:solidFill>
              </a:rPr>
              <a:t>Enabled DAILY jobs in priority order for date D; completed ones skipped</a:t>
            </a:r>
            <a:endParaRPr lang="en-US" sz="1200" dirty="0"/>
          </a:p>
        </p:txBody>
      </p:sp>
      <p:sp>
        <p:nvSpPr>
          <p:cNvPr id="14" name="Shape 14"/>
          <p:cNvSpPr/>
          <p:nvPr/>
        </p:nvSpPr>
        <p:spPr>
          <a:xfrm>
            <a:off x="5867400" y="2148840"/>
            <a:ext cx="426720" cy="0"/>
          </a:xfrm>
          <a:prstGeom prst="line">
            <a:avLst/>
          </a:prstGeom>
          <a:noFill/>
          <a:ln w="15875">
            <a:solidFill>
              <a:schemeClr val="tx2"/>
            </a:solidFill>
            <a:prstDash val="solid"/>
            <a:tailEnd type="triangle"/>
          </a:ln>
        </p:spPr>
      </p:sp>
      <p:sp>
        <p:nvSpPr>
          <p:cNvPr id="15" name="Shape 15"/>
          <p:cNvSpPr txBox="1"/>
          <p:nvPr/>
        </p:nvSpPr>
        <p:spPr>
          <a:xfrm>
            <a:off x="63398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3  |  Advance</a:t>
            </a:r>
            <a:endParaRPr lang="en-US" sz="1400" dirty="0"/>
          </a:p>
          <a:p>
            <a:pPr algn="l" indent="0" marL="0">
              <a:buNone/>
            </a:pPr>
            <a:r>
              <a:rPr lang="en-US" sz="1200" dirty="0">
                <a:solidFill>
                  <a:schemeClr val="bg1"/>
                </a:solidFill>
              </a:rPr>
              <a:t>POST advance with expectedBusinessDate = D</a:t>
            </a:r>
            <a:endParaRPr lang="en-US" sz="1200" dirty="0"/>
          </a:p>
        </p:txBody>
      </p:sp>
      <p:sp>
        <p:nvSpPr>
          <p:cNvPr id="16" name="Shape 16"/>
          <p:cNvSpPr/>
          <p:nvPr/>
        </p:nvSpPr>
        <p:spPr>
          <a:xfrm>
            <a:off x="8763000" y="2148840"/>
            <a:ext cx="426720" cy="0"/>
          </a:xfrm>
          <a:prstGeom prst="line">
            <a:avLst/>
          </a:prstGeom>
          <a:noFill/>
          <a:ln w="15875">
            <a:solidFill>
              <a:schemeClr val="tx2"/>
            </a:solidFill>
            <a:prstDash val="solid"/>
            <a:tailEnd type="triangle"/>
          </a:ln>
        </p:spPr>
      </p:sp>
      <p:sp>
        <p:nvSpPr>
          <p:cNvPr id="17" name="Shape 17"/>
          <p:cNvSpPr txBox="1"/>
          <p:nvPr/>
        </p:nvSpPr>
        <p:spPr>
          <a:xfrm>
            <a:off x="92354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4  |  Next day</a:t>
            </a:r>
            <a:endParaRPr lang="en-US" sz="1400" dirty="0"/>
          </a:p>
          <a:p>
            <a:pPr algn="l" indent="0" marL="0">
              <a:buNone/>
            </a:pPr>
            <a:r>
              <a:rPr lang="en-US" sz="1200" dirty="0">
                <a:solidFill>
                  <a:schemeClr val="bg1"/>
                </a:solidFill>
              </a:rPr>
              <a:t>Status OPEN on D + 1; partitions ensured ahead</a:t>
            </a:r>
            <a:endParaRPr lang="en-US" sz="1200" dirty="0"/>
          </a:p>
        </p:txBody>
      </p:sp>
      <p:sp>
        <p:nvSpPr>
          <p:cNvPr id="18" name="Shape 18"/>
          <p:cNvSpPr txBox="1"/>
          <p:nvPr/>
        </p:nvSpPr>
        <p:spPr>
          <a:xfrm>
            <a:off x="548640" y="3017520"/>
            <a:ext cx="356616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Triggers</a:t>
            </a:r>
            <a:endParaRPr lang="en-US" sz="1600" dirty="0"/>
          </a:p>
          <a:p>
            <a:pPr marL="228600" indent="-228600" algn="l">
              <a:spcAft>
                <a:spcPts val="400"/>
              </a:spcAft>
              <a:buSzPct val="100000"/>
              <a:buChar char="•"/>
            </a:pPr>
            <a:r>
              <a:rPr lang="en-US" sz="1300" dirty="0">
                <a:solidFill>
                  <a:schemeClr val="bg1"/>
                </a:solidFill>
              </a:rPr>
              <a:t>Nightly: batch.eod.cron, default 01:00 Asia/Kolkata</a:t>
            </a:r>
            <a:endParaRPr lang="en-US" sz="1300" dirty="0"/>
          </a:p>
          <a:p>
            <a:pPr marL="228600" indent="-228600" algn="l">
              <a:spcAft>
                <a:spcPts val="400"/>
              </a:spcAft>
              <a:buSzPct val="100000"/>
              <a:buChar char="•"/>
            </a:pPr>
            <a:r>
              <a:rPr lang="en-US" sz="1300" dirty="0">
                <a:solidFill>
                  <a:schemeClr val="bg1"/>
                </a:solidFill>
              </a:rPr>
              <a:t>On demand: POST /api/v1/batch-admin/eod/run (202 started, 409 if one is already running)</a:t>
            </a:r>
            <a:endParaRPr lang="en-US" sz="1300" dirty="0"/>
          </a:p>
          <a:p>
            <a:pPr marL="228600" indent="-228600" algn="l">
              <a:spcAft>
                <a:spcPts val="400"/>
              </a:spcAft>
              <a:buSzPct val="100000"/>
              <a:buChar char="•"/>
            </a:pPr>
            <a:r>
              <a:rPr lang="en-US" sz="1300" dirty="0">
                <a:solidFill>
                  <a:schemeClr val="bg1"/>
                </a:solidFill>
              </a:rPr>
              <a:t>Progress: GET /api/v1/batch-admin/eod/status</a:t>
            </a:r>
            <a:endParaRPr lang="en-US" sz="1300" dirty="0"/>
          </a:p>
          <a:p>
            <a:pPr marL="228600" indent="-228600" algn="l">
              <a:spcAft>
                <a:spcPts val="400"/>
              </a:spcAft>
              <a:buSzPct val="100000"/>
              <a:buChar char="•"/>
            </a:pPr>
            <a:r>
              <a:rPr lang="en-US" sz="1300" dirty="0">
                <a:solidFill>
                  <a:schemeClr val="bg1"/>
                </a:solidFill>
              </a:rPr>
              <a:t>While end of day is enabled, the daily jobs' own crons are ignored</a:t>
            </a:r>
            <a:endParaRPr lang="en-US" sz="1300" dirty="0"/>
          </a:p>
        </p:txBody>
      </p:sp>
      <p:sp>
        <p:nvSpPr>
          <p:cNvPr id="19" name="Shape 19"/>
          <p:cNvSpPr txBox="1"/>
          <p:nvPr/>
        </p:nvSpPr>
        <p:spPr>
          <a:xfrm>
            <a:off x="4297680" y="3017520"/>
            <a:ext cx="3566160" cy="30175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If a job fails</a:t>
            </a:r>
            <a:endParaRPr lang="en-US" sz="1600" dirty="0"/>
          </a:p>
          <a:p>
            <a:pPr marL="228600" indent="-228600" algn="l">
              <a:spcAft>
                <a:spcPts val="400"/>
              </a:spcAft>
              <a:buSzPct val="100000"/>
              <a:buChar char="•"/>
            </a:pPr>
            <a:r>
              <a:rPr lang="en-US" sz="1300" dirty="0">
                <a:solidFill>
                  <a:schemeClr val="tx1"/>
                </a:solidFill>
              </a:rPr>
              <a:t>The run stops at the first failure; later jobs do not run</a:t>
            </a:r>
            <a:endParaRPr lang="en-US" sz="1300" dirty="0"/>
          </a:p>
          <a:p>
            <a:pPr marL="228600" indent="-228600" algn="l">
              <a:spcAft>
                <a:spcPts val="400"/>
              </a:spcAft>
              <a:buSzPct val="100000"/>
              <a:buChar char="•"/>
            </a:pPr>
            <a:r>
              <a:rPr lang="en-US" sz="1300" dirty="0">
                <a:solidFill>
                  <a:schemeClr val="tx1"/>
                </a:solidFill>
              </a:rPr>
              <a:t>The date stays at D with status EOD_RUNNING</a:t>
            </a:r>
            <a:endParaRPr lang="en-US" sz="1300" dirty="0"/>
          </a:p>
          <a:p>
            <a:pPr marL="228600" indent="-228600" algn="l">
              <a:spcAft>
                <a:spcPts val="400"/>
              </a:spcAft>
              <a:buSzPct val="100000"/>
              <a:buChar char="•"/>
            </a:pPr>
            <a:r>
              <a:rPr lang="en-US" sz="1300" dirty="0">
                <a:solidFill>
                  <a:schemeClr val="tx1"/>
                </a:solidFill>
              </a:rPr>
              <a:t>Run again: completed jobs are skipped and the failed one is retried</a:t>
            </a:r>
            <a:endParaRPr lang="en-US" sz="1300" dirty="0"/>
          </a:p>
          <a:p>
            <a:pPr marL="228600" indent="-228600" algn="l">
              <a:spcAft>
                <a:spcPts val="400"/>
              </a:spcAft>
              <a:buSzPct val="100000"/>
              <a:buChar char="•"/>
            </a:pPr>
            <a:r>
              <a:rPr lang="en-US" sz="1300" dirty="0">
                <a:solidFill>
                  <a:schemeClr val="tx1"/>
                </a:solidFill>
              </a:rPr>
              <a:t>The date advances only when every job has completed</a:t>
            </a:r>
            <a:endParaRPr lang="en-US" sz="1300" dirty="0"/>
          </a:p>
        </p:txBody>
      </p:sp>
      <p:sp>
        <p:nvSpPr>
          <p:cNvPr id="20" name="Shape 20"/>
          <p:cNvSpPr txBox="1"/>
          <p:nvPr/>
        </p:nvSpPr>
        <p:spPr>
          <a:xfrm>
            <a:off x="8046720" y="3017520"/>
            <a:ext cx="356616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Not in the chain</a:t>
            </a:r>
            <a:endParaRPr lang="en-US" sz="1600" dirty="0"/>
          </a:p>
          <a:p>
            <a:pPr marL="228600" indent="-228600" algn="l">
              <a:spcAft>
                <a:spcPts val="400"/>
              </a:spcAft>
              <a:buSzPct val="100000"/>
              <a:buChar char="•"/>
            </a:pPr>
            <a:r>
              <a:rPr lang="en-US" sz="1300" dirty="0">
                <a:solidFill>
                  <a:schemeClr val="tx1"/>
                </a:solidFill>
              </a:rPr>
              <a:t>MONTHLY and PERIODIC jobs keep their own schedules and read the business date when they start</a:t>
            </a:r>
            <a:endParaRPr lang="en-US" sz="1300" dirty="0"/>
          </a:p>
          <a:p>
            <a:pPr marL="228600" indent="-228600" algn="l">
              <a:spcAft>
                <a:spcPts val="400"/>
              </a:spcAft>
              <a:buSzPct val="100000"/>
              <a:buChar char="•"/>
            </a:pPr>
            <a:r>
              <a:rPr lang="en-US" sz="1300" dirty="0">
                <a:solidFill>
                  <a:schemeClr val="tx1"/>
                </a:solidFill>
              </a:rPr>
              <a:t>Setting the date is refused while EOD_RUNNING</a:t>
            </a:r>
            <a:endParaRPr lang="en-US" sz="1300" dirty="0"/>
          </a:p>
          <a:p>
            <a:pPr marL="228600" indent="-228600" algn="l">
              <a:spcAft>
                <a:spcPts val="400"/>
              </a:spcAft>
              <a:buSzPct val="100000"/>
              <a:buChar char="•"/>
            </a:pPr>
            <a:r>
              <a:rPr lang="en-US" sz="1300" dirty="0">
                <a:solidFill>
                  <a:schemeClr val="tx1"/>
                </a:solidFill>
              </a:rPr>
              <a:t>Checked by unit tests and by the end-to-end checks BAT-05 and BDT-01 to 03</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Batch jobs now call lending-service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Nine of the 36 jobs do real work, one account at a time, through the lending-service API</a:t>
            </a:r>
            <a:endParaRPr lang="en-US" sz="1400" dirty="0"/>
          </a:p>
        </p:txBody>
      </p:sp>
      <p:graphicFrame>
        <p:nvGraphicFramePr>
          <p:cNvPr id="11" name="Table 11"/>
          <p:cNvGraphicFramePr>
            <a:graphicFrameLocks noGrp="1"/>
          </p:cNvGraphicFramePr>
          <p:nvPr/>
        </p:nvGraphicFramePr>
        <p:xfrm>
          <a:off x="548640" y="1463040"/>
          <a:ext cx="11064240" cy="2880360"/>
        </p:xfrm>
        <a:graphic>
          <a:graphicData uri="http://schemas.openxmlformats.org/drawingml/2006/table">
            <a:tbl>
              <a:tblPr/>
              <a:tblGrid>
                <a:gridCol w="4160520"/>
                <a:gridCol w="6903720"/>
              </a:tblGrid>
              <a:tr h="365760">
                <a:tc>
                  <a:txBody>
                    <a:bodyPr/>
                    <a:lstStyle/>
                    <a:p>
                      <a:pPr indent="0" marL="0">
                        <a:buNone/>
                      </a:pPr>
                      <a:r>
                        <a:rPr lang="en-US" sz="1200" b="1" dirty="0">
                          <a:solidFill>
                            <a:schemeClr val="bg1"/>
                          </a:solidFill>
                        </a:rPr>
                        <a:t>Job</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does now</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11480">
                <a:tc>
                  <a:txBody>
                    <a:bodyPr/>
                    <a:lstStyle/>
                    <a:p>
                      <a:pPr indent="0" marL="0">
                        <a:buNone/>
                      </a:pPr>
                      <a:r>
                        <a:rPr lang="en-US" sz="1200" b="1" dirty="0">
                          <a:solidFill>
                            <a:schemeClr val="tx2"/>
                          </a:solidFill>
                        </a:rPr>
                        <a:t>INTEREST_ACCRUAL_DAILY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Accrues one day of interest for each active account on the business date; repeating the run adds nothing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DPD_UPDATE_DAILY, NPA_CLASSIFICATION_CHECK_DAILY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Re-derive each active account's status from days past due at the business date (same function)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RATE_RESET_CHECK_DAILY, RATE_RESET_MONTHLY, QUARTERLY_RATE_RESET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Reset floating-rate accounts to the benchmark rate in force and rebuild the remaining instalments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GL_POSTING_RECONCILIATION_DAILY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Pushes pending ledger outbox entries; fails if any are still pending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00" b="1" dirty="0">
                          <a:solidFill>
                            <a:schemeClr val="tx2"/>
                          </a:solidFill>
                        </a:rPr>
                        <a:t>MONTH_END_GL_CLOSE_MONTHLY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Fails if any ledger outbox entry is still pending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FORECLOSURE_PREPAYMENT_PROCESSING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Forecloses one account (accountId, optional foreclosureDate); repeating does not post twice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12" name="Shape 12"/>
          <p:cNvSpPr txBox="1"/>
          <p:nvPr/>
        </p:nvSpPr>
        <p:spPr>
          <a:xfrm>
            <a:off x="548640" y="4709160"/>
            <a:ext cx="3566160" cy="13258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How it calls</a:t>
            </a:r>
            <a:endParaRPr lang="en-US" sz="1600" dirty="0"/>
          </a:p>
          <a:p>
            <a:pPr marL="228600" indent="-228600" algn="l">
              <a:spcAft>
                <a:spcPts val="400"/>
              </a:spcAft>
              <a:buSzPct val="100000"/>
              <a:buChar char="•"/>
            </a:pPr>
            <a:r>
              <a:rPr lang="en-US" sz="1200" dirty="0">
                <a:solidFill>
                  <a:schemeClr val="tx1"/>
                </a:solidFill>
              </a:rPr>
              <a:t>Per-account endpoints, so one bad account does not roll back the others</a:t>
            </a:r>
            <a:endParaRPr lang="en-US" sz="1200" dirty="0"/>
          </a:p>
          <a:p>
            <a:pPr marL="228600" indent="-228600" algn="l">
              <a:spcAft>
                <a:spcPts val="400"/>
              </a:spcAft>
              <a:buSzPct val="100000"/>
              <a:buChar char="•"/>
            </a:pPr>
            <a:r>
              <a:rPr lang="en-US" sz="1200" dirty="0">
                <a:solidFill>
                  <a:schemeClr val="tx1"/>
                </a:solidFill>
              </a:rPr>
              <a:t>Retries on I/O errors and HTTP 429, 502, 503, 504</a:t>
            </a:r>
            <a:endParaRPr lang="en-US" sz="1200" dirty="0"/>
          </a:p>
        </p:txBody>
      </p:sp>
      <p:sp>
        <p:nvSpPr>
          <p:cNvPr id="13" name="Shape 13"/>
          <p:cNvSpPr txBox="1"/>
          <p:nvPr/>
        </p:nvSpPr>
        <p:spPr>
          <a:xfrm>
            <a:off x="4297680" y="4709160"/>
            <a:ext cx="3566160" cy="13258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Benchmark rates</a:t>
            </a:r>
            <a:endParaRPr lang="en-US" sz="1600" dirty="0"/>
          </a:p>
          <a:p>
            <a:pPr marL="228600" indent="-228600" algn="l">
              <a:spcAft>
                <a:spcPts val="400"/>
              </a:spcAft>
              <a:buSzPct val="100000"/>
              <a:buChar char="•"/>
            </a:pPr>
            <a:r>
              <a:rPr lang="en-US" sz="1200" dirty="0">
                <a:solidFill>
                  <a:schemeClr val="tx1"/>
                </a:solidFill>
              </a:rPr>
              <a:t>benchmark_rate table (V12): the rate in force is the latest one effective on or before the date</a:t>
            </a:r>
            <a:endParaRPr lang="en-US" sz="1200" dirty="0"/>
          </a:p>
          <a:p>
            <a:pPr marL="228600" indent="-228600" algn="l">
              <a:spcAft>
                <a:spcPts val="400"/>
              </a:spcAft>
              <a:buSzPct val="100000"/>
              <a:buChar char="•"/>
            </a:pPr>
            <a:r>
              <a:rPr lang="en-US" sz="1200" dirty="0">
                <a:solidFill>
                  <a:schemeClr val="tx1"/>
                </a:solidFill>
              </a:rPr>
              <a:t>Daily reset job seeded with OVERNIGHT_MIBOR (batch V4)</a:t>
            </a:r>
            <a:endParaRPr lang="en-US" sz="1200" dirty="0"/>
          </a:p>
        </p:txBody>
      </p:sp>
      <p:sp>
        <p:nvSpPr>
          <p:cNvPr id="14" name="Shape 14"/>
          <p:cNvSpPr txBox="1"/>
          <p:nvPr/>
        </p:nvSpPr>
        <p:spPr>
          <a:xfrm>
            <a:off x="8046720" y="4709160"/>
            <a:ext cx="3566160" cy="132588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Still open</a:t>
            </a:r>
            <a:endParaRPr lang="en-US" sz="1600" dirty="0"/>
          </a:p>
          <a:p>
            <a:pPr marL="228600" indent="-228600" algn="l">
              <a:spcAft>
                <a:spcPts val="400"/>
              </a:spcAft>
              <a:buSzPct val="100000"/>
              <a:buChar char="•"/>
            </a:pPr>
            <a:r>
              <a:rPr lang="en-US" sz="1200" dirty="0">
                <a:solidFill>
                  <a:schemeClr val="tx1"/>
                </a:solidFill>
              </a:rPr>
              <a:t>27 of the 36 jobs are still stubs</a:t>
            </a:r>
            <a:endParaRPr lang="en-US" sz="1200" dirty="0"/>
          </a:p>
          <a:p>
            <a:pPr marL="228600" indent="-228600" algn="l">
              <a:spcAft>
                <a:spcPts val="400"/>
              </a:spcAft>
              <a:buSzPct val="100000"/>
              <a:buChar char="•"/>
            </a:pPr>
            <a:r>
              <a:rPr lang="en-US" sz="1200" dirty="0">
                <a:solidFill>
                  <a:schemeClr val="tx1"/>
                </a:solidFill>
              </a:rPr>
              <a:t>Checked with javac against stubs and a mock platform; not yet built with Maven</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and test suite follow the business date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"today" in the console and in the end-to-end checks is now the business date</a:t>
            </a:r>
            <a:endParaRPr lang="en-US" sz="1400" dirty="0"/>
          </a:p>
        </p:txBody>
      </p:sp>
      <p:sp>
        <p:nvSpPr>
          <p:cNvPr id="11" name="Shape 11"/>
          <p:cNvSpPr txBox="1"/>
          <p:nvPr/>
        </p:nvSpPr>
        <p:spPr>
          <a:xfrm>
            <a:off x="54864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Admin portal</a:t>
            </a:r>
            <a:endParaRPr lang="en-US" sz="1600" dirty="0"/>
          </a:p>
          <a:p>
            <a:pPr marL="228600" indent="-228600" algn="l">
              <a:spcAft>
                <a:spcPts val="400"/>
              </a:spcAft>
              <a:buSzPct val="100000"/>
              <a:buChar char="•"/>
            </a:pPr>
            <a:r>
              <a:rPr lang="en-US" sz="1300" dirty="0">
                <a:solidFill>
                  <a:schemeClr val="tx1"/>
                </a:solidFill>
              </a:rPr>
              <a:t>Days past due, overdue and upcoming lists, dashboard and accrual summary are measured at the business date</a:t>
            </a:r>
            <a:endParaRPr lang="en-US" sz="1300" dirty="0"/>
          </a:p>
          <a:p>
            <a:pPr marL="228600" indent="-228600" algn="l">
              <a:spcAft>
                <a:spcPts val="400"/>
              </a:spcAft>
              <a:buSzPct val="100000"/>
              <a:buChar char="•"/>
            </a:pPr>
            <a:r>
              <a:rPr lang="en-US" sz="1300" dirty="0">
                <a:solidFill>
                  <a:schemeClr val="tx1"/>
                </a:solidFill>
              </a:rPr>
              <a:t>Sidebar shows the date and whether end of day is running (GET /api/admin/business-date)</a:t>
            </a:r>
            <a:endParaRPr lang="en-US" sz="1300" dirty="0"/>
          </a:p>
          <a:p>
            <a:pPr marL="228600" indent="-228600" algn="l">
              <a:spcAft>
                <a:spcPts val="400"/>
              </a:spcAft>
              <a:buSzPct val="100000"/>
              <a:buChar char="•"/>
            </a:pPr>
            <a:r>
              <a:rPr lang="en-US" sz="1300" dirty="0">
                <a:solidFill>
                  <a:schemeClr val="tx1"/>
                </a:solidFill>
              </a:rPr>
              <a:t>Still read-only: it reads the date from the shared database and writes nothing</a:t>
            </a:r>
            <a:endParaRPr lang="en-US" sz="1300" dirty="0"/>
          </a:p>
          <a:p>
            <a:pPr marL="228600" indent="-228600" algn="l">
              <a:spcAft>
                <a:spcPts val="400"/>
              </a:spcAft>
              <a:buSzPct val="100000"/>
              <a:buChar char="•"/>
            </a:pPr>
            <a:r>
              <a:rPr lang="en-US" sz="1300" dirty="0">
                <a:solidFill>
                  <a:schemeClr val="tx1"/>
                </a:solidFill>
              </a:rPr>
              <a:t>On an older database with no business date, it shows the calendar date and a warning</a:t>
            </a:r>
            <a:endParaRPr lang="en-US" sz="1300" dirty="0"/>
          </a:p>
        </p:txBody>
      </p:sp>
      <p:sp>
        <p:nvSpPr>
          <p:cNvPr id="12" name="Shape 12"/>
          <p:cNvSpPr txBox="1"/>
          <p:nvPr/>
        </p:nvSpPr>
        <p:spPr>
          <a:xfrm>
            <a:off x="617220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End-to-end test suite</a:t>
            </a:r>
            <a:endParaRPr lang="en-US" sz="1600" dirty="0"/>
          </a:p>
          <a:p>
            <a:pPr marL="228600" indent="-228600" algn="l">
              <a:spcAft>
                <a:spcPts val="400"/>
              </a:spcAft>
              <a:buSzPct val="100000"/>
              <a:buChar char="•"/>
            </a:pPr>
            <a:r>
              <a:rPr lang="en-US" sz="1300" dirty="0">
                <a:solidFill>
                  <a:schemeClr val="tx1"/>
                </a:solidFill>
              </a:rPr>
              <a:t>Sets the business date at the start of a run and moves it with end of day (EOD_RUN) or by running the jobs and then advancing (JOBS_THEN_ADVANCE)</a:t>
            </a:r>
            <a:endParaRPr lang="en-US" sz="1300" dirty="0"/>
          </a:p>
          <a:p>
            <a:pPr marL="228600" indent="-228600" algn="l">
              <a:spcAft>
                <a:spcPts val="400"/>
              </a:spcAft>
              <a:buSzPct val="100000"/>
              <a:buChar char="•"/>
            </a:pPr>
            <a:r>
              <a:rPr lang="en-US" sz="1300" dirty="0">
                <a:solidFill>
                  <a:schemeClr val="tx1"/>
                </a:solidFill>
              </a:rPr>
              <a:t>Mode OFF keeps the earlier behaviour; preflight checks the business date endpoint</a:t>
            </a:r>
            <a:endParaRPr lang="en-US" sz="1300" dirty="0"/>
          </a:p>
          <a:p>
            <a:pPr marL="228600" indent="-228600" algn="l">
              <a:spcAft>
                <a:spcPts val="400"/>
              </a:spcAft>
              <a:buSzPct val="100000"/>
              <a:buChar char="•"/>
            </a:pPr>
            <a:r>
              <a:rPr lang="en-US" sz="1300" dirty="0">
                <a:solidFill>
                  <a:schemeClr val="tx1"/>
                </a:solidFill>
              </a:rPr>
              <a:t>New checks: BAT-05 end of day advances, BDT-01 to 03 date state and the admin display</a:t>
            </a:r>
            <a:endParaRPr lang="en-US" sz="1300" dirty="0"/>
          </a:p>
          <a:p>
            <a:pPr marL="228600" indent="-228600" algn="l">
              <a:spcAft>
                <a:spcPts val="400"/>
              </a:spcAft>
              <a:buSzPct val="100000"/>
              <a:buChar char="•"/>
            </a:pPr>
            <a:r>
              <a:rPr lang="en-US" sz="1300" dirty="0">
                <a:solidFill>
                  <a:schemeClr val="tx1"/>
                </a:solidFill>
              </a:rPr>
              <a:t>DPD-04 now expects days past due at the business date</a:t>
            </a:r>
            <a:endParaRPr lang="en-US" sz="1300" dirty="0"/>
          </a:p>
        </p:txBody>
      </p:sp>
      <p:sp>
        <p:nvSpPr>
          <p:cNvPr id="13" name="Shape 13"/>
          <p:cNvSpPr txBox="1"/>
          <p:nvPr/>
        </p:nvSpPr>
        <p:spPr>
          <a:xfrm>
            <a:off x="548640" y="4754880"/>
            <a:ext cx="11064240" cy="128016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What has been checked</a:t>
            </a:r>
            <a:endParaRPr lang="en-US" sz="1600" dirty="0"/>
          </a:p>
          <a:p>
            <a:pPr algn="l" indent="0" marL="0">
              <a:buNone/>
            </a:pPr>
            <a:r>
              <a:rPr lang="en-US" sz="1400" dirty="0">
                <a:solidFill>
                  <a:schemeClr val="tx1"/>
                </a:solidFill>
              </a:rPr>
              <a:t>The suite ran against a mock platform for 766 simulated days: the new checks pass, and injected bugs (stubbed jobs, wrong days past due, payment errors) are caught. It has not yet been run against the real services, and the Java changes have not been built with Maven.</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 business date, end of day and batch calls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Added in v1.4. Paths relative to /api/v1; business date and benchmark rates on lending-service, end of day on the batch service</a:t>
            </a:r>
            <a:endParaRPr lang="en-US" sz="1400" dirty="0"/>
          </a:p>
        </p:txBody>
      </p:sp>
      <p:graphicFrame>
        <p:nvGraphicFramePr>
          <p:cNvPr id="11" name="Table 11"/>
          <p:cNvGraphicFramePr>
            <a:graphicFrameLocks noGrp="1"/>
          </p:cNvGraphicFramePr>
          <p:nvPr/>
        </p:nvGraphicFramePr>
        <p:xfrm>
          <a:off x="548640" y="1463040"/>
          <a:ext cx="11064240" cy="4590288"/>
        </p:xfrm>
        <a:graphic>
          <a:graphicData uri="http://schemas.openxmlformats.org/drawingml/2006/table">
            <a:tbl>
              <a:tblPr/>
              <a:tblGrid>
                <a:gridCol w="1920240"/>
                <a:gridCol w="5120640"/>
                <a:gridCol w="4023360"/>
              </a:tblGrid>
              <a:tr h="365760">
                <a:tc>
                  <a:txBody>
                    <a:bodyPr/>
                    <a:lstStyle/>
                    <a:p>
                      <a:pPr indent="0" marL="0">
                        <a:buNone/>
                      </a:pPr>
                      <a:r>
                        <a:rPr lang="en-US" sz="1200" b="1" dirty="0">
                          <a:solidFill>
                            <a:schemeClr val="bg1"/>
                          </a:solidFill>
                        </a:rPr>
                        <a:t>Area</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150" b="1" dirty="0">
                          <a:solidFill>
                            <a:schemeClr val="tx2"/>
                          </a:solidFill>
                        </a:rPr>
                        <a:t>Business 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/business-date  |  /history  |  /working-day?date=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Current date, status and working-day flag; last 30 dates; working-day test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/business-date/eod/start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OPEN to EOD_RUNNING; 409 if already running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/business-date/advance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Body expectedBusinessDate; closes that date, opens the next; safe to repeat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PUT /business-date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Set the date while OPEN; forward only unless backward is allowed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/business-date/holidays?from=&amp;to=  |  PUT, DELETE /holidays/{date}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List, add or remove a holiday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Benchmark rates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PUT /benchmark-rates/{ref}/{effectiveDate}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Record a rate that takes effect on a 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/benchmark-rates/{ref}?asOf=  |  /{ref}/history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Rate in force on a date; all recorded rates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Per account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/loan-accounts/{id}/interest-accruals?businessDate=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POSTED, ALREADY_POSTED or SKIPPED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/loan-accounts/{id}/delinquency-classification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Days past due, previous and new status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/loan-accounts/{id}/rate-reset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RESET, UNCHANGED or SKIPPED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End of day (batch)</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/batch-admin/eod/run  |  GET /batch-admin/eod/status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Start a run (202, or 409 if running); progress of the current or last run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Lending Platform">
  <a:themeElements>
    <a:clrScheme name="Red and Black">
      <a:dk1>
        <a:srgbClr val="111111"/>
      </a:dk1>
      <a:lt1>
        <a:srgbClr val="FFFFFF"/>
      </a:lt1>
      <a:dk2>
        <a:srgbClr val="1A1A1A"/>
      </a:dk2>
      <a:lt2>
        <a:srgbClr val="F5ECEC"/>
      </a:lt2>
      <a:accent1>
        <a:srgbClr val="C8102E"/>
      </a:accent1>
      <a:accent2>
        <a:srgbClr val="BFBFBF"/>
      </a:accent2>
      <a:accent3>
        <a:srgbClr val="7A0F1E"/>
      </a:accent3>
      <a:accent4>
        <a:srgbClr val="3C3C3C"/>
      </a:accent4>
      <a:accent5>
        <a:srgbClr val="6E6E6E"/>
      </a:accent5>
      <a:accent6>
        <a:srgbClr val="262626"/>
      </a:accent6>
      <a:hlink>
        <a:srgbClr val="C8102E"/>
      </a:hlink>
      <a:folHlink>
        <a:srgbClr val="7B5EA7"/>
      </a:folHlink>
    </a:clrScheme>
    <a:fontScheme name="Lending Platfo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Platform - Architecture, Data Model and Loan Lifecycle</dc:title>
  <dc:subject>PptxGenJS Presentation</dc:subject>
  <dc:creator>Kiran</dc:creator>
  <cp:lastModifiedBy>Kiran</cp:lastModifiedBy>
  <cp:revision>1</cp:revision>
  <dcterms:created xsi:type="dcterms:W3CDTF">2026-10-11T09:12:14Z</dcterms:created>
  <dcterms:modified xsi:type="dcterms:W3CDTF">2026-10-11T09:12:14Z</dcterms:modified>
</cp:coreProperties>
</file>