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2572a4c-ab72-592f-23e9-0d5392e04b40}">
          <p14:sldIdLst>
            <p14:sldId id="256"/>
            <p14:sldId id="257"/>
          </p14:sldIdLst>
        </p14:section>
        <p14:section name="Architecture" id="{cf56abd9-5e8c-f070-5b9b-95780898c674}">
          <p14:sldIdLst>
            <p14:sldId id="258"/>
            <p14:sldId id="259"/>
          </p14:sldIdLst>
        </p14:section>
        <p14:section name="Data model" id="{aed94b65-eb80-0801-316c-c7bb7432e718}">
          <p14:sldIdLst>
            <p14:sldId id="260"/>
            <p14:sldId id="261"/>
          </p14:sldIdLst>
        </p14:section>
        <p14:section name="Flows" id="{636642e2-8131-4d3c-9fc5-63ccccb49412}">
          <p14:sldIdLst>
            <p14:sldId id="262"/>
            <p14:sldId id="263"/>
            <p14:sldId id="264"/>
            <p14:sldId id="265"/>
          </p14:sldIdLst>
        </p14:section>
        <p14:section name="Lifecycle" id="{9707137d-4485-7117-d653-23a76ff75712}">
          <p14:sldIdLst>
            <p14:sldId id="266"/>
            <p14:sldId id="267"/>
          </p14:sldIdLst>
        </p14:section>
        <p14:section name="Reference" id="{6119cc9e-3cba-bd8b-bfb1-3d18793eea5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lending platform: two Spring Boot services over one PostgreSQL database, deployed as a trial on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numbers, then one card per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call lending-service over REST. Operators call the batch admin API. Both services use the same PostgreSQL instance, in different schemas. Kafka and the core ledger are external.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trial environment. The lending-service URL is the sandbox. The batch service URL is assigned by Render and is visible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relationship view of the public schema. interest_accrual and emi_transaction are partitioned monthly.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deliberate decision. The partition rule was the cause of the October 409 error and is now fixed by migration V9 plus a startup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the generic path. Middle row is what POST /loan-accounts/{id}/disburse does inside the service layer. Bottom row lists behaviour shared by all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on account type. The mortgage branch creates the mortgage with valuation and LTV, then registers the charge. Disburse is idempotent.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 must equal the instalment due. Part-payment reduces principal and re-versions the schedule. Foreclosure pays outstanding principal plus accrued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Quartz fires each job on its cron. DPD update must finish before NPA classification. The framework is live; every job body is still a stub.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right. Business is what the bank does, System is what the platform records, API is the call that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Buckets are days past due on the oldest unpaid instalment. The classification run recomputes status for all tracked accounts. WRITTEN_OFF exists as a status and blocks payments, but nothing sets it automatically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table. Paths are relative to /api/v1.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the REST lifecycle is real; the batch job bodies, ledger integration, Kafka and authentication are still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Lending Platform  |  Architecture and loan lifecycle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Platform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Architecture, data model and the loan lifecycle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lending-service  |  lending-batch-service  |  PostgreSQL  |  Render sandbox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5257800"/>
            <a:ext cx="9875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Sanction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Onboard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Secure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5029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Disburse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Repay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Monitor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52760" y="5029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5577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Close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built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Two services, one database, the full loan lifecycle from sanction to closure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Spring Boot services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Flyway migrations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REST endpoints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batch job slots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83280"/>
            <a:ext cx="5440680" cy="2651760"/>
          </a:xfrm>
          <a:prstGeom prst="roundRect">
            <a:avLst>
              <a:gd name="adj" fmla="val 275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93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lending-service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Java 21  |  Spring Boot 3.3  |  port 8080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160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Accounts: create, bulk create, disburse, lookup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Amortisation schedules with versioning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EMI, part-payment and foreclosure postings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Daily interest accrual and delinquency (DPD / NPA) classification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Mortgage charge and valuation tracking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Ledger outbox and customer PDF statements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383280"/>
            <a:ext cx="5440680" cy="2651760"/>
          </a:xfrm>
          <a:prstGeom prst="roundRect">
            <a:avLst>
              <a:gd name="adj" fmla="val 275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493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lending-batch-service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Java 17  |  Spring Batch 5  |  Quartz  |  Kafka producer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4160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Quartz clustered scheduler over the same PostgreSQL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36 configured jobs: 13 daily, 11 monthly, 12 periodic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Retry, skip and dead-letter handling per job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Admin REST API: trigger, back-date, status, reload config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Job definitions live in a database table, reloadable without restart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Two stateless services share one PostgreSQL database; external systems sit at the edges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651760" y="1463040"/>
            <a:ext cx="320040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Swagger UI  |  channel and partner apps  |  scripts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463040"/>
            <a:ext cx="320040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Operators  (HTTP Basic, BATCH_ADMIN role)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51960" y="214884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434340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REST / JSON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18120" y="214884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90956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REST / JSON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2697480"/>
            <a:ext cx="320040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2770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lending-service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Java 21  |  Spring Boot 3.3  |  :8080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333756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Accounts and bulk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333756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Schedule and accrual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384048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Payments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384048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Mortgage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434340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PDF statements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434340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Ledger outbox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697480"/>
            <a:ext cx="3200400" cy="2194560"/>
          </a:xfrm>
          <a:prstGeom prst="roundRect">
            <a:avLst>
              <a:gd name="adj" fmla="val 3333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2770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lending-batch-service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Java 17  |  Spring Batch 5  |  Quartz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333756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Quartz scheduler (clustered)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333756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36 job slots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84048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Admin REST API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384048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Dead-letter and audit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434340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Hot-reload job config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343400"/>
            <a:ext cx="1463040" cy="429768"/>
          </a:xfrm>
          <a:prstGeom prst="roundRect">
            <a:avLst>
              <a:gd name="adj" fmla="val 170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Kafka event producer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1089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Core banking ledger (external)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 flipH="1">
            <a:off x="2011680" y="3794760"/>
            <a:ext cx="6400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201168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outbox push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966960" y="3108960"/>
            <a:ext cx="16733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Kafka (external, optional)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418320" y="3794760"/>
            <a:ext cx="5486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9418320" y="3520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events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251960" y="489204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4343400" y="5029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JDBC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818120" y="489204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7909560" y="5029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JDBC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2651760" y="5440680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16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schema public: lending tables   |   schema batch: job config, error records, Spring Batch and Quartz tables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Render sandbox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Everything below is deployed from render.yaml on Render's free tier, region Singapore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943600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00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lending-service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928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https://lending-service-5tqm.onrender.com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219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Swagger UI: /swagger-ui/index.html   |   OpenAPI: /v3/api-docs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88920"/>
            <a:ext cx="5943600" cy="1143000"/>
          </a:xfrm>
          <a:prstGeom prst="roundRect">
            <a:avLst>
              <a:gd name="adj" fmla="val 6400"/>
            </a:avLst>
          </a:prstGeom>
          <a:solidFill>
            <a:schemeClr val="accent4">
              <a:alpha val="10000"/>
            </a:schemeClr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lending-batch-service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1729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assigned by Render (see the dashboard)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5021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 API: /api/v1/batch-admin/**  |  user batch-admin, password in BATCH_ADMIN_PASSWORD  |  /actuator/health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069080"/>
            <a:ext cx="5943600" cy="1143000"/>
          </a:xfrm>
          <a:prstGeom prst="roundRect">
            <a:avLst>
              <a:gd name="adj" fmla="val 6400"/>
            </a:avLst>
          </a:prstGeom>
          <a:solidFill>
            <a:schemeClr val="tx2">
              <a:alpha val="10000"/>
            </a:schemeClr>
          </a:solidFill>
          <a:ln w="15875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60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lending-db  (PostgreSQL 16)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453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connection only, shared by both services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78231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Free plan: the database is deleted after 30 days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Try it in five steps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Swagger on lending-service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2697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/loan-accounts/bulk/create with samples/bulk-create-100-accounts.json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3429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337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/loan-accounts/bulk/disburse with samples/bulk-disburse-100-accounts.json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/interest-accruals/run?businessDate=YYYY-MM-DD (or scripts/run-accrual.ps1)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892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4800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GET /loan-accounts/{id}/statement to download the customer PDF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Free-tier behaviour: services sleep after about 15 minutes idle, so the first call can take a minute. There is no Kafka broker on Render, so batch events are not delivered. The ledger gateway is a logging stub, so outbox rows are not posted anywhere yet.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model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loan_account is the hub; every other table hangs off account_id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291840" cy="31089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mortgage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82496"/>
            <a:ext cx="3291840" cy="170078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mortgage_id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UQ FK  account_id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property_type, property_address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valuation_amount, valuation_date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ltv_ratio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charge_status  PENDING | REGISTERED | RELEASED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cersai, deed and insurance refs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legal_verification_status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3291840" cy="31089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mortgage_valuation_history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34256"/>
            <a:ext cx="3291840" cy="87782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valuation_id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FK  mortgage_id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valuation_amount, valuation_date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valuer_ref, valuation_type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371600"/>
            <a:ext cx="3200400" cy="31089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processed_request  (idempotency log)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682496"/>
            <a:ext cx="3200400" cy="69494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idempotency_key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endpoint, account_id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response_status, response_body (JSONB)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514600"/>
            <a:ext cx="3200400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loan_account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825496"/>
            <a:ext cx="3200400" cy="211226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account_id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UQ  account_number, sanction_ref_id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customer_id, product_code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account_type  UNSECURED | MORTGAGE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rate_type, interest_rate, spread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day_count_convention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sanctioned_amount, disbursed_amount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tenure_months, emi_amount, emi_start_date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account_status  (11 states)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FK  mortgage_id,  version (optimistic lock)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5303520"/>
            <a:ext cx="3200400" cy="310896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ledger_outbox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5614416"/>
            <a:ext cx="3200400" cy="60350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outbox_id,  FK  account_id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event_type  DISBURSEMENT | EMI_POSTING | 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posting_status  PENDING | POSTED | FAILED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1371600"/>
            <a:ext cx="3108960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amortization_schedule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1682496"/>
            <a:ext cx="3108960" cy="119786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schedule_id,  FK  account_id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installment_number, due_date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principal, interest, outstanding balance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status  PENDING | PAID | OVERDUE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schedule_version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UQ  (account, installment, version)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3063240"/>
            <a:ext cx="3108960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interest_accrual  [monthly partitions]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3374136"/>
            <a:ext cx="3108960" cy="96926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(accrual_id, business_date)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FK  account_id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accrued_amount, outstanding_principal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UQ  (account_id, business_date)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4526280"/>
            <a:ext cx="3108960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emi_transaction  [monthly partitions]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837176"/>
            <a:ext cx="3108960" cy="133502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PK  (transaction_id, value_date)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FK  account_id,  installment_number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type  EMI | PART_PAYMENT | FORECLOSURE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amount, principal_paid, interest_paid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channel, payment_status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UQ  (account, idempotency_key, value_date)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0480" y="2834640"/>
            <a:ext cx="6400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384048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1 : 1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94560" y="3383280"/>
            <a:ext cx="0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28600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1 : 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80960" y="265176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7680960" y="2377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1 : 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80960" y="365760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7680960" y="3383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1 : 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680960" y="47548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680960" y="4480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1 : 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0760" y="493776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6172200" y="4983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1 : 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Six design rules in the schema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These choices make payments safe to retry and history safe to audit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Monthly partitions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interest_accrual and emi_transaction are range-partitioned by date, and their unique keys include the date. A startup job keeps six months of partitions ahead.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Versioned schedules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rate reset or part-payment writes a new schedule_version for the remaining instalments. The current schedule is the highest version; older ones stay for audit.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Idempotent by design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3317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Account creation keys on sanction_ref_id, payments on account plus idempotency key, accruals on account plus date. A retry never double-posts.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Transactional outbox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709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Disbursement, EMI and foreclosure write a ledger_outbox row in the same transaction. A push job later marks it POSTED or FAILED.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48056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0749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Optimistic locking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709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loan_account and mortgage carry a version column, so two concurrent writers cannot silently overwrite each other.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82396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Day-count aware interest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709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Daily interest uses the convention stored on the account: ACT/365, ACT/ACT or 30/360, applied to the current outstanding principal.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Application flow of one request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API call follows the same layered path; the example is a loan disbursement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Swagger, app or script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77440" y="198882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834640" y="150876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Bean validation, OpenAPI docs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98882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120640" y="150876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Business rules, @Transactional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49440" y="198882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7406640" y="150876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Spring Data JPA, native SQL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235440" y="198882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9692640" y="150876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Flyway-managed schema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Example: POST /api/v1/loan-accounts/{id}/disburse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20040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33101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Request body checked; amount and first EMI date required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560320" y="4023360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834640" y="320040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944368" y="33101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Guard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962656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must be PENDING_DISBURSEMENT; mortgage accounts need a linked charge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46320" y="4023360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120640" y="320040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230368" y="33101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687568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Activate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248656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Status becomes ACTIVE; schedule version 1 is generated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132320" y="4023360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406640" y="320040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516368" y="33101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973568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534656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DISBURSEMENT row is written to ledger_outbox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418320" y="4023360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9692640" y="320040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802368" y="33101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259568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Commit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820656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transaction; the response returns the account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1206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Errors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404 not found, 400 invalid input, 409 state or data conflict, mapped in one handler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3337560" y="51206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Retries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Replaying a disburse on an ACTIVE account returns it unchanged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126480" y="51206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Bulk calls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Up to 200 items; each item commits on its own and reports success or failure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915400" y="51206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Housekeeping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Partitions are created at startup and twice a month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Process flow: originate to disburse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Unsecured loans go straight to disbursement; mortgage loans need a registered charge first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Sanction approved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sanctionRefId issued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69164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 /loan-accounts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status PENDING_DISBURSEMENT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508760"/>
            <a:ext cx="1920240" cy="118872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Mortgage account?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41732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 /{id}/disburse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Account becomes 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Schedule version 1 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DISBURSEMENT event to ledger outbox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210312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0" y="210312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863840" y="2103120"/>
            <a:ext cx="9144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786384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No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03720" y="2697480"/>
            <a:ext cx="0" cy="685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995160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Yes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338328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 /mortgages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valuation, LTV ratio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338328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 /mortgages/{id}/charge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CERSAI and deed references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379476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V="1">
            <a:off x="10195560" y="2788920"/>
            <a:ext cx="0" cy="5943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548640" y="3383280"/>
            <a:ext cx="466344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Account status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PENDING_DISBURSEMENT  -&gt;  ACTIVE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Guards that protect the flow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93776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Retry-safe creation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Re-sending the same sanctionRefId returns the same account, never a second one.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297680" y="493776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Retry-safe disbursal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Disbursing an ACTIVE account returns it unchanged.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4937760"/>
            <a:ext cx="3566160" cy="1097280"/>
          </a:xfrm>
          <a:prstGeom prst="roundRect">
            <a:avLst>
              <a:gd name="adj" fmla="val 6667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Mortgage guard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mortgage account with no linked charge is rejected, so a secured loan is never released without its security.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Process flow: repayment and exit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Three ways money moves after disbursement; each is idempotent on account plus idempotency key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EMI 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POST /payments/emi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must be ACTIVE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31720" y="320040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342900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Amount must equal the EMI due on the oldest pending instalment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31720" y="416052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48640" y="4389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Instalment marked PAID; emi_transaction recorded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31720" y="512064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548640" y="534924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EMI_POSTING event queued; last instalment closes the account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150876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Part-payment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POST /payments/part-payment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4688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must be ACTIVE with pending instalments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80760" y="320040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297680" y="342900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Principal reduced by the amount paid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416052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297680" y="4389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Schedule regenerated as a new version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80760" y="512064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297680" y="534924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EMI_POSTING event queued; a full clearance closes the account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150876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Foreclosure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POST /payments/foreclosure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246888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Payoff = outstanding principal + accrued interest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829800" y="320040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8046720" y="342900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Accrued interest read from interest_accrual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829800" y="416052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8046720" y="4389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FORECLOSURE transaction recorded in full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829800" y="5120640"/>
            <a:ext cx="0" cy="228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8046720" y="534924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Status FORECLOSED; FORECLOSURE event queued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Process flow: the nightly batch chain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Thirteen daily jobs run in priority order between 01:00 and 02:00 server time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|  01:00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Interest accrual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011680" y="201168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1488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|  01:05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Penal interest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11880" y="201168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7490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 |  01:10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DPD update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2080" y="201168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53492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 |  01:15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NPA classification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201168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9494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|  01:20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Auto-debit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0" y="201168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85496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 |  01:25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Bounce and NSF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12680" y="201168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014984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 |  01:30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Disbursement settlement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7889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  |  01:35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GL reconciliation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11680" y="324612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148840" y="27889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  |  01:40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Limit utilisation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11880" y="324612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3749040" y="27889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  |  01:45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Fees and charges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212080" y="324612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5349240" y="27889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  |  01:50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SOD / EOD balancing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12280" y="324612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6949440" y="27889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  |  01:55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Statement notices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412480" y="324612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8549640" y="27889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  |  02:00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Rate-reset check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74904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Amber: DPD update must complete before NPA classification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16052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Monthly  (11)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EMI billing, interest capitalisation, provisioning, rate reset, schedule refresh, month-end GL close, bureau and regulatory extracts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6052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Periodic  (12)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Quarterly NPA provisioning review, stress testing and rate reset; annual insurance and credit-limit review; document expiry; event-triggered jobs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046720" y="416052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Status today</a:t>
            </a:r>
            <a:endParaRPr lang="en-US" sz="1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Scheduler, retry, skip, dead-letter and admin API are live. All 36 job bodies are stubs, so accrual and delinquency run through lending-service REST for now.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Business flow: the loan lifecycle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Six stages from approved credit to a closed account, with the system action and API behind each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828800" cy="82296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Sanction and onboard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" y="2514600"/>
            <a:ext cx="1755648" cy="3703320"/>
          </a:xfrm>
          <a:prstGeom prst="roundRect">
            <a:avLst>
              <a:gd name="adj" fmla="val 4167"/>
            </a:avLst>
          </a:prstGeom>
          <a:solidFill>
            <a:schemeClr val="accent1">
              <a:alpha val="9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BUSINESS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81635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Credit approved and terms agreed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SYSTEM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050792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 created and awaiting disbursement; unique account number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5257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API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545896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/loan-accounts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/bulk/create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1508760"/>
            <a:ext cx="182880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Secure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450592" y="2514600"/>
            <a:ext cx="1755648" cy="3703320"/>
          </a:xfrm>
          <a:prstGeom prst="roundRect">
            <a:avLst>
              <a:gd name="adj" fmla="val 4167"/>
            </a:avLst>
          </a:prstGeom>
          <a:solidFill>
            <a:schemeClr val="accent1">
              <a:alpha val="9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32888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BUSINESS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532888" y="281635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Property valued and charge registered (mortgage only)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32888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SYSTEM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532888" y="4050792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LTV computed; CERSAI and deed refs stored; revaluation tracked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32888" y="5257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API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532888" y="545896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/mortgages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/{id}/charge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1508760"/>
            <a:ext cx="1828800" cy="82296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Disburse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325112" y="2514600"/>
            <a:ext cx="1755648" cy="3703320"/>
          </a:xfrm>
          <a:prstGeom prst="roundRect">
            <a:avLst>
              <a:gd name="adj" fmla="val 4167"/>
            </a:avLst>
          </a:prstGeom>
          <a:solidFill>
            <a:schemeClr val="accent1">
              <a:alpha val="9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407408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BUSINESS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281635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Funds released; first EMI date fixed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407408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SYSTEM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407408" y="4050792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 ACTIVE; schedule v1; ledger event queued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407408" y="5257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407408" y="545896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/{id}/disburse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/bulk/disburse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172200" y="1508760"/>
            <a:ext cx="182880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Repay and accrue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199632" y="2514600"/>
            <a:ext cx="1755648" cy="3703320"/>
          </a:xfrm>
          <a:prstGeom prst="roundRect">
            <a:avLst>
              <a:gd name="adj" fmla="val 4167"/>
            </a:avLst>
          </a:prstGeom>
          <a:solidFill>
            <a:schemeClr val="accent1">
              <a:alpha val="9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281928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BUSINESS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281928" y="281635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pays EMIs, may part-pay; floating rates reset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281928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SYSTEM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281928" y="4050792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Instalments PAID; daily interest accrued; schedule re-versioned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281928" y="5257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281928" y="545896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/payments/emi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/part-payment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/rate-resets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046720" y="1508760"/>
            <a:ext cx="182880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 and recover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074152" y="2514600"/>
            <a:ext cx="1755648" cy="3703320"/>
          </a:xfrm>
          <a:prstGeom prst="roundRect">
            <a:avLst>
              <a:gd name="adj" fmla="val 4167"/>
            </a:avLst>
          </a:prstGeom>
          <a:solidFill>
            <a:schemeClr val="accent1">
              <a:alpha val="9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156448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BUSINESS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156448" y="281635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Missed EMI ages into DPD and NPA buckets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156448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SYSTEM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156448" y="4050792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Overdue instalments flagged; status SMA0 to LOSS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156448" y="5257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API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156448" y="545896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/delinquency-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classifications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9921240" y="1508760"/>
            <a:ext cx="182880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Close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948672" y="2514600"/>
            <a:ext cx="1755648" cy="3703320"/>
          </a:xfrm>
          <a:prstGeom prst="roundRect">
            <a:avLst>
              <a:gd name="adj" fmla="val 4167"/>
            </a:avLst>
          </a:prstGeom>
          <a:solidFill>
            <a:schemeClr val="accent1">
              <a:alpha val="9000"/>
            </a:schemeClr>
          </a:solidFill>
          <a:ln w="1270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0030968" y="2606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BUSINESS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030968" y="2816352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 EMI, early payoff or write-off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0030968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SYSTEM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0030968" y="4050792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CLOSED or FORECLOSED; statement available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10030968" y="5257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API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0030968" y="545896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/payments/foreclosure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/{id}/statement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Account status model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Delinquency moves an account down the ladder; clearing dues brings it back to ACTIVE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PENDING_DISBURSEMENT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69164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ACTIVE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6916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CLOSED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74320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FORECLOSED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17520" y="2057400"/>
            <a:ext cx="9144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017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disburse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057400"/>
            <a:ext cx="1554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60807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last EMI paid or balance cleared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2331720"/>
            <a:ext cx="1554480" cy="7772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35508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foreclosure payoff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SMA0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 to 30 days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0" y="434340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1488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SMA1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31 to 60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11880" y="434340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37490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SMA2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61 to 90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212080" y="434340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3492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SUBSTANDARD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91 to 365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12280" y="434340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9494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DOUBTFUL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366 to 1095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412480" y="434340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85496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LOSS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over 1095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12680" y="434340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10149840" y="393192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WRITTEN_OFF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not automated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 flipH="1">
            <a:off x="1280160" y="2423160"/>
            <a:ext cx="3017520" cy="1508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13716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EMI missed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 flipV="1">
            <a:off x="4663440" y="2423160"/>
            <a:ext cx="274320" cy="1508760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502920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all dues paid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1264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Days past due on the oldest unpaid instalment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0292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it runs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 /loan-accounts/delinquency-classifications with an as-of date recomputes every tracked account and marks the oldest late instalment OVERDUE.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297680" y="50292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Payments blocked in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PENDING_DISBURSEMENT, CLOSED, FORECLOSED and WRITTEN_OFF accounts reject EMI, part-payment and foreclosure postings.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046720" y="502920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Customer view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PDF statement shows plain wording, never NPA codes: for example "Payment overdue" instead of SMA1.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API catalogue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Base path /api/v1; lending-service on port 8080, batch admin on lending-batch-service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858000"/>
                <a:gridCol w="301752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Accounts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/loan-accounts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 an account; idempotent on sanctionRefId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/loan-accounts/bulk/create  |  /bulk/disburse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 to 200 items per call, per-item result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/loan-accounts/{id}/disburse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Activate and generate schedule v1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/loan-accounts/{id}  |  /by-account-number/{no}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Look up an account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/loan-accounts/rate-resets  |  /delinquency-classifications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Floating rate reset; DPD and NPA classification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Schedule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/loan-accounts/{id}/schedule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Current amortisation schedule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Payments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/loan-accounts/{id}/payments/emi  |  part-payment  |  foreclosure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a repayment or an exit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Accrual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/interest-accruals/run?businessDate=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Accrue interest for all ACTIVE accounts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/loan-accounts/{id}/interest-accruals/{date}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One account's accrual for a date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Mortgage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/mortgages  |  /{id}/charge  |  /{id}/valuations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Create, register charge, record valuation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/mortgages/{id}  |  /by-account/{id}  |  /due-for-revaluation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Look up and find revaluations due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Statement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/loan-accounts/{id}/statement  |  by-account-number/{no}/statement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Customer PDF download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Ledger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/ledger-outbox/push  |  GET /ledger-outbox/pending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Push or inspect pending ledger events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Batch admin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/batch-admin/jobs  |  /status/today  |  POST /jobs/{name}/trigger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List, trigger or back-date jobs; status view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we are and what is next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lifecycle works end to end in the sandbox; the nightly automation and integrations are the gap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chemeClr val="accent1">
              <a:alpha val="30000"/>
            </a:schemeClr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today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Create, bulk create and disburse accounts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Schedules with part-payment and rate-reset versioning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EMI, part-payment and foreclosure postings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Interest accrual and delinquency runs through REST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Customer PDF statement download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Monthly partitions kept ahead automatically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Free sandbox on Render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chemeClr val="accent2">
              <a:alpha val="18000"/>
            </a:schemeClr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28600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Write the 36 batch job bodies, starting with accrual, DPD and NPA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Add authentication and tie statements to the logged-in customer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Replace the logging ledger stub with the real core-banking client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Provide a Kafka broker for batch events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Move off free hosting: the database expires after 30 days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Run the full test suite in CI against PostgreSQL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ding Platform">
  <a:themeElements>
    <a:clrScheme name="Lending Platform">
      <a:dk1>
        <a:srgbClr val="14232B"/>
      </a:dk1>
      <a:lt1>
        <a:srgbClr val="FFFFFF"/>
      </a:lt1>
      <a:dk2>
        <a:srgbClr val="0B3B46"/>
      </a:dk2>
      <a:lt2>
        <a:srgbClr val="EAF2F1"/>
      </a:lt2>
      <a:accent1>
        <a:srgbClr val="0E7C7B"/>
      </a:accent1>
      <a:accent2>
        <a:srgbClr val="E8A33D"/>
      </a:accent2>
      <a:accent3>
        <a:srgbClr val="C8423B"/>
      </a:accent3>
      <a:accent4>
        <a:srgbClr val="3E5C76"/>
      </a:accent4>
      <a:accent5>
        <a:srgbClr val="4C7A34"/>
      </a:accent5>
      <a:accent6>
        <a:srgbClr val="7B5EA7"/>
      </a:accent6>
      <a:hlink>
        <a:srgbClr val="0E7C7B"/>
      </a:hlink>
      <a:folHlink>
        <a:srgbClr val="7B5EA7"/>
      </a:folHlink>
    </a:clrScheme>
    <a:fontScheme name="Lending Platfo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Platform - Architecture, Data Model and Loan Lifecycle</dc:title>
  <dc:subject>PptxGenJS Presentation</dc:subject>
  <dc:creator>Kiran</dc:creator>
  <cp:lastModifiedBy>Kiran</cp:lastModifiedBy>
  <cp:revision>1</cp:revision>
  <dcterms:created xsi:type="dcterms:W3CDTF">2026-10-10T17:18:53Z</dcterms:created>
  <dcterms:modified xsi:type="dcterms:W3CDTF">2026-10-10T17:18:53Z</dcterms:modified>
</cp:coreProperties>
</file>