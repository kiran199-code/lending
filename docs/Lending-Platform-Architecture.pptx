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1dbbad1-870d-0c9d-1075-751aacd08455}">
          <p14:sldIdLst>
            <p14:sldId id="256"/>
            <p14:sldId id="257"/>
          </p14:sldIdLst>
        </p14:section>
        <p14:section name="Architecture" id="{22bd3dad-cacc-4422-c56b-6a2efb2c63d7}">
          <p14:sldIdLst>
            <p14:sldId id="258"/>
            <p14:sldId id="259"/>
          </p14:sldIdLst>
        </p14:section>
        <p14:section name="Data model" id="{2ce81484-b38b-a088-1de2-9a3707ebccdf}">
          <p14:sldIdLst>
            <p14:sldId id="260"/>
            <p14:sldId id="261"/>
          </p14:sldIdLst>
        </p14:section>
        <p14:section name="Flows" id="{67806dcc-00bd-36e8-67fb-dbf6ad549151}">
          <p14:sldIdLst>
            <p14:sldId id="262"/>
            <p14:sldId id="263"/>
            <p14:sldId id="264"/>
            <p14:sldId id="265"/>
          </p14:sldIdLst>
        </p14:section>
        <p14:section name="Lifecycle" id="{4e938ae8-0ef7-10ff-abff-a8b42297007b}">
          <p14:sldIdLst>
            <p14:sldId id="266"/>
            <p14:sldId id="267"/>
          </p14:sldIdLst>
        </p14:section>
        <p14:section name="Admin portal" id="{06c620dd-cf29-46b3-a4a9-6260e0a3cd9a}">
          <p14:sldIdLst>
            <p14:sldId id="268"/>
            <p14:sldId id="269"/>
            <p14:sldId id="270"/>
          </p14:sldIdLst>
        </p14:section>
        <p14:section name="Reference" id="{43441d28-e7b4-6c4e-1203-4e7bcd536994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lending platform: two Spring Boot services over one PostgreSQL database, deployed as a trial on 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headline numbers, then one card per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call lending-service over REST. Operators call the batch admin API. Both services use the same PostgreSQL instance, in different schemas. Kafka and the core ledger are external.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live trial environment. The lending-service URL is the sandbox. The batch service URL is assigned by Render and is visible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Entity relationship view of the public schema. interest_accrual and emi_transaction are partitioned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 is a deliberate decision. The partition rule was the cause of the October 409 error and is now fixed by migration V9 plus a startup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 is the generic path. Middle row is what POST /loan-accounts/{id}/disburse does inside the service layer. Bottom row lists behaviour shared by all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on account type. The mortgage branch creates the mortgage with valuation and LTV, then registers the charge. Disburse is idempotent.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EMI must equal the instalment due. Part-payment reduces principal and re-versions the schedule. Foreclosure pays outstanding principal plus accrued interest.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Quartz fires each job on its cron. DPD update must finish before NPA classification. The framework is live; every job body is still a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right. Business is what the bank does, System is what the platform records, API is the call that does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Buckets are days past due on the oldest unpaid instalment. The classification run recomputes status for all tracked accounts. WRITTEN_OFF exists as a status and blocks payments, but nothing sets it automatically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microservice. Spring Boot API plus React UI in one container. It connects to the same PostgreSQL database with a read-only session, because the Lending REST API has no list, search or portfolio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map to the requirements: account inquiry, amortization, accrual and payment details, upcoming payments, plus overdue, ledger outbox and batch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admin portal URL suffix is assigned by Render when the service is first created; copy it from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table. Paths are relative to /api/v1.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candid: the REST lifecycle is real; the batch job bodies, ledger integration, Kafka and authentication are still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Lending Platform  |  Architecture and loan lifecycle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Lending Platform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Architecture, data model and the loan lifecycle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lending-service  |  lending-batch-service  |  lending-admin-service  |  PostgreSQL  |  Render sandbox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5840" y="5257800"/>
            <a:ext cx="98755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Sanction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Onboard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Secure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5029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Disburse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Repay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Monitor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Close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What we built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Two services, one database, the full loan lifecycle from sanction to closure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Spring Boot services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Flyway migrations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25+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REST endpoints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batch job slots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38328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930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lending-service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840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Java 21  |  Spring Boot 3.3  |  port 8080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16052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Accounts: create, bulk create, disburse, lookup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Amortisation schedules with versioning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EMI, part-payment and foreclosure postings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Daily interest accrual and delinquency (DPD / NPA) classification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Mortgage charge and valuation tracking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Ledger outbox and customer PDF statements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338328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34930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lending-batch-service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3840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Java 17  |  Spring Batch 5  |  Quartz  |  Kafka producer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416052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Quartz clustered scheduler over the same PostgreSQL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36 configured jobs: 13 daily, 11 monthly, 12 periodic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Retry, skip and dead-letter handling per job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Admin REST API: trigger, back-date, status, reload config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Job definitions live in a database table, reloadable without restart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Two stateless services share one PostgreSQL database; external systems sit at the edges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651760" y="146304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Swagger UI  |  channel and partner apps  |  scripts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46304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Operators  (HTTP Basic, BATCH_ADMIN role)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51960" y="214884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434340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REST / JSON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818120" y="214884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790956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REST / JSON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2697480"/>
            <a:ext cx="320040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788920" y="2770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lending-service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Java 21  |  Spring Boot 3.3  |  :8080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333756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Accounts and bulk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333756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Schedule and accrual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384048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Payments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384048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Mortgage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743200" y="434340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PDF statements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34340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Ledger outbox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2697480"/>
            <a:ext cx="3200400" cy="2194560"/>
          </a:xfrm>
          <a:prstGeom prst="roundRect">
            <a:avLst>
              <a:gd name="adj" fmla="val 3333"/>
            </a:avLst>
          </a:prstGeom>
          <a:solidFill>
            <a:schemeClr val="accent4">
              <a:alpha val="12000"/>
            </a:schemeClr>
          </a:solidFill>
          <a:ln w="1905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2770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lending-batch-service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Java 17  |  Spring Batch 5  |  Quartz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333756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Quartz scheduler (clustered)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333756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36 job slots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84048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Admin REST API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84048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Dead-letter and audit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434340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Hot-reload job config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4343400"/>
            <a:ext cx="1463040" cy="429768"/>
          </a:xfrm>
          <a:prstGeom prst="roundRect">
            <a:avLst>
              <a:gd name="adj" fmla="val 17021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Kafka event producer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3108960"/>
            <a:ext cx="1463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Core banking ledger (external)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 flipH="1">
            <a:off x="2011680" y="3794760"/>
            <a:ext cx="64008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11680" y="3520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outbox push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966960" y="3108960"/>
            <a:ext cx="16733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Kafka (external, optional)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418320" y="3794760"/>
            <a:ext cx="54864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9418320" y="3520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events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251960" y="489204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4343400" y="50292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JDBC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18120" y="489204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7909560" y="50292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JDBC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2651760" y="5440680"/>
            <a:ext cx="676656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PostgreSQL 16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schema public: lending tables   |   schema batch: job config, error records, Spring Batch and Quartz tables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Render sandbox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Everything below is deployed from render.yaml on Render's free tier, region Singapore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943600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600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lending-service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8928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https://lending-service-5tqm.onrender.com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2199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Swagger UI: /swagger-ui/index.html   |   OpenAPI: /v3/api-docs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788920"/>
            <a:ext cx="5943600" cy="1143000"/>
          </a:xfrm>
          <a:prstGeom prst="roundRect">
            <a:avLst>
              <a:gd name="adj" fmla="val 6400"/>
            </a:avLst>
          </a:prstGeom>
          <a:solidFill>
            <a:schemeClr val="accent4">
              <a:alpha val="10000"/>
            </a:schemeClr>
          </a:solidFill>
          <a:ln w="15875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880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lending-batch-service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1729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assigned by Render (see the dashboard)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50215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Admin API: /api/v1/batch-admin/**  |  user batch-admin, password in BATCH_ADMIN_PASSWORD  |  /actuator/health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069080"/>
            <a:ext cx="5943600" cy="1143000"/>
          </a:xfrm>
          <a:prstGeom prst="roundRect">
            <a:avLst>
              <a:gd name="adj" fmla="val 6400"/>
            </a:avLst>
          </a:prstGeom>
          <a:solidFill>
            <a:schemeClr val="tx2">
              <a:alpha val="10000"/>
            </a:schemeClr>
          </a:solidFill>
          <a:ln w="15875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lending-db  (PostgreSQL 16)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4531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 connection only, shared by both services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78231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Free plan: the database is deleted after 30 days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Try it in five steps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19659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1874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Swagger on lending-service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2606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/loan-accounts/bulk/create with samples/bulk-create-100-accounts.json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3429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3375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/loan-accounts/bulk/disburse with samples/bulk-disburse-100-accounts.json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4069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/interest-accruals/run?businessDate=YYYY-MM-DD (or scripts/run-accrual.ps1)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48920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4800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GET /loan-accounts/{id}/statement to download the customer PDF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accent2">
              <a:alpha val="30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Free-tier behaviour: services sleep after about 15 minutes idle, so the first call can take a minute. There is no Kafka broker on Render, so batch events are not delivered. The ledger gateway is a logging stub, so outbox rows are not posted anywhere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Data model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loan_account is the hub; every other table hangs off account_id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29184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mortgage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82496"/>
            <a:ext cx="3291840" cy="17007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mortgage_id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property_type, property_address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valuation_amount, valuation_date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ltv_ratio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charge_status  PENDING | REGISTERED | RELEASED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cersai, deed and insurance refs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legal_verification_status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23360"/>
            <a:ext cx="329184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mortgage_valuation_history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34256"/>
            <a:ext cx="3291840" cy="87782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valuation_id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mortgage_id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valuation_amount, valuation_date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valuer_ref, valuation_type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371600"/>
            <a:ext cx="320040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processed_request  (idempotency log)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1682496"/>
            <a:ext cx="3200400" cy="69494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idempotency_key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endpoint,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response_status, response_body (JSONB)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2514600"/>
            <a:ext cx="320040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loan_account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825496"/>
            <a:ext cx="3200400" cy="21122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account_number, sanction_ref_id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customer_id, product_code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account_type  UNSECURED | MORTGAGE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rate_type, interest_rate, spread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day_count_convention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sanctioned_amount, disbursed_amount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tenure_months, emi_amount, emi_start_date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account_status  (11 states)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mortgage_id,  version (optimistic lock)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5303520"/>
            <a:ext cx="3200400" cy="310896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ledger_outbox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5614416"/>
            <a:ext cx="3200400" cy="60350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outbox_id, 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event_type  DISBURSEMENT | EMI_POSTING | ...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posting_status  PENDING | POSTED | FAILED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137160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amortization_schedule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1682496"/>
            <a:ext cx="3108960" cy="11978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schedule_id, 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installment_number, due_date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principal, interest, outstanding balance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status  PENDING | PAID | OVERDUE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schedule_version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(account, installment, version)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0" y="306324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interest_accrual  [monthly partitions]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3374136"/>
            <a:ext cx="3108960" cy="9692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(accrual_id, business_date)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accrued_amount, outstanding_principal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(account_id, business_date)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452628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emi_transaction  [monthly partitions]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837176"/>
            <a:ext cx="3108960" cy="133502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(transaction_id, value_date)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account_id,  installment_number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type  EMI | PART_PAYMENT | FORECLOSURE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amount, principal_paid, interest_paid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channel, payment_status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(account, idempotency_key, value_date)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2834640"/>
            <a:ext cx="64008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3840480" y="2560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1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194560" y="3383280"/>
            <a:ext cx="0" cy="6400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286000" y="3566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680960" y="265176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7680960" y="23774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80960" y="365760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7680960" y="3383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680960" y="475488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7680960" y="4480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080760" y="4937760"/>
            <a:ext cx="0" cy="3657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6172200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Six design rules in the schema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These choices make payments safe to retry and history safe to audit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Monthly partitions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interest_accrual and emi_transaction are range-partitioned by date, and their unique keys include the date. A startup job keeps six months of partitions ahead.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Versioned schedules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rate reset or part-payment writes a new schedule_version for the remaining instalments. The current schedule is the highest version; older ones stay for audit.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2396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Idempotent by design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creation keys on sanction_ref_id, payments on account plus idempotency key, accruals on account plus date. A retry never double-posts.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Transactional outbox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Disbursement, EMI and foreclosure write a ledger_outbox row in the same transaction. A push job later marks it POSTED or FAILED.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48056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07492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Optimistic locking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loan_account and mortgage carry a version column, so two concurrent writers cannot silently overwrite each other.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04672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2396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Day-count aware interest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interest uses the convention stored on the account: ACT/365, ACT/ACT or 30/360, applied to the current outstanding principal.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Application flow of one request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API call follows the same layered path; the example is a loan disbursement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Swagger, app or script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377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834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Bean validation, OpenAPI docs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5120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Business rules, @Transactional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406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Repository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Spring Data JPA, native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9692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Flyway-managed schema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Example: POST /api/v1/loan-accounts/{id}/disburse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Validate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Request body checked; amount and first EMI date required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560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34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944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Guard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62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PENDING_DISBURSEMENT; mortgage accounts need a linked charge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46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120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30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687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Activate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248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Status becomes ACTIVE; schedule version 1 is generated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132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7406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516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973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Record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534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DISBURSEMENT row is written to ledger_outbox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9418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9692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802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0259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Commit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820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transaction; the response returns the account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Errors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404 not found, 400 invalid input, 409 state or data conflict, mapped in one handler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333756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Retries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Replaying a disburse on an ACTIVE account returns it unchanged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12648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Bulk calls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Up to 200 items; each item commits on its own and reports success or failure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91540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Housekeeping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Partitions are created at startup and twice a month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originate to disburse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Unsecured loans go straight to disbursement; mortgage loans need a registered charge first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Sanction approved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sanctionRefId issued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1691640"/>
            <a:ext cx="246888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/loan-accounts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status PENDING_DISBURSEMENT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508760"/>
            <a:ext cx="1920240" cy="1188720"/>
          </a:xfrm>
          <a:prstGeom prst="diamond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Mortgage account?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1417320"/>
            <a:ext cx="283464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 /{id}/disburse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Account becomes ACTIVE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Schedule version 1 generated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DISBURSEMENT event to ledger outbox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60320" y="21031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486400" y="21031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7863840" y="2103120"/>
            <a:ext cx="9144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786384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03720" y="2697480"/>
            <a:ext cx="0" cy="6858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6995160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Yes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3383280"/>
            <a:ext cx="228600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/mortgages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valuation, LTV ratio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778240" y="3383280"/>
            <a:ext cx="28346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/mortgages/{id}/charge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CERSAI and deed references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46720" y="3794760"/>
            <a:ext cx="7315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10195560" y="2788920"/>
            <a:ext cx="0" cy="59436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548640" y="3383280"/>
            <a:ext cx="4663440" cy="822960"/>
          </a:xfrm>
          <a:prstGeom prst="roundRect">
            <a:avLst>
              <a:gd name="adj" fmla="val 8889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Account status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PENDING_DISBURSEMENT  -&gt;  ACTIVE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526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Guards that protect the flow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Retry-safe creation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Re-sending the same sanctionRefId returns the same account, never a second one.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Retry-safe disbursal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Disbursing an ACTIVE account returns it unchanged.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Mortgage guard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mortgage account with no linked charge is rejected, so a secured loan is never released without its security.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repayment and exit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Three ways money moves after disbursement; each is idempotent on account plus idempotency key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EMI payment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/payments/emi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ACTIVE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3172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Amount must equal the EMI due on the oldest pending instalment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33172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54864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Instalment marked PAID; emi_transaction recorded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33172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4864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EMI_POSTING event queued; last instalment closes the account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Part-payment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/payments/part-payment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ACTIVE with pending instalments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8076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429768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Principal reduced by the amount paid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08076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29768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Schedule regenerated as a new version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08076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429768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EMI_POSTING event queued; a full clearance closes the account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Foreclosure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/payments/foreclosure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Payoff = outstanding principal + accrued interest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82980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804672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Accrued interest read from interest_accrual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82980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04672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FORECLOSURE transaction recorded in full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82980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804672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Status FORECLOSED; FORECLOSURE event queued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the nightly batch chain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Thirteen daily jobs run in priority order between 01:00 and 02:00 server time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|  01:00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Interest accrual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0116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1488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|  01:05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Penal interest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118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37490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|  01:10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DPD update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3492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|  01:15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NPA classification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122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69494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|  01:20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Auto-debit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4124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85496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|  01:25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Bounce and NSF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126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01498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|  01:30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Disbursement settlement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  |  01:35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GL reconciliation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116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1488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  |  01:40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Limit utilisation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118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37490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  |  01:45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Fees and charges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2120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3492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11  |  01:50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SOD / EOD balancing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8122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69494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  |  01:55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Statement notices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4124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85496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13  |  02:00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Rate-reset check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4904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Amber: DPD update must complete before NPA classification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Monthly  (11)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EMI billing, interest capitalisation, provisioning, rate reset, schedule refresh, month-end GL close, bureau and regulatory extracts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Periodic  (12)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Quarterly NPA provisioning review, stress testing and rate reset; annual insurance and credit-limit review; document expiry; event-triggered jobs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04672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2">
              <a:alpha val="30000"/>
            </a:schemeClr>
          </a:solidFill>
          <a:ln w="12700">
            <a:solidFill>
              <a:schemeClr val="accent2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today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Scheduler, retry, skip, dead-letter and admin API are live. All 36 job bodies are stubs, so accrual and delinquency run through lending-service REST for now.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Business flow: the loan lifecycle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Six stages from approved credit to a closed account, with the system action and API behind each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828800" cy="822960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Sanction and onboard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Credit approved and terms agreed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 created and awaiting disbursement; unique account number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/loan-accounts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/bulk/create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45059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53288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Property valued and charge registered (mortgage only)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53288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53288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LTV computed; CERSAI and deed refs stored; revaluation tracked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53288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53288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/mortgages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/{id}/charge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1508760"/>
            <a:ext cx="182880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Disburse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40740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40740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Funds released; first EMI date fixed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40740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440740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 ACTIVE; schedule v1; ledger event queued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40740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440740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/{id}/disburse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/bulk/disburse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7220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Repay and accrue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19963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8192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28192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 pays EMIs, may part-pay; floating rates reset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28192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28192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Instalments PAID; daily interest accrued; schedule re-versioned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28192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28192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/payments/emi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/part-payment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/rate-resets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04672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Monitor and recover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07415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15644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Missed EMI ages into DPD and NPA buckets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15644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15644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Overdue instalments flagged; status SMA0 to LOSS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15644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15644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/delinquency-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classifications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Close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94867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003096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1003096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Final EMI, early payoff or write-off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003096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1003096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CLOSED or FORECLOSED; statement available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03096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1003096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/payments/foreclosure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/{id}/statement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Account status model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Delinquency moves an account down the ladder; clearing dues brings it back to ACTIVE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246888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PENDING_DISBURSEMENT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6916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ACTIVE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69164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CLOSED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74320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FORECLOSED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9144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01752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disburse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0" y="2057400"/>
            <a:ext cx="155448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080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last EMI paid or balance cleared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2331720"/>
            <a:ext cx="1554480" cy="7772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6355080" y="2971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foreclosure payoff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to 30 days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116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1488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SMA1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31 to 60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118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7490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SMA2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61 to 90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120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3492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SUBSTANDARD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91 to 365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122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9494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DOUBTFUL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366 to 1095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4124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85496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LOSS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over 1095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0126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101498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WRITTEN_OFF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not automated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 flipH="1">
            <a:off x="1280160" y="2423160"/>
            <a:ext cx="3017520" cy="150876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1371600" y="2971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EMI missed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 flipV="1">
            <a:off x="4663440" y="2423160"/>
            <a:ext cx="274320" cy="150876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5029200" y="32004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all dues paid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12648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Days past due on the oldest unpaid instalment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How it 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/loan-accounts/delinquency-classifications with an as-of date recomputes every tracked account and marks the oldest late instalment OVERDUE.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29768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Payments blocked 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PENDING_DISBURSEMENT, CLOSED, FORECLOSED and WRITTEN_OFF accounts reject EMI, part-payment and foreclosure postings.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Customer view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PDF statement shows plain wording, never NPA codes: for example "Payment overdue" instead of SMA1.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Admin portal: a separate, read-only service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lending-admin-service reads the Lending database; it never writes and never changes the other services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Operations user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Browser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3108960" cy="12801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lending-admin-service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React UI + Spring Boot API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port 8082  |  HTTP Basic login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1828800"/>
            <a:ext cx="2377440" cy="128016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PostgreSQL "lending"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public + batch schemas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749040"/>
            <a:ext cx="310896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lending-service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(statement PDF only)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60320" y="2468880"/>
            <a:ext cx="7315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560320" y="21945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HTTPS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0" y="2468880"/>
            <a:ext cx="82296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355080" y="21945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SELECT only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46320" y="3108960"/>
            <a:ext cx="0" cy="64008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918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PDF proxy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 read the database directly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2860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REST API cannot list, search or total up the book. Adding that would change the core service.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Read-only by construction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Hikari read-only pool and SET SESSION ... READ ONLY on every connection. An optional SELECT-only DB role adds a second lock.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Current schedule rule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part-payment or rate reset creates a new schedule version; the portal shows the latest per instalment and keeps older versions viewable.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image, one 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Node builds the UI, Maven bundles it into the jar, a JRE image runs it. Registered in the root pom, render.yaml and docker-compose.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What the portal shows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Inquiry on accounts, schedules, accruals, payments and the book as a whole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2120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Screen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gives you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Dashboard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Accounts, outstanding principal, overdue, due in 7 days, collections month to date, status mix, trends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Accounts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Search by number or customer; filter by status, type, product; sort and page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Account detail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Overview, Amortization (all versions, CSV), Accruals (range and chart), Payments (CSV), Mortgage, Statement PDF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Upcoming payments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Due in 7, 15, 30, 60 or 90 days, by product, with totals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Overdue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Unpaid past due, days past due, buckets 1-30, 31-60, 61-90, 90+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Payments and Accruals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Book-wide EMI transactions with filters; daily accrual totals with drill-down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Ledger outbox and Batch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Posting status and retries; 36 job slots and recent executions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463040"/>
            <a:ext cx="3383280" cy="2377440"/>
          </a:xfrm>
          <a:prstGeom prst="roundRect">
            <a:avLst>
              <a:gd name="adj" fmla="val 307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Sign in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id: admin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Password: ADMIN_PASSWORD from the Render dashboard (Environment tab). Local default: changeme</a:t>
            </a:r>
            <a:endParaRPr lang="en-US" sz="1200" dirty="0"/>
          </a:p>
          <a:p>
            <a:pPr algn="l"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View only. One shared login, no roles or audit trail yet.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Sandbox URLs and changes since v1.0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Render free tier: services sleep when idle, so the first request takes about a minute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Sandbox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URL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Lending API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https://lending-service-5tqm.onrender.com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Lending Swagger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https://lending-service-5tqm.onrender.com/swagger-ui.html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Admin portal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https://lending-admin-service-&lt;suffix&gt;.onrender.com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Admin Swagger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https://lending-admin-service-&lt;suffix&gt;.onrender.com/swagger-ui.html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11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Added since the first documents (2 September)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Admin portal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read-only React + Spring Boot service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PDF statement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GET endpoints, OpenPDF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04672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Bulk operations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 and disburse up to 200 per call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Partition fix (V9)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Ends 409 on accrual and EMI posting; auto-creates months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Scripts and samples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create-account, run-accrual, bulk JSON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04672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Render blueprint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 plus three services, capped heap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API catalogue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Base path /api/v1; lending-service on port 8080, batch admin on lending-batch-service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858000"/>
                <a:gridCol w="3017520"/>
              </a:tblGrid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Endpoint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Purpose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Accounts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Create an account; idempotent on sanctionRefId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/loan-accounts/bulk/create  |  /bulk/disburse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Up to 200 items per call, per-item result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/loan-accounts/{id}/disburse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Activate and generate schedule v1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  |  /by-account-number/{no}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Look up an account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/loan-accounts/rate-resets  |  /delinquency-classifications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Floating rate reset; DPD and NPA classification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Schedule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/loan-accounts/{id}/schedule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Current amortisation schedule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Payments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/loan-accounts/{id}/payments/emi  |  part-payment  |  foreclosure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 a repayment or an exit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Accrual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/interest-accruals/run?businessDate=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Accrue interest for all ACTIVE accounts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/loan-accounts/{id}/interest-accruals/{date}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One account's accrual for a date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Mortgage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/mortgages  |  /{id}/charge  |  /{id}/valuations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Create, register charge, record valuation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/mortgages/{id}  |  /by-account/{id}  |  /due-for-revaluation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Look up and find revaluations due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Statement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/loan-accounts/{id}/statement  |  by-account-number/{no}/statement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Customer PDF download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Ledger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/ledger-outbox/push  |  GET /ledger-outbox/pending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Push or inspect pending ledger events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Batch admin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/batch-admin/jobs  |  /status/today  |  POST /jobs/{name}/trigger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List, trigger or back-date jobs; status view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we are and what is next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lifecycle works end to end in the sandbox; the nightly automation and integrations are the gap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440680" cy="4572000"/>
          </a:xfrm>
          <a:prstGeom prst="roundRect">
            <a:avLst>
              <a:gd name="adj" fmla="val 1600"/>
            </a:avLst>
          </a:prstGeom>
          <a:solidFill>
            <a:schemeClr val="accent1">
              <a:alpha val="30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today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Create, bulk create and disburse accounts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Schedules with part-payment and rate-reset versioning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EMI, part-payment and foreclosure postings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Interest accrual and delinquency runs through REST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Customer PDF statement download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Read-only admin portal for inquiry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Monthly partitions kept ahead automatically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Free sandbox on Render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1600200"/>
            <a:ext cx="5440680" cy="4572000"/>
          </a:xfrm>
          <a:prstGeom prst="roundRect">
            <a:avLst>
              <a:gd name="adj" fmla="val 1600"/>
            </a:avLst>
          </a:prstGeom>
          <a:solidFill>
            <a:schemeClr val="accent2">
              <a:alpha val="18000"/>
            </a:schemeClr>
          </a:solidFill>
          <a:ln w="1905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28600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Write the 36 batch job bodies, starting with accrual, DPD and NPA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Add authentication and tie statements to the logged-in customer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Replace the logging ledger stub with the real core-banking client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Provide a Kafka broker for batch events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Move off free hosting: the database expires after 30 days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Run the full test suite in CI against PostgreSQL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nding Platform">
  <a:themeElements>
    <a:clrScheme name="Lending Platform">
      <a:dk1>
        <a:srgbClr val="14232B"/>
      </a:dk1>
      <a:lt1>
        <a:srgbClr val="FFFFFF"/>
      </a:lt1>
      <a:dk2>
        <a:srgbClr val="0B3B46"/>
      </a:dk2>
      <a:lt2>
        <a:srgbClr val="EAF2F1"/>
      </a:lt2>
      <a:accent1>
        <a:srgbClr val="0E7C7B"/>
      </a:accent1>
      <a:accent2>
        <a:srgbClr val="E8A33D"/>
      </a:accent2>
      <a:accent3>
        <a:srgbClr val="C8423B"/>
      </a:accent3>
      <a:accent4>
        <a:srgbClr val="3E5C76"/>
      </a:accent4>
      <a:accent5>
        <a:srgbClr val="4C7A34"/>
      </a:accent5>
      <a:accent6>
        <a:srgbClr val="7B5EA7"/>
      </a:accent6>
      <a:hlink>
        <a:srgbClr val="0E7C7B"/>
      </a:hlink>
      <a:folHlink>
        <a:srgbClr val="7B5EA7"/>
      </a:folHlink>
    </a:clrScheme>
    <a:fontScheme name="Lending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Lending Platform - Architecture, Data Model and Loan Lifecycle</dc:title>
  <dc:subject>PptxGenJS Presentation</dc:subject>
  <dc:creator>Kiran</dc:creator>
  <cp:lastModifiedBy>Kiran</cp:lastModifiedBy>
  <cp:revision>1</cp:revision>
  <dcterms:created xsi:type="dcterms:W3CDTF">2026-10-10T18:53:36Z</dcterms:created>
  <dcterms:modified xsi:type="dcterms:W3CDTF">2026-10-10T18:53:36Z</dcterms:modified>
</cp:coreProperties>
</file>