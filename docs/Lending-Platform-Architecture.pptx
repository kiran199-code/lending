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8d55649c-0b39-2a8a-58eb-f02f21f2648c}">
          <p14:sldIdLst>
            <p14:sldId id="256"/>
            <p14:sldId id="257"/>
          </p14:sldIdLst>
        </p14:section>
        <p14:section name="Architecture" id="{a3ffa1b9-21d8-4704-1f46-a834cbda2f97}">
          <p14:sldIdLst>
            <p14:sldId id="258"/>
            <p14:sldId id="259"/>
          </p14:sldIdLst>
        </p14:section>
        <p14:section name="Data model" id="{7a75fe53-2b4a-4c2e-c896-53b1bd374d99}">
          <p14:sldIdLst>
            <p14:sldId id="260"/>
            <p14:sldId id="261"/>
          </p14:sldIdLst>
        </p14:section>
        <p14:section name="Flows" id="{80ca3e10-566b-9f92-c664-8da8020c72f2}">
          <p14:sldIdLst>
            <p14:sldId id="262"/>
            <p14:sldId id="263"/>
            <p14:sldId id="264"/>
            <p14:sldId id="265"/>
          </p14:sldIdLst>
        </p14:section>
        <p14:section name="Lifecycle" id="{41a8da41-461b-b44a-5209-6a6f9930257c}">
          <p14:sldIdLst>
            <p14:sldId id="266"/>
            <p14:sldId id="267"/>
          </p14:sldIdLst>
        </p14:section>
        <p14:section name="Admin portal" id="{735005b0-3d2c-1b7b-b526-df4657b74434}">
          <p14:sldIdLst>
            <p14:sldId id="268"/>
            <p14:sldId id="269"/>
            <p14:sldId id="270"/>
            <p14:sldId id="271"/>
          </p14:sldIdLst>
        </p14:section>
        <p14:section name="Reference" id="{6c097ee2-baec-2fb6-dad2-a8ed98871ea4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lending platform: two Spring Boot services over one PostgreSQL database, deployed as a trial on Render.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headline numbers, then one card per service. The admin portal is the newest: read-only inquiry plus one editable area, the batch job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call lending-service over REST. Operators call the batch admin API. The admin console serves a React UI, reads the database through read-only sessions, proxies the statement PDF from lending-service, and edits batch job settings through the batch admin API. Kafka and the core ledger are external.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live trial environment. The lending-service URL is the sandbox. The batch service URL is assigned by Render and is visible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Entity relationship view of the public schema. interest_accrual and emi_transaction are partitioned monthly.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 is a deliberate decision. The partition rule was the cause of the October 409 error and is now fixed by migration V9 plus a startup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 is the generic path. Middle row is what POST /loan-accounts/{id}/disburse does inside the service layer. Bottom row lists behaviour shared by all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on account type. The mortgage branch creates the mortgage with valuation and LTV, then registers the charge. Disburse is idempotent.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EMI must equal the instalment due. Part-payment reduces principal and re-versions the schedule. Foreclosure pays outstanding principal plus accrued interest.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Quartz fires each job on its cron. DPD update must finish before NPA classification. The framework is live; every job body is still a stub.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left to right. Business is what the bank does, System is what the platform records, API is the call that does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Buckets are days past due on the oldest unpaid instalment. The classification run recomputes status for all tracked accounts. WRITTEN_OFF exists as a status and blocks payments, but nothing sets it automatically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microservice. Spring Boot API plus React UI in one container. It connects to the same PostgreSQL database with a read-only session, because the Lending REST API has no list, search or portfolio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 map to the requirements: account inquiry, amortization, accrual and payment details, upcoming payments, plus overdue, ledger outbox and batch monitoring.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what are all the configurations. Three tiers. Runtime-editable: batch job settings in batch.batch_job_config, edited on the Configuration screen. Startup: environment variables on each service. Fixed: business rules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admin portal URL suffix is assigned by Render when the service is first created; copy it from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table. Paths are relative to /api/v1.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candid: the REST lifecycle is real; the batch job bodies, ledger integration, Kafka and authentication are still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Lending Platform  |  Architecture and loan lifecycle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Lending Platform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Architecture, data model and the loan lifecycle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20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lending-service  |  lending-batch-service  |  lending-admin-service  |  PostgreSQL  |  Render sandbox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5840" y="5257800"/>
            <a:ext cx="98755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Sanction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Onboard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Secure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5029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Disburse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Repay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Monitor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52760" y="5029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0" y="5577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Close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What we built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Three services, one database: the full loan lifecycle from sanction to closure, plus an admin console to see and tune it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Spring Boot services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33756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Flyway migrations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2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batch job slots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2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admin portal screens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92608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lending-service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346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Java 21  |  Spring Boot 3.3  |  port 8080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70332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Accounts: create, bulk create, disburse, lookup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Amortisation schedules with versioning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EMI, part-payment and foreclosure postings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Daily accrual; delinquency (DPD / NPA) classification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Mortgage charge and valuation tracking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Ledger outbox and customer PDF statements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accent4">
              <a:alpha val="12000"/>
            </a:schemeClr>
          </a:solidFill>
          <a:ln w="1905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48056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lending-batch-service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346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Java 17  |  Spring Batch 5  |  Quartz  |  Kafka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370332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Clustered Quartz scheduler on the same PostgreSQL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36 jobs: 13 daily, 11 monthly, 12 periodic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Retry, skip and dead-letter handling per job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Admin REST API: trigger, back-date, status, reload, edit a job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Job settings live in a table; reload without restart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92608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accent2">
              <a:alpha val="12000"/>
            </a:schemeClr>
          </a:solidFill>
          <a:ln w="1905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lending-admin-service  (new)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3346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Java 17  |  Spring Boot 3.3 + React 18  |  port 8082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370332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Account search and inquiry: amortisation, accruals, payments, mortgage, statement PDF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Upcoming payments and overdue by days past due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Portfolio dashboard, ledger outbox, batch runs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Configuration: edit batch job settings; view every service's settings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Basic login; read-only database session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System architecture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Three stateless services share one PostgreSQL database; the admin console only reads it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356616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Swagger UI  |  channel and partner apps  |  scripts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331720" y="2057400"/>
            <a:ext cx="0" cy="4572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2423160" y="21031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REST / JSON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14600"/>
            <a:ext cx="3566160" cy="2286000"/>
          </a:xfrm>
          <a:prstGeom prst="roundRect">
            <a:avLst>
              <a:gd name="adj" fmla="val 320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5877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lending-service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Java 21  |  Spring Boot 3.3  |  :8080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20040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Accounts and bulk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320040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Schedule and accrual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730752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Payments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730752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Mortgage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261104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PDF statements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4261104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Ledger outbox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297680" y="1417320"/>
            <a:ext cx="3566160" cy="640080"/>
          </a:xfrm>
          <a:prstGeom prst="roundRect">
            <a:avLst>
              <a:gd name="adj" fmla="val 11429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Operators  (HTTP Basic, BATCH_ADMIN)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80760" y="2057400"/>
            <a:ext cx="0" cy="4572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6172200" y="21031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REST / JSON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514600"/>
            <a:ext cx="3566160" cy="2286000"/>
          </a:xfrm>
          <a:prstGeom prst="roundRect">
            <a:avLst>
              <a:gd name="adj" fmla="val 3200"/>
            </a:avLst>
          </a:prstGeom>
          <a:solidFill>
            <a:schemeClr val="accent4">
              <a:alpha val="12000"/>
            </a:schemeClr>
          </a:solidFill>
          <a:ln w="1905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434840" y="25877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lending-batch-service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Java 17  |  Spring Batch 5  |  Quartz  |  :8081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389120" y="320040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Quartz scheduler (clustered)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126480" y="320040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36 job slots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389120" y="3730752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Admin REST API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126480" y="3730752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Dead-letter and audit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4389120" y="4261104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Hot-reload job config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26480" y="4261104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Kafka event producer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1417320"/>
            <a:ext cx="3566160" cy="640080"/>
          </a:xfrm>
          <a:prstGeom prst="roundRect">
            <a:avLst>
              <a:gd name="adj" fmla="val 11429"/>
            </a:avLst>
          </a:prstGeom>
          <a:solidFill>
            <a:schemeClr val="accent2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Operations staff  (browser, HTTP Basic)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9829800" y="2057400"/>
            <a:ext cx="0" cy="4572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9921240" y="21031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REST / JSON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046720" y="2514600"/>
            <a:ext cx="3566160" cy="2286000"/>
          </a:xfrm>
          <a:prstGeom prst="roundRect">
            <a:avLst>
              <a:gd name="adj" fmla="val 3200"/>
            </a:avLst>
          </a:prstGeom>
          <a:solidFill>
            <a:schemeClr val="accent2">
              <a:alpha val="12000"/>
            </a:schemeClr>
          </a:solidFill>
          <a:ln w="1905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183880" y="25877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lending-admin-service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Java 17  |  Spring Boot + React  |  :8082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138160" y="320040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Account inquiry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9875520" y="320040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Amortisation and accruals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138160" y="3730752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Upcoming and overdue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875520" y="3730752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Dashboard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8138160" y="4261104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Ledger and batch views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9875520" y="4261104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Configuration (edit jobs)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 flipH="1">
            <a:off x="7863840" y="4114800"/>
            <a:ext cx="182880" cy="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dash"/>
            <a:tailEnd type="triangle"/>
          </a:ln>
        </p:spPr>
      </p:sp>
      <p:sp>
        <p:nvSpPr>
          <p:cNvPr id="39" name="Text 36"/>
          <p:cNvSpPr txBox="1"/>
          <p:nvPr/>
        </p:nvSpPr>
        <p:spPr>
          <a:xfrm>
            <a:off x="7635240" y="482803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edit jobs (PUT, reload)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2331720" y="4800600"/>
            <a:ext cx="0" cy="54864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41" name="Text 38"/>
          <p:cNvSpPr txBox="1"/>
          <p:nvPr/>
        </p:nvSpPr>
        <p:spPr>
          <a:xfrm>
            <a:off x="2423160" y="4919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read / write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080760" y="4800600"/>
            <a:ext cx="0" cy="54864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6172200" y="4919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read / write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29800" y="4800600"/>
            <a:ext cx="0" cy="548640"/>
          </a:xfrm>
          <a:prstGeom prst="line">
            <a:avLst/>
          </a:prstGeom>
          <a:noFill/>
          <a:ln w="22225">
            <a:solidFill>
              <a:schemeClr val="tx2"/>
            </a:solidFill>
            <a:prstDash val="dash"/>
            <a:tailEnd type="triangle"/>
          </a:ln>
        </p:spPr>
      </p:sp>
      <p:sp>
        <p:nvSpPr>
          <p:cNvPr id="45" name="Text 42"/>
          <p:cNvSpPr txBox="1"/>
          <p:nvPr/>
        </p:nvSpPr>
        <p:spPr>
          <a:xfrm>
            <a:off x="9921240" y="4919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SELECT only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349240"/>
            <a:ext cx="110642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PostgreSQL 16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schema public: lending tables   |   schema batch: job config, error records, Spring Batch and Quartz tables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External and not deployed in the sandbox: core banking ledger (outbox push, logging stub) and Kafka (batch events). The admin console also proxies the statement PDF from lending-service.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Render sandbox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Everything below is deployed from render.yaml on Render's free tier, region Singapore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94360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5875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42646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lending-service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0078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https://lending-service-5tqm.onrender.com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56816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Swagger UI: /swagger-ui.html   |   OpenAPI: /v3/api-docs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377440"/>
            <a:ext cx="5943600" cy="914400"/>
          </a:xfrm>
          <a:prstGeom prst="roundRect">
            <a:avLst>
              <a:gd name="adj" fmla="val 8000"/>
            </a:avLst>
          </a:prstGeom>
          <a:solidFill>
            <a:schemeClr val="accent4">
              <a:alpha val="10000"/>
            </a:schemeClr>
          </a:solidFill>
          <a:ln w="15875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43230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lending-batch-service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0662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 assigned by Render (see the dashboard)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962656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 API /api/v1/batch-admin/**  |  user batch-admin, password BATCH_ADMIN_PASSWORD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383280"/>
            <a:ext cx="594360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10000"/>
            </a:schemeClr>
          </a:solidFill>
          <a:ln w="15875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43814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lending-admin-service  (admin portal)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71246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https://lending-admin-service-&lt;suffix&gt;.onrender.com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968496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Login admin / ADMIN_PASSWORD (Render &gt; Environment)  |  Swagger: /swagger-ui.html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389120"/>
            <a:ext cx="5943600" cy="914400"/>
          </a:xfrm>
          <a:prstGeom prst="roundRect">
            <a:avLst>
              <a:gd name="adj" fmla="val 8000"/>
            </a:avLst>
          </a:prstGeom>
          <a:solidFill>
            <a:schemeClr val="tx2">
              <a:alpha val="10000"/>
            </a:schemeClr>
          </a:solidFill>
          <a:ln w="15875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44398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lending-db  (PostgreSQL 16)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4718304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 connection only, shared by all three services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4974336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Free plan: the database is deleted after 30 days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Try it in six steps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0" y="1837944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452360" y="178308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Swagger on lending-service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2459736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52360" y="2404872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/loan-accounts/bulk/create with samples/bulk-create-100-accounts.json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081528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452360" y="3026664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/loan-accounts/bulk/disburse with samples/bulk-disburse-100-accounts.json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0" y="370332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452360" y="3648456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/interest-accruals/run?businessDate=YYYY-MM-DD (or scripts/run-accrual.ps1)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858000" y="4325112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52360" y="4270248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GET /loan-accounts/{id}/statement to download the customer PDF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0" y="4946904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452360" y="489204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the admin portal, sign in, and inspect the accounts and Configuration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accent2">
              <a:alpha val="30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Free-tier behaviour: services sleep after about 15 minutes idle, so the first call can take a minute. There is no Kafka broker on Render, so batch events are not delivered. The ledger gateway is a logging stub, so outbox rows are not posted anywhere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Data model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loan_account is the hub; every other table hangs off account_id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291840" cy="3108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mortgage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82496"/>
            <a:ext cx="3291840" cy="170078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mortgage_id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FK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property_type, property_address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valuation_amount, valuation_date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ltv_ratio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charge_status  PENDING | REGISTERED | RELEASED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cersai, deed and insurance refs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legal_verification_status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23360"/>
            <a:ext cx="3291840" cy="3108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mortgage_valuation_history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334256"/>
            <a:ext cx="3291840" cy="87782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valuation_id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FK  mortgage_id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valuation_amount, valuation_date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valuer_ref, valuation_type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371600"/>
            <a:ext cx="3200400" cy="310896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processed_request  (idempotency log)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1682496"/>
            <a:ext cx="3200400" cy="69494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4"/>
            </a:solidFill>
            <a:prstDash val="dash"/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idempotency_key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endpoint,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response_status, response_body (JSONB)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2514600"/>
            <a:ext cx="320040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loan_account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825496"/>
            <a:ext cx="3200400" cy="211226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 account_number, sanction_ref_id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customer_id, product_code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account_type  UNSECURED | MORTGAGE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rate_type, interest_rate, spread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day_count_convention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sanctioned_amount, disbursed_amount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tenure_months, emi_amount, emi_start_date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account_status  (11 states)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FK  mortgage_id,  version (optimistic lock)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480560" y="5303520"/>
            <a:ext cx="3200400" cy="310896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ledger_outbox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80560" y="5614416"/>
            <a:ext cx="3200400" cy="60350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6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outbox_id,  FK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event_type  DISBURSEMENT | EMI_POSTING | ...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posting_status  PENDING | POSTED | FAILED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1371600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amortization_schedule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1682496"/>
            <a:ext cx="3108960" cy="119786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schedule_id,  FK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installment_number, due_date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principal, interest, outstanding balance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status  PENDING | PAID | OVERDUE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schedule_version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 (account, installment, version)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0" y="3063240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interest_accrual  [monthly partitions]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3374136"/>
            <a:ext cx="3108960" cy="96926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(accrual_id, business_date)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FK  account_id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accrued_amount, outstanding_principal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 (account_id, business_date)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503920" y="4526280"/>
            <a:ext cx="3108960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emi_transaction  [monthly partitions]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4837176"/>
            <a:ext cx="3108960" cy="133502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</a:ln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PK  (transaction_id, value_date)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FK  account_id,  installment_number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type  EMI | PART_PAYMENT | FORECLOSURE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amount, principal_paid, interest_paid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channel, payment_status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UQ  (account, idempotency_key, value_date)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2834640"/>
            <a:ext cx="64008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3840480" y="25603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1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194560" y="3383280"/>
            <a:ext cx="0" cy="6400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286000" y="3566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680960" y="2651760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7680960" y="23774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680960" y="3657600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7680960" y="33832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680960" y="4754880"/>
            <a:ext cx="82296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7680960" y="44805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080760" y="4937760"/>
            <a:ext cx="0" cy="36576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32" name="Text 29"/>
          <p:cNvSpPr txBox="1"/>
          <p:nvPr/>
        </p:nvSpPr>
        <p:spPr>
          <a:xfrm>
            <a:off x="6172200" y="4983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1 : 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Six design rules in the schema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These choices make payments safe to retry and history safe to audit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Monthly partitions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3317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interest_accrual and emi_transaction are range-partitioned by date, and their unique keys include the date. A startup job keeps six months of partitions ahead.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55448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Versioned schedules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3317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rate reset or part-payment writes a new schedule_version for the remaining instalments. The current schedule is the highest version; older ones stay for audit.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55448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23960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Idempotent by design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3317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creation keys on sanction_ref_id, payments on account plus idempotency key, accruals on account plus date. A retry never double-posts.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93192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Transactional outbox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70916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Disbursement, EMI and foreclosure write a ledger_outbox row in the same transaction. A push job later marks it POSTED or FAILED.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393192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480560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805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07492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Optimistic locking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470916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loan_account and mortgage carry a version column, so two concurrent writers cannot silently overwrite each other.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046720" y="393192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0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82396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Day-count aware interest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275320" y="470916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Daily interest uses the convention stored on the account: ACT/365, ACT/ACT or 30/360, applied to the current outstanding principal.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Application flow of one request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Every API call follows the same layered path; the example is a loan disbursement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Client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Swagger, app or script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377440" y="19888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2834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Bean validation, OpenAPI docs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9888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5120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Business rules, @Transactional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9888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7406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Repository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Spring Data JPA, native SQL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19888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9692640" y="1508760"/>
            <a:ext cx="182880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Flyway-managed schema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88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Example: POST /api/v1/loan-accounts/{id}/disburse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Validate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Request body checked; amount and first EMI date required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2560320" y="4023360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34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2944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Guard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962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 must be PENDING_DISBURSEMENT; mortgage accounts need a linked charge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46320" y="4023360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120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230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687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Activate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248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Status becomes ACTIVE; schedule version 1 is generated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132320" y="4023360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7406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516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973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Record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534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DISBURSEMENT row is written to ledger_outbox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9418320" y="4023360"/>
            <a:ext cx="2743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9692640" y="320040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9802368" y="331012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0259568" y="33101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Commit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820656" y="37490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transaction; the response returns the account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51206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Errors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404 not found, 400 invalid input, 409 state or data conflict, mapped in one handler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3337560" y="51206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Retries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Replaying a disburse on an ACTIVE account returns it unchanged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126480" y="51206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Bulk calls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Up to 200 items; each item commits on its own and reports success or failure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915400" y="5120640"/>
            <a:ext cx="26517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Housekeeping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Partitions are created at startup and twice a month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Process flow: originate to disburse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Unsecured loans go straight to disbursement; mortgage loans need a registered charge first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Sanction approved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sanctionRefId issued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1691640"/>
            <a:ext cx="246888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 /loan-accounts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status PENDING_DISBURSEMENT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1508760"/>
            <a:ext cx="1920240" cy="1188720"/>
          </a:xfrm>
          <a:prstGeom prst="diamond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Mortgage account?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1417320"/>
            <a:ext cx="2834640" cy="13716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POST /{id}/disburse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Account becomes ACTIVE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Schedule version 1 generated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DISBURSEMENT event to ledger outbox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60320" y="21031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486400" y="2103120"/>
            <a:ext cx="4572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7863840" y="2103120"/>
            <a:ext cx="9144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786384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No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903720" y="2697480"/>
            <a:ext cx="0" cy="6858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6995160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Yes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3383280"/>
            <a:ext cx="228600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 /mortgages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valuation, LTV ratio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778240" y="3383280"/>
            <a:ext cx="283464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 /mortgages/{id}/charge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CERSAI and deed references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46720" y="3794760"/>
            <a:ext cx="7315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10195560" y="2788920"/>
            <a:ext cx="0" cy="59436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548640" y="3383280"/>
            <a:ext cx="4663440" cy="822960"/>
          </a:xfrm>
          <a:prstGeom prst="roundRect">
            <a:avLst>
              <a:gd name="adj" fmla="val 8889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Account status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PENDING_DISBURSEMENT  -&gt;  ACTIVE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526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Guards that protect the flow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937760"/>
            <a:ext cx="35661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Retry-safe creation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Re-sending the same sanctionRefId returns the same account, never a second one.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937760"/>
            <a:ext cx="35661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Retry-safe disbursal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Disbursing an ACTIVE account returns it unchanged.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37760"/>
            <a:ext cx="356616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22000"/>
            </a:schemeClr>
          </a:solidFill>
          <a:ln w="12700">
            <a:solidFill>
              <a:schemeClr val="accent2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Mortgage guard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mortgage account with no linked charge is rejected, so a secured loan is never released without its security.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Process flow: repayment and exit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Three ways money moves after disbursement; each is idempotent on account plus idempotency key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EMI payment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POST /payments/emi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46888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 must be ACTIVE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331720" y="320040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48640" y="342900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Amount must equal the EMI due on the oldest pending instalment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331720" y="416052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548640" y="438912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Instalment marked PAID; emi_transaction recorded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331720" y="512064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548640" y="534924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EMI_POSTING event queued; last instalment closes the account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150876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Part-payment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POST /payments/part-payment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46888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 must be ACTIVE with pending instalments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80760" y="320040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4297680" y="342900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Principal reduced by the amount paid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080760" y="416052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297680" y="438912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Schedule regenerated as a new version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080760" y="512064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4297680" y="534924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EMI_POSTING event queued; a full clearance closes the account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150876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Foreclosure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POST /payments/foreclosure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46888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Payoff = outstanding principal + accrued interest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829800" y="320040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8046720" y="342900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Accrued interest read from interest_accrual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829800" y="416052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8046720" y="438912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FORECLOSURE transaction recorded in full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9829800" y="5120640"/>
            <a:ext cx="0" cy="22860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8046720" y="5349240"/>
            <a:ext cx="356616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Status FORECLOSED; FORECLOSURE event queued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Process flow: the nightly batch chain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Thirteen daily jobs run in priority order between 01:00 and 02:00 server time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|  01:00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Interest accrual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0116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21488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|  01:05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Penal interest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118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37490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  |  01:10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DPD update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120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53492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4  |  01:15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NPA classification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122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69494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  |  01:20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Auto-debit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4124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85496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  |  01:25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Bounce and NSF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012680" y="201168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10149840" y="155448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  |  01:30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Disbursement settlement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  |  01:35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GL reconciliation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0116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1488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  |  01:40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Limit utilisation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6118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37490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  |  01:45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Fees and charges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2120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3492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11  |  01:50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SOD / EOD balancing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8122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69494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  |  01:55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Statement notices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412480" y="324612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8549640" y="2788920"/>
            <a:ext cx="14630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13  |  02:00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Rate-reset check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374904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Amber: DPD update must complete before NPA classification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416052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Monthly  (11)</a:t>
            </a:r>
            <a:endParaRPr lang="en-US" sz="12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EMI billing, interest capitalisation, provisioning, rate reset, schedule refresh, month-end GL close, bureau and regulatory extracts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6052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Periodic  (12)</a:t>
            </a:r>
            <a:endParaRPr lang="en-US" sz="12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Quarterly NPA provisioning review, stress testing and rate reset; annual insurance and credit-limit review; document expiry; event-triggered jobs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8046720" y="4160520"/>
            <a:ext cx="3566160" cy="1828800"/>
          </a:xfrm>
          <a:prstGeom prst="roundRect">
            <a:avLst>
              <a:gd name="adj" fmla="val 4000"/>
            </a:avLst>
          </a:prstGeom>
          <a:solidFill>
            <a:schemeClr val="accent2">
              <a:alpha val="30000"/>
            </a:schemeClr>
          </a:solidFill>
          <a:ln w="12700">
            <a:solidFill>
              <a:schemeClr val="accent2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Status today</a:t>
            </a:r>
            <a:endParaRPr lang="en-US" sz="12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Scheduler, retry, skip, dead-letter and admin API are live. All 36 job bodies are stubs, so accrual and delinquency run through lending-service REST for now.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Business flow: the loan lifecycle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Six stages from approved credit to a closed account, with the system action and API behind each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828800" cy="822960"/>
          </a:xfrm>
          <a:prstGeom prst="homePlate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Sanction and onboard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Credit approved and terms agreed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 created and awaiting disbursement; unique account number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/loan-accounts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/bulk/create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1508760"/>
            <a:ext cx="1828800" cy="82296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Secure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45059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53288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Property valued and charge registered (mortgage only)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53288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53288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LTV computed; CERSAI and deed refs stored; revaluation tracked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53288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53288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/mortgages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/{id}/charge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1508760"/>
            <a:ext cx="182880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Disburse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32511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40740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440740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Funds released; first EMI date fixed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40740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440740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 ACTIVE; schedule v1; ledger event queued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40740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440740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/{id}/disburse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/bulk/disburse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172200" y="1508760"/>
            <a:ext cx="1828800" cy="82296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Repay and accrue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19963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28192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28192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 pays EMIs, may part-pay; floating rates reset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28192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28192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Instalments PAID; daily interest accrued; schedule re-versioned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28192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28192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/payments/emi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/part-payment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/rate-resets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8046720" y="1508760"/>
            <a:ext cx="1828800" cy="82296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Monitor and recover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07415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15644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Missed EMI ages into DPD and NPA buckets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15644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15644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Overdue instalments flagged; status SMA0 to LOSS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15644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15644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/delinquency-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classifications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1508760"/>
            <a:ext cx="1828800" cy="82296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Close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9948672" y="2514600"/>
            <a:ext cx="1755648" cy="3703320"/>
          </a:xfrm>
          <a:prstGeom prst="roundRect">
            <a:avLst>
              <a:gd name="adj" fmla="val 4167"/>
            </a:avLst>
          </a:prstGeom>
          <a:solidFill>
            <a:schemeClr val="accent1">
              <a:alpha val="9000"/>
            </a:schemeClr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0030968" y="2606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BUSINESS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10030968" y="2816352"/>
            <a:ext cx="1572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Final EMI, early payoff or write-off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0030968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SYSTEM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10030968" y="4050792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CLOSED or FORECLOSED; statement available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10030968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API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10030968" y="5458968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/payments/foreclosure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/{id}/statement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Account status model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Delinquency moves an account down the ladder; clearing dues brings it back to ACTIVE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246888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PENDING_DISBURSEMENT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16916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ACTIVE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69164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CLOSED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74320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FORECLOSED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017520" y="2057400"/>
            <a:ext cx="91440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3017520" y="1783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disburse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35040" y="2057400"/>
            <a:ext cx="155448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0807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last EMI paid or balance cleared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2331720"/>
            <a:ext cx="1554480" cy="77724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6355080" y="29718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foreclosure payoff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SMA0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 to 30 days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0116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1488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SMA1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31 to 60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6118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37490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SMA2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61 to 90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2120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53492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SUBSTANDARD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91 to 365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8122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9494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DOUBTFUL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366 to 1095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4124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85496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LOSS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over 1095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10012680" y="434340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10149840" y="3931920"/>
            <a:ext cx="14630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WRITTEN_OFF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not automated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 flipH="1">
            <a:off x="1280160" y="2423160"/>
            <a:ext cx="3017520" cy="150876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1371600" y="29718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EMI missed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 flipV="1">
            <a:off x="4663440" y="2423160"/>
            <a:ext cx="274320" cy="1508760"/>
          </a:xfrm>
          <a:prstGeom prst="line">
            <a:avLst/>
          </a:prstGeom>
          <a:noFill/>
          <a:ln w="22225">
            <a:solidFill>
              <a:schemeClr val="tx2"/>
            </a:solidFill>
            <a:prstDash val="dash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5029200" y="32004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all dues paid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12648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Days past due on the oldest unpaid instalment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How it runs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/loan-accounts/delinquency-classifications with an as-of date recomputes every tracked account and marks the oldest late instalment OVERDUE.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29768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Payments blocked in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PENDING_DISBURSEMENT, CLOSED, FORECLOSED and WRITTEN_OFF accounts reject EMI, part-payment and foreclosure postings.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04672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Customer view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PDF statement shows plain wording, never NPA codes: for example "Payment overdue" instead of SMA1.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Admin portal: a separate, read-only service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lending-admin-service reads the Lending database; it never writes and never changes the other services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01168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Operations user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Browser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3108960" cy="128016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lending-admin-service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React UI + Spring Boot API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port 8082  |  HTTP Basic login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223760" y="1828800"/>
            <a:ext cx="2377440" cy="1280160"/>
          </a:xfrm>
          <a:prstGeom prst="roundRect">
            <a:avLst>
              <a:gd name="adj" fmla="val 5714"/>
            </a:avLst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PostgreSQL "lending"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public + batch schemas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3749040"/>
            <a:ext cx="3108960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lending-service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(statement PDF only)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60320" y="2468880"/>
            <a:ext cx="73152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2560320" y="21945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HTTPS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0" y="2468880"/>
            <a:ext cx="822960" cy="0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6355080" y="21945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SELECT only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46320" y="3108960"/>
            <a:ext cx="0" cy="640080"/>
          </a:xfrm>
          <a:prstGeom prst="line">
            <a:avLst/>
          </a:prstGeom>
          <a:noFill/>
          <a:ln w="22225">
            <a:solidFill>
              <a:schemeClr val="tx2"/>
            </a:solidFill>
            <a:prstDash val="dash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918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PDF proxy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 read the database directly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28600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REST API cannot list, search or total up the book. Adding that would change the core service.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8920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Read-only by construction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Hikari read-only pool and SET SESSION ... READ ONLY on every connection. An optional SELECT-only DB role adds a second lock.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8920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Current schedule rule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part-payment or rate reset creates a new schedule version; the portal shows the latest per instalment and keeps older versions viewable.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4892040"/>
            <a:ext cx="3566160" cy="1371600"/>
          </a:xfrm>
          <a:prstGeom prst="roundRect">
            <a:avLst>
              <a:gd name="adj" fmla="val 5333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image, one service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Node builds the UI, Maven bundles it into the jar, a JRE image runs it. Registered in the root pom, render.yaml and docker-compose.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What the portal shows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Inquiry on accounts, schedules, accruals, payments and the book as a whole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3152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212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Screen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it gives you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Dashboard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Accounts, outstanding principal, overdue, due in 7 days, collections month to date, status mix, trends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Accounts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Search by number or customer; filter by status, type, product; sort and page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Account detail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Overview, Amortization (all versions, CSV), Accruals (range and chart), Payments (CSV), Mortgage, Statement PDF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Upcoming payments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Due in 7, 15, 30, 60 or 90 days, by product, with totals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Overdue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Unpaid past due, days past due, buckets 1-30, 31-60, 61-90, 90+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Payments and Accruals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Book-wide EMI transactions with filters; daily accrual totals with drill-down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Ledger outbox and Batch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Posting status and retries; 36 job slots and recent executions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Configuration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Edit batch job settings (the one write); view every service's settings and the fixed business rules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1463040"/>
            <a:ext cx="3383280" cy="2377440"/>
          </a:xfrm>
          <a:prstGeom prst="roundRect">
            <a:avLst>
              <a:gd name="adj" fmla="val 307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Sign in</a:t>
            </a:r>
            <a:endParaRPr lang="en-US" sz="12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User id: admin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Password: ADMIN_PASSWORD from the Render dashboard (Environment tab). Local default: changeme</a:t>
            </a:r>
            <a:endParaRPr lang="en-US" sz="1200" dirty="0"/>
          </a:p>
          <a:p>
            <a:pPr algn="l"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Read-only except batch job settings, saved through the batch service. One shared login, no roles or audit trail yet.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Configuration: what can be changed, and where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Only the batch job settings are editable at runtime; everything else needs a redeploy or a code change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66160" cy="4023360"/>
          </a:xfrm>
          <a:prstGeom prst="roundRect">
            <a:avLst>
              <a:gd name="adj" fmla="val 2051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Editable now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Configuration screen &gt; Batch jobs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 job, 36 jobs: enabled, schedule (cron), restartable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Chunk size, concurrency, thread limit (chunk jobs)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Retry limit, skip limit, timeout, run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Saved through the batch service (validated, version-checked), then Apply = reload; no restart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297680" y="1463040"/>
            <a:ext cx="3566160" cy="4023360"/>
          </a:xfrm>
          <a:prstGeom prst="roundRect">
            <a:avLst>
              <a:gd name="adj" fmla="val 2051"/>
            </a:avLst>
          </a:prstGeom>
          <a:solidFill>
            <a:schemeClr val="accent4">
              <a:alpha val="12000"/>
            </a:schemeClr>
          </a:solidFill>
          <a:ln w="19050">
            <a:solidFill>
              <a:schemeClr val="accent4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1572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Environment variables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9659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Service settings tab (view); change in Render or compose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51460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Database host, user, password, pool size (all three)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Ports, JVM heap, Spring profile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Logins: ADMIN_*, BATCH_ADMIN_*; links: LENDING_SERVICE_URL, BATCH_SERVICE_URL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Statement text and timezone; Kafka address and timeout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Takes effect after a restart of that service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1463040"/>
            <a:ext cx="3566160" cy="4023360"/>
          </a:xfrm>
          <a:prstGeom prst="roundRect">
            <a:avLst>
              <a:gd name="adj" fmla="val 2051"/>
            </a:avLst>
          </a:prstGeom>
          <a:solidFill>
            <a:schemeClr val="accent2">
              <a:alpha val="12000"/>
            </a:schemeClr>
          </a:solidFill>
          <a:ln w="1905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1572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Fixed in code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196596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Fixed business rules tab (view)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51460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Accrual formula and day-count conventions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EMI formula; delinquency / NPA bands; LTV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Idempotency keys; bulk limit of 200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Monthly partitions: current + 6 ahead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change here is a code change and a release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Sandbox URLs and changes since v1.0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Render free tier: services sleep when idle, so the first request takes about a minute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Sandbox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URL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Lending API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https://lending-service-5tqm.onrender.com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Lending Swagger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https://lending-service-5tqm.onrender.com/swagger-ui.html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Admin portal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https://lending-admin-service-&lt;suffix&gt;.onrender.com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Admin Swagger</a:t>
                      </a:r>
                      <a:endParaRPr lang="en-US" sz="12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https://lending-admin-service-&lt;suffix&gt;.onrender.com/swagger-ui.html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11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Added since the first documents (2 September)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06908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Admin portal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 React + Spring Boot service; Configuration screen edits batch jobs (new PUT on the batch API)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297680" y="406908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PDF statement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Two GET endpoints, OpenPDF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046720" y="406908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Bulk operations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 and disburse up to 200 per call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16636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Partition fix (V9)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Ends 409 on accrual and EMI posting; auto-creates months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516636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Scripts and samples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create-account, run-accrual, bulk JSON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046720" y="5166360"/>
            <a:ext cx="356616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Render blueprint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 plus three services, capped heap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API catalogue</a:t>
            </a:r>
            <a:endParaRPr lang="en-US" sz="34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Base path /api/v1; lending-service on port 8080, batch admin on lending-batch-service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858000"/>
                <a:gridCol w="3017520"/>
              </a:tblGrid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Area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Endpoint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Purpose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Accounts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Create an account; idempotent on sanctionRefId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/loan-accounts/bulk/create  |  /bulk/disburse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Up to 200 items per call, per-item result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/loan-accounts/{id}/disburse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Activate and generate schedule v1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/loan-accounts/{id}  |  /by-account-number/{no}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Look up an account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/loan-accounts/rate-resets  |  /delinquency-classifications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Floating rate reset; DPD and NPA classification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Schedule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/loan-accounts/{id}/schedule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Current amortisation schedule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Payments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/loan-accounts/{id}/payments/emi  |  part-payment  |  foreclosure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 a repayment or an exit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Accrual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/interest-accruals/run?businessDate=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Accrue interest for all ACTIVE accounts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/loan-accounts/{id}/interest-accruals/{date}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One account's accrual for a date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Mortgage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/mortgages  |  /{id}/charge  |  /{id}/valuations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Create, register charge, record valuation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/mortgages/{id}  |  /by-account/{id}  |  /due-for-revaluation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Look up and find revaluations due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Statement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/loan-accounts/{id}/statement  |  by-account-number/{no}/statement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Customer PDF download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Ledger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/ledger-outbox/push  |  GET /ledger-outbox/pending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Push or inspect pending ledger events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Batch admin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/batch-admin/jobs  |  /status/today  |  POST /jobs/{name}/trigger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List, trigger or back-date jobs; status view</a:t>
                      </a:r>
                      <a:endParaRPr lang="en-US" sz="12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we are and what is next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lifecycle works end to end in the sandbox; the nightly automation and integrations are the gap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5440680" cy="4572000"/>
          </a:xfrm>
          <a:prstGeom prst="roundRect">
            <a:avLst>
              <a:gd name="adj" fmla="val 1600"/>
            </a:avLst>
          </a:prstGeom>
          <a:solidFill>
            <a:schemeClr val="accent1">
              <a:alpha val="30000"/>
            </a:schemeClr>
          </a:solidFill>
          <a:ln w="19050">
            <a:solidFill>
              <a:schemeClr val="accent1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today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Create, bulk create and disburse accounts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Schedules with part-payment and rate-reset versioning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EMI, part-payment and foreclosure postings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Interest accrual and delinquency runs through REST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Customer PDF statement download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Read-only admin portal for inquiry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Monthly partitions kept ahead automatically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Free sandbox on Render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1600200"/>
            <a:ext cx="5440680" cy="4572000"/>
          </a:xfrm>
          <a:prstGeom prst="roundRect">
            <a:avLst>
              <a:gd name="adj" fmla="val 1600"/>
            </a:avLst>
          </a:prstGeom>
          <a:solidFill>
            <a:schemeClr val="accent2">
              <a:alpha val="18000"/>
            </a:schemeClr>
          </a:solidFill>
          <a:ln w="19050">
            <a:solidFill>
              <a:schemeClr val="accent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2286000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Write the 36 batch job bodies, starting with accrual, DPD and NPA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Add authentication and tie statements to the logged-in customer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Replace the logging ledger stub with the real core-banking client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Provide a Kafka broker for batch events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Move off free hosting: the database expires after 30 days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Run the full test suite in CI against PostgreSQL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nding Platform">
  <a:themeElements>
    <a:clrScheme name="Lending Platform">
      <a:dk1>
        <a:srgbClr val="14232B"/>
      </a:dk1>
      <a:lt1>
        <a:srgbClr val="FFFFFF"/>
      </a:lt1>
      <a:dk2>
        <a:srgbClr val="0B3B46"/>
      </a:dk2>
      <a:lt2>
        <a:srgbClr val="EAF2F1"/>
      </a:lt2>
      <a:accent1>
        <a:srgbClr val="0E7C7B"/>
      </a:accent1>
      <a:accent2>
        <a:srgbClr val="E8A33D"/>
      </a:accent2>
      <a:accent3>
        <a:srgbClr val="C8423B"/>
      </a:accent3>
      <a:accent4>
        <a:srgbClr val="3E5C76"/>
      </a:accent4>
      <a:accent5>
        <a:srgbClr val="4C7A34"/>
      </a:accent5>
      <a:accent6>
        <a:srgbClr val="7B5EA7"/>
      </a:accent6>
      <a:hlink>
        <a:srgbClr val="0E7C7B"/>
      </a:hlink>
      <a:folHlink>
        <a:srgbClr val="7B5EA7"/>
      </a:folHlink>
    </a:clrScheme>
    <a:fontScheme name="Lending Platfo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Lending Platform - Architecture, Data Model and Loan Lifecycle</dc:title>
  <dc:subject>PptxGenJS Presentation</dc:subject>
  <dc:creator>Kiran</dc:creator>
  <cp:lastModifiedBy>Kiran</cp:lastModifiedBy>
  <cp:revision>1</cp:revision>
  <dcterms:created xsi:type="dcterms:W3CDTF">2026-10-11T06:27:11Z</dcterms:created>
  <dcterms:modified xsi:type="dcterms:W3CDTF">2026-10-11T06:27:11Z</dcterms:modified>
</cp:coreProperties>
</file>