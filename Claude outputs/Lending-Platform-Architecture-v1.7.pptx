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s/slide25.xml" ContentType="application/vnd.openxmlformats-officedocument.presentationml.slide+xml"/>
  <Override PartName="/ppt/notesSlides/notesSlide29.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1" r:id="rId36"/>
    <p:sldId id="302" r:id="rId42"/>
    <p:sldId id="257" r:id="rId3"/>
    <p:sldId id="258" r:id="rId4"/>
    <p:sldId id="259" r:id="rId5"/>
    <p:sldId id="264" r:id="rId10"/>
    <p:sldId id="276" r:id="rId27"/>
    <p:sldId id="273" r:id="rId19"/>
    <p:sldId id="303" r:id="rId37"/>
    <p:sldId id="316" r:id="rId51"/>
    <p:sldId id="304" r:id="rId43"/>
    <p:sldId id="261" r:id="rId7"/>
    <p:sldId id="262" r:id="rId8"/>
    <p:sldId id="281" r:id="rId32"/>
    <p:sldId id="317" r:id="rId52"/>
    <p:sldId id="305" r:id="rId44"/>
    <p:sldId id="260" r:id="rId6"/>
    <p:sldId id="263" r:id="rId9"/>
    <p:sldId id="265" r:id="rId11"/>
    <p:sldId id="266" r:id="rId12"/>
    <p:sldId id="319" r:id="rId54"/>
    <p:sldId id="318" r:id="rId53"/>
    <p:sldId id="268" r:id="rId14"/>
    <p:sldId id="269" r:id="rId15"/>
    <p:sldId id="306" r:id="rId45"/>
    <p:sldId id="270" r:id="rId16"/>
    <p:sldId id="271" r:id="rId17"/>
    <p:sldId id="272" r:id="rId18"/>
    <p:sldId id="279" r:id="rId30"/>
    <p:sldId id="307" r:id="rId38"/>
    <p:sldId id="308" r:id="rId46"/>
    <p:sldId id="267" r:id="rId13"/>
    <p:sldId id="277" r:id="rId28"/>
    <p:sldId id="309" r:id="rId39"/>
    <p:sldId id="278" r:id="rId29"/>
    <p:sldId id="282" r:id="rId33"/>
    <p:sldId id="284" r:id="rId35"/>
    <p:sldId id="310" r:id="rId47"/>
    <p:sldId id="311" r:id="rId40"/>
    <p:sldId id="312" r:id="rId41"/>
    <p:sldId id="283" r:id="rId34"/>
    <p:sldId id="313" r:id="rId48"/>
    <p:sldId id="274" r:id="rId20"/>
    <p:sldId id="280" r:id="rId31"/>
    <p:sldId id="320" r:id="rId55"/>
    <p:sldId id="314" r:id="rId49"/>
    <p:sldId id="315" r:id="rId5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c42f308-43c4-e219-2643-336531172f87}">
          <p14:sldIdLst>
            <p14:sldId id="256"/>
            <p14:sldId id="257"/>
          </p14:sldIdLst>
        </p14:section>
        <p14:section name="Architecture" id="{57335a9f-2359-36f6-ff5d-b50ccad471fa}">
          <p14:sldIdLst>
            <p14:sldId id="258"/>
            <p14:sldId id="259"/>
          </p14:sldIdLst>
        </p14:section>
        <p14:section name="Data model" id="{c9d52781-ca9b-c39b-0e6f-a17f242fa22e}">
          <p14:sldIdLst>
            <p14:sldId id="260"/>
            <p14:sldId id="261"/>
            <p14:sldId id="262"/>
            <p14:sldId id="263"/>
          </p14:sldIdLst>
        </p14:section>
        <p14:section name="Flows" id="{bd10adfb-00c6-ea48-3678-71ce9a10448d}">
          <p14:sldIdLst>
            <p14:sldId id="264"/>
            <p14:sldId id="265"/>
            <p14:sldId id="266"/>
            <p14:sldId id="267"/>
            <p14:sldId id="276"/>
            <p14:sldId id="277"/>
            <p14:sldId id="278"/>
            <p14:sldId id="279"/>
          </p14:sldIdLst>
        </p14:section>
        <p14:section name="Lifecycle" id="{abcde246-efe6-26ca-f1ed-8c99a86fb5ed}">
          <p14:sldIdLst>
            <p14:sldId id="268"/>
            <p14:sldId id="269"/>
          </p14:sldIdLst>
        </p14:section>
        <p14:section name="Admin portal" id="{49228e49-5aaf-4eea-177e-2a01d6a3c02a}">
          <p14:sldIdLst>
            <p14:sldId id="270"/>
            <p14:sldId id="271"/>
            <p14:sldId id="272"/>
            <p14:sldId id="273"/>
          </p14:sldIdLst>
        </p14:section>
        <p14:section name="Reference" id="{6834751e-d008-9757-61c4-85f654f7a669}">
          <p14:sldIdLst>
            <p14:sldId id="274"/>
            <p14:sldId id="280"/>
            <p14:sldId id="275"/>
          </p14:sldIdLst>
        </p14:section>
        <p14:section name="Operations (v1.5)" id="{3b7c9d10-5e2a-4f6b-9a41-7c0d2e8f1a55}">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lending platform: two Spring Boot services over one PostgreSQL database, deployed as a trial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then one card per service. The admin portal is the newest: inquiry plus two editable areas, the batch job settings and the loan products. Every account is now opened from a loan product. New in v1.4: the business date and nightly end of day (lending-service V13) and nine batch jobs that call lending-service.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call lending-service over REST. Operators call the batch admin API. The admin console serves a React UI, reads the database through read-only sessions, proxies the statement PDF from lending-service, and edits batch job settings through the batch admin API. Kafka and the core ledger are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trial environment. The lending-service URL is the sandbox. The batch service URL is assigned by Render and is visible in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Entity relationship view of the public schema. interest_accrual and emi_transaction are partitioned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V10. loan_product defines type, rate type, schedule type, day count, benchmark, default rate and spread, and bands for rate, spread, amount and tenure. Changes apply to new accounts and to an individual account at a floating rate reset; existing accounts are not rewritten and there is no reschedule-all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migration V11. Five day-count conventions and five schedule types, with repayment frequency, moratorium, balloon percent and step-up percent. ScheduleCalculator builds the instalments; interest for each instalment is outstanding x rate x year fraction under the account day count; the last instalment clears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deliberate decision. The partition rule was the cause of the October 409 error and is now fixed by migration V9 plus a startup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generic path. Middle row is what POST /loan-accounts/{id}/disburse does inside the service layer. Bottom row lists behaviour shared by all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on account type. The mortgage branch creates the mortgage with valuation and LTV, then registers the charge. Disburse is idempotent.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 must equal the instalment due. Part-payment reduces principal and re-versions the schedule. Foreclosure pays outstanding principal plus accrued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Quartz fires each job on its cron, but with end of day on (the default) the daily jobs run as one nightly chain in this order and the business date advances at the end. DPD update must finish before NPA classification. Nine job bodies call lending-service; 27 are still stubs. The times on the tiles are the standalone cron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Business is what the bank does, System is what the platform records, API is the call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Buckets are days past due on the oldest unpaid instalment. The classification run recomputes status for all tracked accounts. WRITTEN_OFF exists as a status and blocks payments, but nothing sets it automatically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microservice. Spring Boot API plus React UI in one container. It connects to the same PostgreSQL database with a read-only session, because the Lending REST API has no list, search or portfolio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 map to the requirements: account inquiry, amortization, accrual and payment details, upcoming payments, plus overdue, ledger outbox and batch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what are all the configurations. Three tiers. Runtime-editable: batch job settings in batch.batch_job_config, edited on the Configuration screen. Startup: environment variables on each service. Fixed: business rules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URL suffix is assigned by Render when the service is first created; copy it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Paths are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the REST lifecycle is real. The business date, end of day and nine batch jobs are written and checked against stubs and a mock platform, but not yet built with Maven or run against the real services. The other 27 job bodies, ledger integration, Kafka and authentication are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date is one date for the whole platform, owned by lending-service. It moves only through end of day: start, run the daily jobs, advance. Dates after it are refused; earlier dates are accepted so late items post to their own day. Weekends come from configuration and holidays from a table, but the date still moves one calendar day and due dates are not moved off holidays.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runs nightly (default 01:00 India time) or on demand. It runs the enabled daily jobs in priority order for the business date, skips ones already completed, stops at the first failure, and advances the date only when all have completed. It can be run again after a failure. Monthly and periodic jobs are outside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jobs now call lending-service per account: accrual, DPD update, NPA check, three rate-reset jobs, the two ledger jobs and foreclosure. Benchmark rates live in the benchmark_rate table. The other 27 jobs are still stubs. None of this has been built with Maven yet; it was checked with javac against stubs and a mock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portal and the end-to-end suite now measure every today as the business date. The portal stays read-only. The suite ran against a mock platform for 766 simulated days; it has not run against the real services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in v1.4: business date and end-of-day endpoints, benchmark rates and the per-account calls the batch jobs use. Paths relative to /api/v1.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p:spPr>
      </p:sp>
      <p:sp>
        <p:nvSpPr>
          <p:cNvPr id="3" name="Text 1"/>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Lending Platform  |  Architecture and loan lifecycle</a:t>
            </a:r>
            <a:endParaRPr lang="en-US" sz="1000" dirty="0"/>
          </a:p>
        </p:txBody>
      </p:sp>
      <p:sp>
        <p:nvSpPr>
          <p:cNvPr id="4" name="Text 2"/>
          <p:cNvSpPr/>
          <p:nvPr>
            <p:ph idx="102"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5" name="Text 2"/>
          <p:cNvSpPr/>
          <p:nvPr>
            <p:ph idx="103"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LAYOUT">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ph idx="102" type="body" hasCustomPrompt="1"/>
          </p:nvPr>
        </p:nvSpPr>
        <p:spPr>
          <a:xfrm>
            <a:off x="548640" y="960120"/>
            <a:ext cx="11064240" cy="36576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Lending Platform</a:t>
            </a:r>
            <a:endParaRPr lang="en-US" sz="5400" dirty="0"/>
          </a:p>
        </p:txBody>
      </p:sp>
      <p:sp>
        <p:nvSpPr>
          <p:cNvPr id="3" name="Text 1"/>
          <p:cNvSpPr txBox="1"/>
          <p:nvPr/>
        </p:nvSpPr>
        <p:spPr>
          <a:xfrm>
            <a:off x="731520" y="2880360"/>
            <a:ext cx="10515600" cy="548640"/>
          </a:xfrm>
          <a:prstGeom prst="rect">
            <a:avLst/>
          </a:prstGeom>
          <a:noFill/>
          <a:ln/>
        </p:spPr>
        <p:txBody>
          <a:bodyPr wrap="square" lIns="0" tIns="0" rIns="0" bIns="0" rtlCol="0" anchor="ctr"/>
          <a:lstStyle/>
          <a:p>
            <a:pPr indent="0" marL="0">
              <a:buNone/>
            </a:pPr>
            <a:r>
              <a:rPr lang="en-US" sz="2400" dirty="0">
                <a:solidFill>
                  <a:schemeClr val="bg2"/>
                </a:solidFill>
              </a:rPr>
              <a:t>Architecture, data model and the loan lifecycle  |  v1.7</a:t>
            </a:r>
            <a:endParaRPr lang="en-US" sz="2400" dirty="0"/>
          </a:p>
        </p:txBody>
      </p:sp>
      <p:sp>
        <p:nvSpPr>
          <p:cNvPr id="4" name="Text 2"/>
          <p:cNvSpPr txBox="1"/>
          <p:nvPr/>
        </p:nvSpPr>
        <p:spPr>
          <a:xfrm>
            <a:off x="731520" y="3520440"/>
            <a:ext cx="10515600" cy="365760"/>
          </a:xfrm>
          <a:prstGeom prst="rect">
            <a:avLst/>
          </a:prstGeom>
          <a:noFill/>
          <a:ln/>
        </p:spPr>
        <p:txBody>
          <a:bodyPr wrap="square" lIns="0" tIns="0" rIns="0" bIns="0" rtlCol="0" anchor="ctr"/>
          <a:lstStyle/>
          <a:p>
            <a:pPr indent="0" marL="0">
              <a:buNone/>
            </a:pPr>
            <a:r>
              <a:rPr lang="en-US" sz="1400" dirty="0">
                <a:solidFill>
                  <a:schemeClr val="accent2"/>
                </a:solidFill>
              </a:rPr>
              <a:t>lending-service  |  lending-batch-service  |  lending-admin-service  |  PostgreSQL  |  Render sandbox</a:t>
            </a:r>
            <a:endParaRPr lang="en-US" sz="1400" dirty="0"/>
          </a:p>
        </p:txBody>
      </p:sp>
      <p:sp>
        <p:nvSpPr>
          <p:cNvPr id="5" name="Shape 3"/>
          <p:cNvSpPr/>
          <p:nvPr/>
        </p:nvSpPr>
        <p:spPr>
          <a:xfrm>
            <a:off x="1005840" y="5257800"/>
            <a:ext cx="9875520" cy="0"/>
          </a:xfrm>
          <a:prstGeom prst="line">
            <a:avLst/>
          </a:prstGeom>
          <a:noFill/>
          <a:ln w="25400">
            <a:solidFill>
              <a:schemeClr val="accent1"/>
            </a:solidFill>
            <a:prstDash val="solid"/>
          </a:ln>
        </p:spPr>
      </p:sp>
      <p:sp>
        <p:nvSpPr>
          <p:cNvPr id="6" name="Text 4"/>
          <p:cNvSpPr txBox="1"/>
          <p:nvPr/>
        </p:nvSpPr>
        <p:spPr>
          <a:xfrm>
            <a:off x="7772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3657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Sanction</a:t>
            </a:r>
            <a:endParaRPr lang="en-US" sz="1200" dirty="0"/>
          </a:p>
        </p:txBody>
      </p:sp>
      <p:sp>
        <p:nvSpPr>
          <p:cNvPr id="8" name="Text 6"/>
          <p:cNvSpPr txBox="1"/>
          <p:nvPr/>
        </p:nvSpPr>
        <p:spPr>
          <a:xfrm>
            <a:off x="24231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20116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Onboard</a:t>
            </a:r>
            <a:endParaRPr lang="en-US" sz="1200" dirty="0"/>
          </a:p>
        </p:txBody>
      </p:sp>
      <p:sp>
        <p:nvSpPr>
          <p:cNvPr id="10" name="Text 8"/>
          <p:cNvSpPr txBox="1"/>
          <p:nvPr/>
        </p:nvSpPr>
        <p:spPr>
          <a:xfrm>
            <a:off x="406908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365760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Secure</a:t>
            </a:r>
            <a:endParaRPr lang="en-US" sz="1200" dirty="0"/>
          </a:p>
        </p:txBody>
      </p:sp>
      <p:sp>
        <p:nvSpPr>
          <p:cNvPr id="12" name="Text 10"/>
          <p:cNvSpPr txBox="1"/>
          <p:nvPr/>
        </p:nvSpPr>
        <p:spPr>
          <a:xfrm>
            <a:off x="5715000" y="502920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3" name="Text 11"/>
          <p:cNvSpPr txBox="1"/>
          <p:nvPr/>
        </p:nvSpPr>
        <p:spPr>
          <a:xfrm>
            <a:off x="530352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Disburse</a:t>
            </a:r>
            <a:endParaRPr lang="en-US" sz="1200" dirty="0"/>
          </a:p>
        </p:txBody>
      </p:sp>
      <p:sp>
        <p:nvSpPr>
          <p:cNvPr id="14" name="Text 12"/>
          <p:cNvSpPr txBox="1"/>
          <p:nvPr/>
        </p:nvSpPr>
        <p:spPr>
          <a:xfrm>
            <a:off x="736092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5" name="Text 13"/>
          <p:cNvSpPr txBox="1"/>
          <p:nvPr/>
        </p:nvSpPr>
        <p:spPr>
          <a:xfrm>
            <a:off x="694944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Repay</a:t>
            </a:r>
            <a:endParaRPr lang="en-US" sz="1200" dirty="0"/>
          </a:p>
        </p:txBody>
      </p:sp>
      <p:sp>
        <p:nvSpPr>
          <p:cNvPr id="16" name="Text 14"/>
          <p:cNvSpPr txBox="1"/>
          <p:nvPr/>
        </p:nvSpPr>
        <p:spPr>
          <a:xfrm>
            <a:off x="900684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Text 15"/>
          <p:cNvSpPr txBox="1"/>
          <p:nvPr/>
        </p:nvSpPr>
        <p:spPr>
          <a:xfrm>
            <a:off x="859536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Monitor</a:t>
            </a:r>
            <a:endParaRPr lang="en-US" sz="1200" dirty="0"/>
          </a:p>
        </p:txBody>
      </p:sp>
      <p:sp>
        <p:nvSpPr>
          <p:cNvPr id="18" name="Text 16"/>
          <p:cNvSpPr txBox="1"/>
          <p:nvPr/>
        </p:nvSpPr>
        <p:spPr>
          <a:xfrm>
            <a:off x="10652760" y="50292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9" name="Text 17"/>
          <p:cNvSpPr txBox="1"/>
          <p:nvPr/>
        </p:nvSpPr>
        <p:spPr>
          <a:xfrm>
            <a:off x="10241280" y="5577840"/>
            <a:ext cx="1280160" cy="274320"/>
          </a:xfrm>
          <a:prstGeom prst="rect">
            <a:avLst/>
          </a:prstGeom>
          <a:noFill/>
          <a:ln/>
        </p:spPr>
        <p:txBody>
          <a:bodyPr wrap="square" lIns="0" tIns="0" rIns="0" bIns="0" rtlCol="0" anchor="t"/>
          <a:lstStyle/>
          <a:p>
            <a:pPr algn="ctr" indent="0" marL="0">
              <a:buNone/>
            </a:pPr>
            <a:r>
              <a:rPr lang="en-US" sz="1200" dirty="0">
                <a:solidFill>
                  <a:schemeClr val="bg2"/>
                </a:solidFill>
              </a:rPr>
              <a:t>Close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we built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services, one database: the full loan lifecycle from sanction to closure, plus an admin console to see and tune it</a:t>
            </a:r>
            <a:endParaRPr lang="en-US" sz="1400" dirty="0"/>
          </a:p>
        </p:txBody>
      </p:sp>
      <p:sp>
        <p:nvSpPr>
          <p:cNvPr id="5" name="Text 2"/>
          <p:cNvSpPr txBox="1"/>
          <p:nvPr/>
        </p:nvSpPr>
        <p:spPr>
          <a:xfrm>
            <a:off x="54864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a:t>
            </a:r>
            <a:endParaRPr lang="en-US" sz="1200" dirty="0"/>
          </a:p>
          <a:p>
            <a:pPr algn="ctr" indent="0" marL="0">
              <a:buNone/>
            </a:pPr>
            <a:r>
              <a:rPr lang="en-US" sz="1300" dirty="0">
                <a:solidFill>
                  <a:schemeClr val="bg1"/>
                </a:solidFill>
              </a:rPr>
              <a:t>Spring Boot services</a:t>
            </a:r>
            <a:endParaRPr lang="en-US" sz="1200" dirty="0"/>
          </a:p>
        </p:txBody>
      </p:sp>
      <p:sp>
        <p:nvSpPr>
          <p:cNvPr id="6" name="Text 3"/>
          <p:cNvSpPr txBox="1"/>
          <p:nvPr/>
        </p:nvSpPr>
        <p:spPr>
          <a:xfrm>
            <a:off x="333756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15</a:t>
            </a:r>
            <a:endParaRPr lang="en-US" sz="1200" dirty="0"/>
          </a:p>
          <a:p>
            <a:pPr algn="ctr" indent="0" marL="0">
              <a:buNone/>
            </a:pPr>
            <a:r>
              <a:rPr lang="en-US" sz="1300" dirty="0">
                <a:solidFill>
                  <a:schemeClr val="bg1"/>
                </a:solidFill>
              </a:rPr>
              <a:t>Flyway migrations</a:t>
            </a:r>
            <a:endParaRPr lang="en-US" sz="1200" dirty="0"/>
          </a:p>
        </p:txBody>
      </p:sp>
      <p:sp>
        <p:nvSpPr>
          <p:cNvPr id="7" name="Text 4"/>
          <p:cNvSpPr txBox="1"/>
          <p:nvPr/>
        </p:nvSpPr>
        <p:spPr>
          <a:xfrm>
            <a:off x="612648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37</a:t>
            </a:r>
            <a:endParaRPr lang="en-US" sz="1200" dirty="0"/>
          </a:p>
          <a:p>
            <a:pPr algn="ctr" indent="0" marL="0">
              <a:buNone/>
            </a:pPr>
            <a:r>
              <a:rPr lang="en-US" sz="1300" dirty="0">
                <a:solidFill>
                  <a:schemeClr val="bg1"/>
                </a:solidFill>
              </a:rPr>
              <a:t>batch job slots</a:t>
            </a:r>
            <a:endParaRPr lang="en-US" sz="1200" dirty="0"/>
          </a:p>
        </p:txBody>
      </p:sp>
      <p:sp>
        <p:nvSpPr>
          <p:cNvPr id="8" name="Text 5"/>
          <p:cNvSpPr txBox="1"/>
          <p:nvPr/>
        </p:nvSpPr>
        <p:spPr>
          <a:xfrm>
            <a:off x="8915400" y="1463040"/>
            <a:ext cx="2606040" cy="1234440"/>
          </a:xfrm>
          <a:prstGeom prst="roundRect">
            <a:avLst>
              <a:gd name="adj" fmla="val 5926"/>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4000" b="1" dirty="0">
                <a:solidFill>
                  <a:schemeClr val="bg1"/>
                </a:solidFill>
                <a:latin typeface="Cambria" pitchFamily="34" charset="0"/>
                <a:ea typeface="Cambria" pitchFamily="34" charset="-122"/>
                <a:cs typeface="Cambria" pitchFamily="34" charset="-120"/>
              </a:rPr>
              <a:t>12</a:t>
            </a:r>
            <a:endParaRPr lang="en-US" sz="1200" dirty="0"/>
          </a:p>
          <a:p>
            <a:pPr algn="ctr" indent="0" marL="0">
              <a:buNone/>
            </a:pPr>
            <a:r>
              <a:rPr lang="en-US" sz="1300" dirty="0">
                <a:solidFill>
                  <a:schemeClr val="bg1"/>
                </a:solidFill>
              </a:rPr>
              <a:t>admin portal screens</a:t>
            </a:r>
            <a:endParaRPr lang="en-US" sz="1200" dirty="0"/>
          </a:p>
        </p:txBody>
      </p:sp>
      <p:sp>
        <p:nvSpPr>
          <p:cNvPr id="9" name="Text 6"/>
          <p:cNvSpPr txBox="1"/>
          <p:nvPr/>
        </p:nvSpPr>
        <p:spPr>
          <a:xfrm>
            <a:off x="548640" y="2926080"/>
            <a:ext cx="3566160" cy="3383280"/>
          </a:xfrm>
          <a:prstGeom prst="roundRect">
            <a:avLst>
              <a:gd name="adj" fmla="val 2162"/>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lending-service</a:t>
            </a:r>
            <a:endParaRPr lang="en-US" sz="1600" dirty="0"/>
          </a:p>
        </p:txBody>
      </p:sp>
      <p:sp>
        <p:nvSpPr>
          <p:cNvPr id="11" name="Text 8"/>
          <p:cNvSpPr txBox="1"/>
          <p:nvPr/>
        </p:nvSpPr>
        <p:spPr>
          <a:xfrm>
            <a:off x="73152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21  |  Spring Boot 3.3  |  port 8080</a:t>
            </a:r>
            <a:endParaRPr lang="en-US" sz="1050" dirty="0"/>
          </a:p>
        </p:txBody>
      </p:sp>
      <p:sp>
        <p:nvSpPr>
          <p:cNvPr id="12" name="Text 9"/>
          <p:cNvSpPr txBox="1"/>
          <p:nvPr/>
        </p:nvSpPr>
        <p:spPr>
          <a:xfrm>
            <a:off x="73152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Loan products; accounts opened from a product (single, bulk), disburse, lookup</a:t>
            </a:r>
            <a:endParaRPr lang="en-US" sz="1250" dirty="0"/>
          </a:p>
          <a:p>
            <a:pPr marL="342900" indent="-342900">
              <a:spcAft>
                <a:spcPts val="400"/>
              </a:spcAft>
              <a:buSzPct val="100000"/>
              <a:buChar char="•"/>
            </a:pPr>
            <a:r>
              <a:rPr lang="en-US" sz="1250" dirty="0">
                <a:solidFill>
                  <a:schemeClr val="tx1"/>
                </a:solidFill>
              </a:rPr>
              <a:t>Amortisation schedules with versioning</a:t>
            </a:r>
            <a:endParaRPr lang="en-US" sz="1250" dirty="0"/>
          </a:p>
          <a:p>
            <a:pPr marL="342900" indent="-342900">
              <a:spcAft>
                <a:spcPts val="400"/>
              </a:spcAft>
              <a:buSzPct val="100000"/>
              <a:buChar char="•"/>
            </a:pPr>
            <a:r>
              <a:rPr lang="en-US" sz="1250" dirty="0">
                <a:solidFill>
                  <a:schemeClr val="tx1"/>
                </a:solidFill>
              </a:rPr>
              <a:t>EMI, part-payment and foreclosure postings (save fix awaiting deployment)</a:t>
            </a:r>
            <a:endParaRPr lang="en-US" sz="1250" dirty="0"/>
          </a:p>
          <a:p>
            <a:pPr marL="342900" indent="-342900">
              <a:spcAft>
                <a:spcPts val="400"/>
              </a:spcAft>
              <a:buSzPct val="100000"/>
              <a:buChar char="•"/>
            </a:pPr>
            <a:r>
              <a:rPr lang="en-US" sz="1250" dirty="0">
                <a:solidFill>
                  <a:schemeClr val="tx1"/>
                </a:solidFill>
              </a:rPr>
              <a:t>Daily accrual; delinquency (DPD / NPA) classification</a:t>
            </a:r>
            <a:endParaRPr lang="en-US" sz="1250" dirty="0"/>
          </a:p>
          <a:p>
            <a:pPr marL="342900" indent="-342900">
              <a:spcAft>
                <a:spcPts val="400"/>
              </a:spcAft>
              <a:buSzPct val="100000"/>
              <a:buChar char="•"/>
            </a:pPr>
            <a:r>
              <a:rPr lang="en-US" sz="1250" dirty="0">
                <a:solidFill>
                  <a:schemeClr val="tx1"/>
                </a:solidFill>
              </a:rPr>
              <a:t>Mortgage charge and valuation tracking</a:t>
            </a:r>
            <a:endParaRPr lang="en-US" sz="1250" dirty="0"/>
          </a:p>
          <a:p>
            <a:pPr marL="342900" indent="-342900">
              <a:spcAft>
                <a:spcPts val="400"/>
              </a:spcAft>
              <a:buSzPct val="100000"/>
              <a:buChar char="•"/>
            </a:pPr>
            <a:r>
              <a:rPr lang="en-US" sz="1250" dirty="0">
                <a:solidFill>
                  <a:schemeClr val="tx1"/>
                </a:solidFill>
              </a:rPr>
              <a:t>Ledger outbox, PDF statements, business date</a:t>
            </a:r>
            <a:endParaRPr lang="en-US" sz="1250" dirty="0"/>
          </a:p>
        </p:txBody>
      </p:sp>
      <p:sp>
        <p:nvSpPr>
          <p:cNvPr id="13" name="Text 10"/>
          <p:cNvSpPr txBox="1"/>
          <p:nvPr/>
        </p:nvSpPr>
        <p:spPr>
          <a:xfrm>
            <a:off x="4297680" y="2926080"/>
            <a:ext cx="3566160" cy="3383280"/>
          </a:xfrm>
          <a:prstGeom prst="roundRect">
            <a:avLst>
              <a:gd name="adj" fmla="val 2162"/>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448056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lending-batch-service</a:t>
            </a:r>
            <a:endParaRPr lang="en-US" sz="1600" dirty="0"/>
          </a:p>
        </p:txBody>
      </p:sp>
      <p:sp>
        <p:nvSpPr>
          <p:cNvPr id="15" name="Text 12"/>
          <p:cNvSpPr txBox="1"/>
          <p:nvPr/>
        </p:nvSpPr>
        <p:spPr>
          <a:xfrm>
            <a:off x="448056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Batch 5  |  Quartz  |  Kafka</a:t>
            </a:r>
            <a:endParaRPr lang="en-US" sz="1050" dirty="0"/>
          </a:p>
        </p:txBody>
      </p:sp>
      <p:sp>
        <p:nvSpPr>
          <p:cNvPr id="16" name="Text 13"/>
          <p:cNvSpPr txBox="1"/>
          <p:nvPr/>
        </p:nvSpPr>
        <p:spPr>
          <a:xfrm>
            <a:off x="448056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Clustered Quartz scheduler; nightly end of day</a:t>
            </a:r>
            <a:endParaRPr lang="en-US" sz="1250" dirty="0"/>
          </a:p>
          <a:p>
            <a:pPr marL="342900" indent="-342900">
              <a:spcAft>
                <a:spcPts val="400"/>
              </a:spcAft>
              <a:buSzPct val="100000"/>
              <a:buChar char="•"/>
            </a:pPr>
            <a:r>
              <a:rPr lang="en-US" sz="1250" dirty="0">
                <a:solidFill>
                  <a:schemeClr val="tx1"/>
                </a:solidFill>
              </a:rPr>
              <a:t>37 jobs: 14 daily, 11 monthly, 12 periodic; 11 call lending-service</a:t>
            </a:r>
            <a:endParaRPr lang="en-US" sz="1250" dirty="0"/>
          </a:p>
          <a:p>
            <a:pPr marL="342900" indent="-342900">
              <a:spcAft>
                <a:spcPts val="400"/>
              </a:spcAft>
              <a:buSzPct val="100000"/>
              <a:buChar char="•"/>
            </a:pPr>
            <a:r>
              <a:rPr lang="en-US" sz="1250" dirty="0">
                <a:solidFill>
                  <a:schemeClr val="tx1"/>
                </a:solidFill>
              </a:rPr>
              <a:t>Retry, skip and dead-letter handling per job</a:t>
            </a:r>
            <a:endParaRPr lang="en-US" sz="1250" dirty="0"/>
          </a:p>
          <a:p>
            <a:pPr marL="342900" indent="-342900">
              <a:spcAft>
                <a:spcPts val="400"/>
              </a:spcAft>
              <a:buSzPct val="100000"/>
              <a:buChar char="•"/>
            </a:pPr>
            <a:r>
              <a:rPr lang="en-US" sz="1250" dirty="0">
                <a:solidFill>
                  <a:schemeClr val="tx1"/>
                </a:solidFill>
              </a:rPr>
              <a:t>Admin REST API: trigger, back-date, status, reload, edit a job</a:t>
            </a:r>
            <a:endParaRPr lang="en-US" sz="1250" dirty="0"/>
          </a:p>
          <a:p>
            <a:pPr marL="342900" indent="-342900">
              <a:spcAft>
                <a:spcPts val="400"/>
              </a:spcAft>
              <a:buSzPct val="100000"/>
              <a:buChar char="•"/>
            </a:pPr>
            <a:r>
              <a:rPr lang="en-US" sz="1250" dirty="0">
                <a:solidFill>
                  <a:schemeClr val="tx1"/>
                </a:solidFill>
              </a:rPr>
              <a:t>Job settings live in a table; reload without restart</a:t>
            </a:r>
            <a:endParaRPr lang="en-US" sz="1250" dirty="0"/>
          </a:p>
        </p:txBody>
      </p:sp>
      <p:sp>
        <p:nvSpPr>
          <p:cNvPr id="17" name="Text 14"/>
          <p:cNvSpPr txBox="1"/>
          <p:nvPr/>
        </p:nvSpPr>
        <p:spPr>
          <a:xfrm>
            <a:off x="8046720" y="2926080"/>
            <a:ext cx="3566160" cy="3383280"/>
          </a:xfrm>
          <a:prstGeom prst="roundRect">
            <a:avLst>
              <a:gd name="adj" fmla="val 2162"/>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8229600" y="3017520"/>
            <a:ext cx="3200400" cy="320040"/>
          </a:xfrm>
          <a:prstGeom prst="rect">
            <a:avLst/>
          </a:prstGeom>
          <a:noFill/>
          <a:ln/>
        </p:spPr>
        <p:txBody>
          <a:bodyPr wrap="square" lIns="0" tIns="0" rIns="0" bIns="0" rtlCol="0" anchor="t"/>
          <a:lstStyle/>
          <a:p>
            <a:pPr indent="0" marL="0">
              <a:buNone/>
            </a:pPr>
            <a:r>
              <a:rPr lang="en-US" sz="1600" b="1" dirty="0">
                <a:solidFill>
                  <a:schemeClr val="tx2"/>
                </a:solidFill>
              </a:rPr>
              <a:t>lending-admin-service  (new)</a:t>
            </a:r>
            <a:endParaRPr lang="en-US" sz="1600" dirty="0"/>
          </a:p>
        </p:txBody>
      </p:sp>
      <p:sp>
        <p:nvSpPr>
          <p:cNvPr id="19" name="Text 16"/>
          <p:cNvSpPr txBox="1"/>
          <p:nvPr/>
        </p:nvSpPr>
        <p:spPr>
          <a:xfrm>
            <a:off x="8229600" y="3346704"/>
            <a:ext cx="3246120" cy="274320"/>
          </a:xfrm>
          <a:prstGeom prst="rect">
            <a:avLst/>
          </a:prstGeom>
          <a:noFill/>
          <a:ln/>
        </p:spPr>
        <p:txBody>
          <a:bodyPr wrap="square" lIns="0" tIns="0" rIns="0" bIns="0" rtlCol="0" anchor="t"/>
          <a:lstStyle/>
          <a:p>
            <a:pPr indent="0" marL="0">
              <a:buNone/>
            </a:pPr>
            <a:r>
              <a:rPr lang="en-US" sz="1050" dirty="0">
                <a:solidFill>
                  <a:schemeClr val="accent4"/>
                </a:solidFill>
              </a:rPr>
              <a:t>Java 17  |  Spring Boot 3.3 + React 18  |  port 8082</a:t>
            </a:r>
            <a:endParaRPr lang="en-US" sz="1050" dirty="0"/>
          </a:p>
        </p:txBody>
      </p:sp>
      <p:sp>
        <p:nvSpPr>
          <p:cNvPr id="20" name="Text 17"/>
          <p:cNvSpPr txBox="1"/>
          <p:nvPr/>
        </p:nvSpPr>
        <p:spPr>
          <a:xfrm>
            <a:off x="8229600" y="3703320"/>
            <a:ext cx="3246120" cy="2560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Account search and inquiry: amortisation, accruals, payments, mortgage, statement PDF</a:t>
            </a:r>
            <a:endParaRPr lang="en-US" sz="1250" dirty="0"/>
          </a:p>
          <a:p>
            <a:pPr marL="342900" indent="-342900">
              <a:spcAft>
                <a:spcPts val="400"/>
              </a:spcAft>
              <a:buSzPct val="100000"/>
              <a:buChar char="•"/>
            </a:pPr>
            <a:r>
              <a:rPr lang="en-US" sz="1250" dirty="0">
                <a:solidFill>
                  <a:schemeClr val="tx1"/>
                </a:solidFill>
              </a:rPr>
              <a:t>Upcoming payments and overdue by days past due</a:t>
            </a:r>
            <a:endParaRPr lang="en-US" sz="1250" dirty="0"/>
          </a:p>
          <a:p>
            <a:pPr marL="342900" indent="-342900">
              <a:spcAft>
                <a:spcPts val="400"/>
              </a:spcAft>
              <a:buSzPct val="100000"/>
              <a:buChar char="•"/>
            </a:pPr>
            <a:r>
              <a:rPr lang="en-US" sz="1250" dirty="0">
                <a:solidFill>
                  <a:schemeClr val="tx1"/>
                </a:solidFill>
              </a:rPr>
              <a:t>Products: view, create and edit loan products</a:t>
            </a:r>
            <a:endParaRPr lang="en-US" sz="1250" dirty="0"/>
          </a:p>
          <a:p>
            <a:pPr marL="342900" indent="-342900">
              <a:spcAft>
                <a:spcPts val="400"/>
              </a:spcAft>
              <a:buSzPct val="100000"/>
              <a:buChar char="•"/>
            </a:pPr>
            <a:r>
              <a:rPr lang="en-US" sz="1250" dirty="0">
                <a:solidFill>
                  <a:schemeClr val="tx1"/>
                </a:solidFill>
              </a:rPr>
              <a:t>Dashboard, ledger outbox, batch runs, Maintenance</a:t>
            </a:r>
            <a:endParaRPr lang="en-US" sz="1250" dirty="0"/>
          </a:p>
          <a:p>
            <a:pPr marL="342900" indent="-342900">
              <a:spcAft>
                <a:spcPts val="400"/>
              </a:spcAft>
              <a:buSzPct val="100000"/>
              <a:buChar char="•"/>
            </a:pPr>
            <a:r>
              <a:rPr lang="en-US" sz="1250" dirty="0">
                <a:solidFill>
                  <a:schemeClr val="tx1"/>
                </a:solidFill>
              </a:rPr>
              <a:t>Configuration: edit batch job settings; view every service's settings</a:t>
            </a:r>
            <a:endParaRPr lang="en-US" sz="1250" dirty="0"/>
          </a:p>
          <a:p>
            <a:pPr marL="342900" indent="-342900">
              <a:spcAft>
                <a:spcPts val="400"/>
              </a:spcAft>
              <a:buSzPct val="100000"/>
              <a:buChar char="•"/>
            </a:pPr>
            <a:r>
              <a:rPr lang="en-US" sz="1250" dirty="0">
                <a:solidFill>
                  <a:schemeClr val="tx1"/>
                </a:solidFill>
              </a:rPr>
              <a:t>Basic login; read-only database session</a:t>
            </a:r>
            <a:endParaRPr lang="en-US" sz="125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stateless services share one PostgreSQL database; the admin console only reads it</a:t>
            </a:r>
            <a:endParaRPr lang="en-US" sz="1400" dirty="0"/>
          </a:p>
        </p:txBody>
      </p:sp>
      <p:sp>
        <p:nvSpPr>
          <p:cNvPr id="5" name="Text 2"/>
          <p:cNvSpPr txBox="1"/>
          <p:nvPr/>
        </p:nvSpPr>
        <p:spPr>
          <a:xfrm>
            <a:off x="548640" y="1417320"/>
            <a:ext cx="3566160" cy="640080"/>
          </a:xfrm>
          <a:prstGeom prst="roundRect">
            <a:avLst>
              <a:gd name="adj" fmla="val 11429"/>
            </a:avLst>
          </a:prstGeom>
          <a:solidFill>
            <a:schemeClr val="accent1">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Swagger UI  |  channel and partner apps  |  scripts</a:t>
            </a:r>
            <a:endParaRPr lang="en-US" sz="1100" dirty="0"/>
          </a:p>
        </p:txBody>
      </p:sp>
      <p:sp>
        <p:nvSpPr>
          <p:cNvPr id="6" name="Shape 3"/>
          <p:cNvSpPr/>
          <p:nvPr/>
        </p:nvSpPr>
        <p:spPr>
          <a:xfrm>
            <a:off x="2331720" y="2057400"/>
            <a:ext cx="0" cy="457200"/>
          </a:xfrm>
          <a:prstGeom prst="line">
            <a:avLst/>
          </a:prstGeom>
          <a:noFill/>
          <a:ln w="22225">
            <a:solidFill>
              <a:schemeClr val="tx2"/>
            </a:solidFill>
            <a:prstDash val="solid"/>
            <a:tailEnd type="triangle"/>
          </a:ln>
        </p:spPr>
      </p:sp>
      <p:sp>
        <p:nvSpPr>
          <p:cNvPr id="7" name="Text 4"/>
          <p:cNvSpPr txBox="1"/>
          <p:nvPr/>
        </p:nvSpPr>
        <p:spPr>
          <a:xfrm>
            <a:off x="242316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8" name="Text 5"/>
          <p:cNvSpPr txBox="1"/>
          <p:nvPr/>
        </p:nvSpPr>
        <p:spPr>
          <a:xfrm>
            <a:off x="548640" y="2514600"/>
            <a:ext cx="3566160" cy="2286000"/>
          </a:xfrm>
          <a:prstGeom prst="roundRect">
            <a:avLst>
              <a:gd name="adj" fmla="val 3200"/>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8580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a:p>
            <a:pPr indent="0" marL="0">
              <a:buNone/>
            </a:pPr>
            <a:r>
              <a:rPr lang="en-US" sz="1050" dirty="0">
                <a:solidFill>
                  <a:schemeClr val="tx2"/>
                </a:solidFill>
              </a:rPr>
              <a:t>Java 21  |  Spring Boot 3.3  |  :8080</a:t>
            </a:r>
            <a:endParaRPr lang="en-US" sz="1400" dirty="0"/>
          </a:p>
        </p:txBody>
      </p:sp>
      <p:sp>
        <p:nvSpPr>
          <p:cNvPr id="10" name="Text 7"/>
          <p:cNvSpPr txBox="1"/>
          <p:nvPr/>
        </p:nvSpPr>
        <p:spPr>
          <a:xfrm>
            <a:off x="64008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Products and accounts</a:t>
            </a:r>
            <a:endParaRPr lang="en-US" sz="1050" dirty="0"/>
          </a:p>
        </p:txBody>
      </p:sp>
      <p:sp>
        <p:nvSpPr>
          <p:cNvPr id="11" name="Text 8"/>
          <p:cNvSpPr txBox="1"/>
          <p:nvPr/>
        </p:nvSpPr>
        <p:spPr>
          <a:xfrm>
            <a:off x="2377440" y="3200400"/>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Schedule and accrual</a:t>
            </a:r>
            <a:endParaRPr lang="en-US" sz="1050" dirty="0"/>
          </a:p>
        </p:txBody>
      </p:sp>
      <p:sp>
        <p:nvSpPr>
          <p:cNvPr id="12" name="Text 9"/>
          <p:cNvSpPr txBox="1"/>
          <p:nvPr/>
        </p:nvSpPr>
        <p:spPr>
          <a:xfrm>
            <a:off x="64008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Payments</a:t>
            </a:r>
            <a:endParaRPr lang="en-US" sz="1050" dirty="0"/>
          </a:p>
        </p:txBody>
      </p:sp>
      <p:sp>
        <p:nvSpPr>
          <p:cNvPr id="13" name="Text 10"/>
          <p:cNvSpPr txBox="1"/>
          <p:nvPr/>
        </p:nvSpPr>
        <p:spPr>
          <a:xfrm>
            <a:off x="2377440" y="3730752"/>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Mortgage</a:t>
            </a:r>
            <a:endParaRPr lang="en-US" sz="1050" dirty="0"/>
          </a:p>
        </p:txBody>
      </p:sp>
      <p:sp>
        <p:nvSpPr>
          <p:cNvPr id="14" name="Text 11"/>
          <p:cNvSpPr txBox="1"/>
          <p:nvPr/>
        </p:nvSpPr>
        <p:spPr>
          <a:xfrm>
            <a:off x="64008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PDF statements</a:t>
            </a:r>
            <a:endParaRPr lang="en-US" sz="1050" dirty="0"/>
          </a:p>
        </p:txBody>
      </p:sp>
      <p:sp>
        <p:nvSpPr>
          <p:cNvPr id="15" name="Text 12"/>
          <p:cNvSpPr txBox="1"/>
          <p:nvPr/>
        </p:nvSpPr>
        <p:spPr>
          <a:xfrm>
            <a:off x="2377440" y="4261104"/>
            <a:ext cx="1645920" cy="457200"/>
          </a:xfrm>
          <a:prstGeom prst="roundRect">
            <a:avLst>
              <a:gd name="adj" fmla="val 16000"/>
            </a:avLst>
          </a:prstGeom>
          <a:solidFill>
            <a:schemeClr val="accent1"/>
          </a:solidFill>
          <a:ln w="12700">
            <a:solidFill>
              <a:schemeClr val="accent1"/>
            </a:solidFill>
          </a:ln>
        </p:spPr>
        <p:txBody>
          <a:bodyPr wrap="square" lIns="25400" tIns="25400" rIns="25400" bIns="25400" rtlCol="0" anchor="ctr"/>
          <a:lstStyle/>
          <a:p>
            <a:pPr algn="ctr" indent="0" marL="0">
              <a:buNone/>
            </a:pPr>
            <a:r>
              <a:rPr lang="en-US" sz="1050" dirty="0">
                <a:solidFill>
                  <a:schemeClr val="bg1"/>
                </a:solidFill>
              </a:rPr>
              <a:t>Ledger outbox</a:t>
            </a:r>
            <a:endParaRPr lang="en-US" sz="1050" dirty="0"/>
          </a:p>
        </p:txBody>
      </p:sp>
      <p:sp>
        <p:nvSpPr>
          <p:cNvPr id="16" name="Text 13"/>
          <p:cNvSpPr txBox="1"/>
          <p:nvPr/>
        </p:nvSpPr>
        <p:spPr>
          <a:xfrm>
            <a:off x="4297680" y="1417320"/>
            <a:ext cx="3566160" cy="640080"/>
          </a:xfrm>
          <a:prstGeom prst="roundRect">
            <a:avLst>
              <a:gd name="adj" fmla="val 11429"/>
            </a:avLst>
          </a:prstGeom>
          <a:solidFill>
            <a:schemeClr val="accent4">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Operators  (HTTP Basic, BATCH_ADMIN)</a:t>
            </a:r>
            <a:endParaRPr lang="en-US" sz="1100" dirty="0"/>
          </a:p>
        </p:txBody>
      </p:sp>
      <p:sp>
        <p:nvSpPr>
          <p:cNvPr id="17" name="Shape 14"/>
          <p:cNvSpPr/>
          <p:nvPr/>
        </p:nvSpPr>
        <p:spPr>
          <a:xfrm>
            <a:off x="6080760" y="2057400"/>
            <a:ext cx="0" cy="457200"/>
          </a:xfrm>
          <a:prstGeom prst="line">
            <a:avLst/>
          </a:prstGeom>
          <a:noFill/>
          <a:ln w="22225">
            <a:solidFill>
              <a:schemeClr val="tx2"/>
            </a:solidFill>
            <a:prstDash val="solid"/>
            <a:tailEnd type="triangle"/>
          </a:ln>
        </p:spPr>
      </p:sp>
      <p:sp>
        <p:nvSpPr>
          <p:cNvPr id="18" name="Text 15"/>
          <p:cNvSpPr txBox="1"/>
          <p:nvPr/>
        </p:nvSpPr>
        <p:spPr>
          <a:xfrm>
            <a:off x="617220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19" name="Text 16"/>
          <p:cNvSpPr txBox="1"/>
          <p:nvPr/>
        </p:nvSpPr>
        <p:spPr>
          <a:xfrm>
            <a:off x="4297680" y="2514600"/>
            <a:ext cx="3566160" cy="2286000"/>
          </a:xfrm>
          <a:prstGeom prst="roundRect">
            <a:avLst>
              <a:gd name="adj" fmla="val 3200"/>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20" name="Text 17"/>
          <p:cNvSpPr txBox="1"/>
          <p:nvPr/>
        </p:nvSpPr>
        <p:spPr>
          <a:xfrm>
            <a:off x="443484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a:p>
            <a:pPr indent="0" marL="0">
              <a:buNone/>
            </a:pPr>
            <a:r>
              <a:rPr lang="en-US" sz="1050" dirty="0">
                <a:solidFill>
                  <a:schemeClr val="tx2"/>
                </a:solidFill>
              </a:rPr>
              <a:t>Java 17  |  Spring Batch 5  |  Quartz  |  :8081</a:t>
            </a:r>
            <a:endParaRPr lang="en-US" sz="1400" dirty="0"/>
          </a:p>
        </p:txBody>
      </p:sp>
      <p:sp>
        <p:nvSpPr>
          <p:cNvPr id="21" name="Text 18"/>
          <p:cNvSpPr txBox="1"/>
          <p:nvPr/>
        </p:nvSpPr>
        <p:spPr>
          <a:xfrm>
            <a:off x="438912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Quartz scheduler (clustered)</a:t>
            </a:r>
            <a:endParaRPr lang="en-US" sz="1050" dirty="0"/>
          </a:p>
        </p:txBody>
      </p:sp>
      <p:sp>
        <p:nvSpPr>
          <p:cNvPr id="22" name="Text 19"/>
          <p:cNvSpPr txBox="1"/>
          <p:nvPr/>
        </p:nvSpPr>
        <p:spPr>
          <a:xfrm>
            <a:off x="6126480" y="3200400"/>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36 job slots</a:t>
            </a:r>
            <a:endParaRPr lang="en-US" sz="1050" dirty="0"/>
          </a:p>
        </p:txBody>
      </p:sp>
      <p:sp>
        <p:nvSpPr>
          <p:cNvPr id="23" name="Text 20"/>
          <p:cNvSpPr txBox="1"/>
          <p:nvPr/>
        </p:nvSpPr>
        <p:spPr>
          <a:xfrm>
            <a:off x="438912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Admin REST API</a:t>
            </a:r>
            <a:endParaRPr lang="en-US" sz="1050" dirty="0"/>
          </a:p>
        </p:txBody>
      </p:sp>
      <p:sp>
        <p:nvSpPr>
          <p:cNvPr id="24" name="Text 21"/>
          <p:cNvSpPr txBox="1"/>
          <p:nvPr/>
        </p:nvSpPr>
        <p:spPr>
          <a:xfrm>
            <a:off x="6126480" y="3730752"/>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Dead-letter and audit</a:t>
            </a:r>
            <a:endParaRPr lang="en-US" sz="1050" dirty="0"/>
          </a:p>
        </p:txBody>
      </p:sp>
      <p:sp>
        <p:nvSpPr>
          <p:cNvPr id="25" name="Text 22"/>
          <p:cNvSpPr txBox="1"/>
          <p:nvPr/>
        </p:nvSpPr>
        <p:spPr>
          <a:xfrm>
            <a:off x="438912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Hot-reload job config</a:t>
            </a:r>
            <a:endParaRPr lang="en-US" sz="1050" dirty="0"/>
          </a:p>
        </p:txBody>
      </p:sp>
      <p:sp>
        <p:nvSpPr>
          <p:cNvPr id="26" name="Text 23"/>
          <p:cNvSpPr txBox="1"/>
          <p:nvPr/>
        </p:nvSpPr>
        <p:spPr>
          <a:xfrm>
            <a:off x="6126480" y="4261104"/>
            <a:ext cx="1645920" cy="457200"/>
          </a:xfrm>
          <a:prstGeom prst="roundRect">
            <a:avLst>
              <a:gd name="adj" fmla="val 16000"/>
            </a:avLst>
          </a:prstGeom>
          <a:solidFill>
            <a:schemeClr val="accent4"/>
          </a:solidFill>
          <a:ln w="12700">
            <a:solidFill>
              <a:schemeClr val="accent4"/>
            </a:solidFill>
          </a:ln>
        </p:spPr>
        <p:txBody>
          <a:bodyPr wrap="square" lIns="25400" tIns="25400" rIns="25400" bIns="25400" rtlCol="0" anchor="ctr"/>
          <a:lstStyle/>
          <a:p>
            <a:pPr algn="ctr" indent="0" marL="0">
              <a:buNone/>
            </a:pPr>
            <a:r>
              <a:rPr lang="en-US" sz="1050" dirty="0">
                <a:solidFill>
                  <a:schemeClr val="bg1"/>
                </a:solidFill>
              </a:rPr>
              <a:t>Kafka event producer</a:t>
            </a:r>
            <a:endParaRPr lang="en-US" sz="1050" dirty="0"/>
          </a:p>
        </p:txBody>
      </p:sp>
      <p:sp>
        <p:nvSpPr>
          <p:cNvPr id="27" name="Text 24"/>
          <p:cNvSpPr txBox="1"/>
          <p:nvPr/>
        </p:nvSpPr>
        <p:spPr>
          <a:xfrm>
            <a:off x="8046720" y="1417320"/>
            <a:ext cx="3566160" cy="640080"/>
          </a:xfrm>
          <a:prstGeom prst="roundRect">
            <a:avLst>
              <a:gd name="adj" fmla="val 11429"/>
            </a:avLst>
          </a:prstGeom>
          <a:solidFill>
            <a:schemeClr val="accent2">
              <a:alpha val="12000"/>
            </a:schemeClr>
          </a:solidFill>
          <a:ln w="12700">
            <a:solidFill>
              <a:schemeClr val="accent1"/>
            </a:solidFill>
          </a:ln>
        </p:spPr>
        <p:txBody>
          <a:bodyPr wrap="square" lIns="50800" tIns="50800" rIns="50800" bIns="50800" rtlCol="0" anchor="ctr"/>
          <a:lstStyle/>
          <a:p>
            <a:pPr algn="ctr" indent="0" marL="0">
              <a:buNone/>
            </a:pPr>
            <a:r>
              <a:rPr lang="en-US" sz="1100" dirty="0">
                <a:solidFill>
                  <a:schemeClr val="tx1"/>
                </a:solidFill>
              </a:rPr>
              <a:t>Operations staff  (browser, HTTP Basic)</a:t>
            </a:r>
            <a:endParaRPr lang="en-US" sz="1100" dirty="0"/>
          </a:p>
        </p:txBody>
      </p:sp>
      <p:sp>
        <p:nvSpPr>
          <p:cNvPr id="28" name="Shape 25"/>
          <p:cNvSpPr/>
          <p:nvPr/>
        </p:nvSpPr>
        <p:spPr>
          <a:xfrm>
            <a:off x="9829800" y="2057400"/>
            <a:ext cx="0" cy="457200"/>
          </a:xfrm>
          <a:prstGeom prst="line">
            <a:avLst/>
          </a:prstGeom>
          <a:noFill/>
          <a:ln w="22225">
            <a:solidFill>
              <a:schemeClr val="tx2"/>
            </a:solidFill>
            <a:prstDash val="solid"/>
            <a:tailEnd type="triangle"/>
          </a:ln>
        </p:spPr>
      </p:sp>
      <p:sp>
        <p:nvSpPr>
          <p:cNvPr id="29" name="Text 26"/>
          <p:cNvSpPr txBox="1"/>
          <p:nvPr/>
        </p:nvSpPr>
        <p:spPr>
          <a:xfrm>
            <a:off x="9921240" y="210312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REST / JSON</a:t>
            </a:r>
            <a:endParaRPr lang="en-US" sz="1000" dirty="0"/>
          </a:p>
        </p:txBody>
      </p:sp>
      <p:sp>
        <p:nvSpPr>
          <p:cNvPr id="30" name="Text 27"/>
          <p:cNvSpPr txBox="1"/>
          <p:nvPr/>
        </p:nvSpPr>
        <p:spPr>
          <a:xfrm>
            <a:off x="8046720" y="2514600"/>
            <a:ext cx="3566160" cy="2286000"/>
          </a:xfrm>
          <a:prstGeom prst="roundRect">
            <a:avLst>
              <a:gd name="adj" fmla="val 3200"/>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183880" y="2587752"/>
            <a:ext cx="3291840" cy="457200"/>
          </a:xfrm>
          <a:prstGeom prst="rect">
            <a:avLst/>
          </a:prstGeom>
          <a:noFill/>
          <a:ln/>
        </p:spPr>
        <p:txBody>
          <a:bodyPr wrap="square" lIns="0" tIns="0" rIns="0" bIns="0" rtlCol="0" anchor="t"/>
          <a:lstStyle/>
          <a:p>
            <a:pPr indent="0" marL="0">
              <a:buNone/>
            </a:pPr>
            <a:r>
              <a:rPr lang="en-US" sz="1400" b="1" dirty="0">
                <a:solidFill>
                  <a:schemeClr val="tx2"/>
                </a:solidFill>
              </a:rPr>
              <a:t>lending-admin-service</a:t>
            </a:r>
            <a:endParaRPr lang="en-US" sz="1400" dirty="0"/>
          </a:p>
          <a:p>
            <a:pPr indent="0" marL="0">
              <a:buNone/>
            </a:pPr>
            <a:r>
              <a:rPr lang="en-US" sz="1050" dirty="0">
                <a:solidFill>
                  <a:schemeClr val="tx2"/>
                </a:solidFill>
              </a:rPr>
              <a:t>Java 17  |  Spring Boot + React  |  :8082</a:t>
            </a:r>
            <a:endParaRPr lang="en-US" sz="1400" dirty="0"/>
          </a:p>
        </p:txBody>
      </p:sp>
      <p:sp>
        <p:nvSpPr>
          <p:cNvPr id="32" name="Text 29"/>
          <p:cNvSpPr txBox="1"/>
          <p:nvPr/>
        </p:nvSpPr>
        <p:spPr>
          <a:xfrm>
            <a:off x="813816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Account inquiry</a:t>
            </a:r>
            <a:endParaRPr lang="en-US" sz="1050" dirty="0"/>
          </a:p>
        </p:txBody>
      </p:sp>
      <p:sp>
        <p:nvSpPr>
          <p:cNvPr id="33" name="Text 30"/>
          <p:cNvSpPr txBox="1"/>
          <p:nvPr/>
        </p:nvSpPr>
        <p:spPr>
          <a:xfrm>
            <a:off x="9875520" y="3200400"/>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Amortisation and accruals</a:t>
            </a:r>
            <a:endParaRPr lang="en-US" sz="1050" dirty="0"/>
          </a:p>
        </p:txBody>
      </p:sp>
      <p:sp>
        <p:nvSpPr>
          <p:cNvPr id="34" name="Text 31"/>
          <p:cNvSpPr txBox="1"/>
          <p:nvPr/>
        </p:nvSpPr>
        <p:spPr>
          <a:xfrm>
            <a:off x="813816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Upcoming and overdue</a:t>
            </a:r>
            <a:endParaRPr lang="en-US" sz="1050" dirty="0"/>
          </a:p>
        </p:txBody>
      </p:sp>
      <p:sp>
        <p:nvSpPr>
          <p:cNvPr id="35" name="Text 32"/>
          <p:cNvSpPr txBox="1"/>
          <p:nvPr/>
        </p:nvSpPr>
        <p:spPr>
          <a:xfrm>
            <a:off x="9875520" y="3730752"/>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Dashboard</a:t>
            </a:r>
            <a:endParaRPr lang="en-US" sz="1050" dirty="0"/>
          </a:p>
        </p:txBody>
      </p:sp>
      <p:sp>
        <p:nvSpPr>
          <p:cNvPr id="36" name="Text 33"/>
          <p:cNvSpPr txBox="1"/>
          <p:nvPr/>
        </p:nvSpPr>
        <p:spPr>
          <a:xfrm>
            <a:off x="813816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Ledger and batch views</a:t>
            </a:r>
            <a:endParaRPr lang="en-US" sz="1050" dirty="0"/>
          </a:p>
        </p:txBody>
      </p:sp>
      <p:sp>
        <p:nvSpPr>
          <p:cNvPr id="37" name="Text 34"/>
          <p:cNvSpPr txBox="1"/>
          <p:nvPr/>
        </p:nvSpPr>
        <p:spPr>
          <a:xfrm>
            <a:off x="9875520" y="4261104"/>
            <a:ext cx="1645920" cy="457200"/>
          </a:xfrm>
          <a:prstGeom prst="roundRect">
            <a:avLst>
              <a:gd name="adj" fmla="val 16000"/>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050" dirty="0">
                <a:solidFill>
                  <a:schemeClr val="tx1"/>
                </a:solidFill>
              </a:rPr>
              <a:t>Products and configuration</a:t>
            </a:r>
            <a:endParaRPr lang="en-US" sz="1050" dirty="0"/>
          </a:p>
        </p:txBody>
      </p:sp>
      <p:sp>
        <p:nvSpPr>
          <p:cNvPr id="38" name="Shape 35"/>
          <p:cNvSpPr/>
          <p:nvPr/>
        </p:nvSpPr>
        <p:spPr>
          <a:xfrm flipH="1">
            <a:off x="7863840" y="4114800"/>
            <a:ext cx="182880" cy="0"/>
          </a:xfrm>
          <a:prstGeom prst="line">
            <a:avLst/>
          </a:prstGeom>
          <a:noFill/>
          <a:ln w="22225">
            <a:solidFill>
              <a:schemeClr val="accent2"/>
            </a:solidFill>
            <a:prstDash val="dash"/>
            <a:tailEnd type="triangle"/>
          </a:ln>
        </p:spPr>
      </p:sp>
      <p:sp>
        <p:nvSpPr>
          <p:cNvPr id="39" name="Text 36"/>
          <p:cNvSpPr txBox="1"/>
          <p:nvPr/>
        </p:nvSpPr>
        <p:spPr>
          <a:xfrm>
            <a:off x="7635240" y="4828032"/>
            <a:ext cx="1554480" cy="228600"/>
          </a:xfrm>
          <a:prstGeom prst="rect">
            <a:avLst/>
          </a:prstGeom>
          <a:noFill/>
          <a:ln/>
        </p:spPr>
        <p:txBody>
          <a:bodyPr wrap="square" lIns="0" tIns="0" rIns="0" bIns="0" rtlCol="0" anchor="ctr"/>
          <a:lstStyle/>
          <a:p>
            <a:pPr algn="l" indent="0" marL="0">
              <a:buNone/>
            </a:pPr>
            <a:r>
              <a:rPr lang="en-US" sz="900" i="1" dirty="0">
                <a:solidFill>
                  <a:schemeClr val="accent4"/>
                </a:solidFill>
              </a:rPr>
              <a:t>edit jobs (PUT, reload)</a:t>
            </a:r>
            <a:endParaRPr lang="en-US" sz="900" dirty="0"/>
          </a:p>
        </p:txBody>
      </p:sp>
      <p:sp>
        <p:nvSpPr>
          <p:cNvPr id="40" name="Shape 37"/>
          <p:cNvSpPr/>
          <p:nvPr/>
        </p:nvSpPr>
        <p:spPr>
          <a:xfrm>
            <a:off x="2331720" y="4800600"/>
            <a:ext cx="0" cy="548640"/>
          </a:xfrm>
          <a:prstGeom prst="line">
            <a:avLst/>
          </a:prstGeom>
          <a:noFill/>
          <a:ln w="22225">
            <a:solidFill>
              <a:schemeClr val="tx2"/>
            </a:solidFill>
            <a:prstDash val="solid"/>
            <a:headEnd type="triangle"/>
            <a:tailEnd type="triangle"/>
          </a:ln>
        </p:spPr>
      </p:sp>
      <p:sp>
        <p:nvSpPr>
          <p:cNvPr id="41" name="Text 38"/>
          <p:cNvSpPr txBox="1"/>
          <p:nvPr/>
        </p:nvSpPr>
        <p:spPr>
          <a:xfrm>
            <a:off x="242316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2" name="Shape 39"/>
          <p:cNvSpPr/>
          <p:nvPr/>
        </p:nvSpPr>
        <p:spPr>
          <a:xfrm>
            <a:off x="6080760" y="4800600"/>
            <a:ext cx="0" cy="548640"/>
          </a:xfrm>
          <a:prstGeom prst="line">
            <a:avLst/>
          </a:prstGeom>
          <a:noFill/>
          <a:ln w="22225">
            <a:solidFill>
              <a:schemeClr val="tx2"/>
            </a:solidFill>
            <a:prstDash val="solid"/>
            <a:headEnd type="triangle"/>
            <a:tailEnd type="triangle"/>
          </a:ln>
        </p:spPr>
      </p:sp>
      <p:sp>
        <p:nvSpPr>
          <p:cNvPr id="43" name="Text 40"/>
          <p:cNvSpPr txBox="1"/>
          <p:nvPr/>
        </p:nvSpPr>
        <p:spPr>
          <a:xfrm>
            <a:off x="617220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read / write</a:t>
            </a:r>
            <a:endParaRPr lang="en-US" sz="1000" dirty="0"/>
          </a:p>
        </p:txBody>
      </p:sp>
      <p:sp>
        <p:nvSpPr>
          <p:cNvPr id="44" name="Shape 41"/>
          <p:cNvSpPr/>
          <p:nvPr/>
        </p:nvSpPr>
        <p:spPr>
          <a:xfrm>
            <a:off x="9829800" y="4800600"/>
            <a:ext cx="0" cy="548640"/>
          </a:xfrm>
          <a:prstGeom prst="line">
            <a:avLst/>
          </a:prstGeom>
          <a:noFill/>
          <a:ln w="22225">
            <a:solidFill>
              <a:schemeClr val="tx2"/>
            </a:solidFill>
            <a:prstDash val="dash"/>
            <a:tailEnd type="triangle"/>
          </a:ln>
        </p:spPr>
      </p:sp>
      <p:sp>
        <p:nvSpPr>
          <p:cNvPr id="45" name="Text 42"/>
          <p:cNvSpPr txBox="1"/>
          <p:nvPr/>
        </p:nvSpPr>
        <p:spPr>
          <a:xfrm>
            <a:off x="9921240" y="4919472"/>
            <a:ext cx="914400" cy="228600"/>
          </a:xfrm>
          <a:prstGeom prst="rect">
            <a:avLst/>
          </a:prstGeom>
          <a:noFill/>
          <a:ln/>
        </p:spPr>
        <p:txBody>
          <a:bodyPr wrap="square" lIns="0" tIns="0" rIns="0" bIns="0" rtlCol="0" anchor="ctr"/>
          <a:lstStyle/>
          <a:p>
            <a:pPr algn="l" indent="0" marL="0">
              <a:buNone/>
            </a:pPr>
            <a:r>
              <a:rPr lang="en-US" sz="1000" i="1" dirty="0">
                <a:solidFill>
                  <a:schemeClr val="accent4"/>
                </a:solidFill>
              </a:rPr>
              <a:t>SELECT only</a:t>
            </a:r>
            <a:endParaRPr lang="en-US" sz="1000" dirty="0"/>
          </a:p>
        </p:txBody>
      </p:sp>
      <p:sp>
        <p:nvSpPr>
          <p:cNvPr id="46" name="Text 43"/>
          <p:cNvSpPr txBox="1"/>
          <p:nvPr/>
        </p:nvSpPr>
        <p:spPr>
          <a:xfrm>
            <a:off x="548640" y="5349240"/>
            <a:ext cx="11064240" cy="640080"/>
          </a:xfrm>
          <a:prstGeom prst="roundRect">
            <a:avLst>
              <a:gd name="adj" fmla="val 11429"/>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PostgreSQL 16</a:t>
            </a:r>
            <a:endParaRPr lang="en-US" sz="1200" dirty="0"/>
          </a:p>
          <a:p>
            <a:pPr algn="ctr" indent="0" marL="0">
              <a:buNone/>
            </a:pPr>
            <a:r>
              <a:rPr lang="en-US" sz="1200" dirty="0">
                <a:solidFill>
                  <a:schemeClr val="bg1"/>
                </a:solidFill>
              </a:rPr>
              <a:t>schema public: lending tables   |   schema batch: job config, error records, Spring Batch and Quartz tables</a:t>
            </a:r>
            <a:endParaRPr lang="en-US" sz="1200" dirty="0"/>
          </a:p>
        </p:txBody>
      </p:sp>
      <p:sp>
        <p:nvSpPr>
          <p:cNvPr id="47" name="Text 44"/>
          <p:cNvSpPr txBox="1"/>
          <p:nvPr/>
        </p:nvSpPr>
        <p:spPr>
          <a:xfrm>
            <a:off x="548640" y="6053328"/>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External and not deployed in the sandbox: core banking ledger (outbox push, logging stub) and Kafka (batch events). The admin console also proxies the statement PDF from lending-service.</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The Render sandbox</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Everything below is deployed from render.yaml on Render's free tier, region Singapore</a:t>
            </a:r>
            <a:endParaRPr lang="en-US" sz="1400" dirty="0"/>
          </a:p>
        </p:txBody>
      </p:sp>
      <p:sp>
        <p:nvSpPr>
          <p:cNvPr id="5" name="Text 2"/>
          <p:cNvSpPr txBox="1"/>
          <p:nvPr/>
        </p:nvSpPr>
        <p:spPr>
          <a:xfrm>
            <a:off x="548640" y="1371600"/>
            <a:ext cx="5943600" cy="914400"/>
          </a:xfrm>
          <a:prstGeom prst="roundRect">
            <a:avLst>
              <a:gd name="adj" fmla="val 8000"/>
            </a:avLst>
          </a:prstGeom>
          <a:solidFill>
            <a:schemeClr val="accent1">
              <a:alpha val="10000"/>
            </a:schemeClr>
          </a:solidFill>
          <a:ln w="15875">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42646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lending-service</a:t>
            </a:r>
            <a:endParaRPr lang="en-US" sz="1400" dirty="0"/>
          </a:p>
        </p:txBody>
      </p:sp>
      <p:sp>
        <p:nvSpPr>
          <p:cNvPr id="7" name="Text 4"/>
          <p:cNvSpPr txBox="1"/>
          <p:nvPr/>
        </p:nvSpPr>
        <p:spPr>
          <a:xfrm>
            <a:off x="731520" y="1700784"/>
            <a:ext cx="5577840" cy="237744"/>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https://lending-service-5tqm.onrender.com</a:t>
            </a:r>
            <a:endParaRPr lang="en-US" sz="1200" dirty="0"/>
          </a:p>
        </p:txBody>
      </p:sp>
      <p:sp>
        <p:nvSpPr>
          <p:cNvPr id="8" name="Text 5"/>
          <p:cNvSpPr txBox="1"/>
          <p:nvPr/>
        </p:nvSpPr>
        <p:spPr>
          <a:xfrm>
            <a:off x="731520" y="1956816"/>
            <a:ext cx="5577840" cy="292608"/>
          </a:xfrm>
          <a:prstGeom prst="rect">
            <a:avLst/>
          </a:prstGeom>
          <a:noFill/>
          <a:ln/>
        </p:spPr>
        <p:txBody>
          <a:bodyPr wrap="square" lIns="0" tIns="0" rIns="0" bIns="0" rtlCol="0" anchor="t"/>
          <a:lstStyle/>
          <a:p>
            <a:pPr indent="0" marL="0">
              <a:buNone/>
            </a:pPr>
            <a:r>
              <a:rPr lang="en-US" sz="1000" dirty="0">
                <a:solidFill>
                  <a:schemeClr val="tx1"/>
                </a:solidFill>
              </a:rPr>
              <a:t>Swagger UI: /swagger-ui.html   |   OpenAPI: /v3/api-docs</a:t>
            </a:r>
            <a:endParaRPr lang="en-US" sz="1000" dirty="0"/>
          </a:p>
        </p:txBody>
      </p:sp>
      <p:sp>
        <p:nvSpPr>
          <p:cNvPr id="9" name="Text 6"/>
          <p:cNvSpPr txBox="1"/>
          <p:nvPr/>
        </p:nvSpPr>
        <p:spPr>
          <a:xfrm>
            <a:off x="548640" y="2377440"/>
            <a:ext cx="5943600" cy="914400"/>
          </a:xfrm>
          <a:prstGeom prst="roundRect">
            <a:avLst>
              <a:gd name="adj" fmla="val 8000"/>
            </a:avLst>
          </a:prstGeom>
          <a:solidFill>
            <a:schemeClr val="accent4">
              <a:alpha val="10000"/>
            </a:schemeClr>
          </a:solidFill>
          <a:ln w="15875">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731520" y="243230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lending-batch-service</a:t>
            </a:r>
            <a:endParaRPr lang="en-US" sz="1400" dirty="0"/>
          </a:p>
        </p:txBody>
      </p:sp>
      <p:sp>
        <p:nvSpPr>
          <p:cNvPr id="11" name="Text 8"/>
          <p:cNvSpPr txBox="1"/>
          <p:nvPr/>
        </p:nvSpPr>
        <p:spPr>
          <a:xfrm>
            <a:off x="731520" y="2706624"/>
            <a:ext cx="5577840" cy="237744"/>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URL assigned by Render (see the dashboard)</a:t>
            </a:r>
            <a:endParaRPr lang="en-US" sz="1200" dirty="0"/>
          </a:p>
        </p:txBody>
      </p:sp>
      <p:sp>
        <p:nvSpPr>
          <p:cNvPr id="12" name="Text 9"/>
          <p:cNvSpPr txBox="1"/>
          <p:nvPr/>
        </p:nvSpPr>
        <p:spPr>
          <a:xfrm>
            <a:off x="731520" y="2962656"/>
            <a:ext cx="5577840" cy="292608"/>
          </a:xfrm>
          <a:prstGeom prst="rect">
            <a:avLst/>
          </a:prstGeom>
          <a:noFill/>
          <a:ln/>
        </p:spPr>
        <p:txBody>
          <a:bodyPr wrap="square" lIns="0" tIns="0" rIns="0" bIns="0" rtlCol="0" anchor="t"/>
          <a:lstStyle/>
          <a:p>
            <a:pPr indent="0" marL="0">
              <a:buNone/>
            </a:pPr>
            <a:r>
              <a:rPr lang="en-US" sz="1000" dirty="0">
                <a:solidFill>
                  <a:schemeClr val="tx1"/>
                </a:solidFill>
              </a:rPr>
              <a:t>Admin API /api/v1/batch-admin/**  |  user batch-admin, password BATCH_ADMIN_PASSWORD</a:t>
            </a:r>
            <a:endParaRPr lang="en-US" sz="1000" dirty="0"/>
          </a:p>
        </p:txBody>
      </p:sp>
      <p:sp>
        <p:nvSpPr>
          <p:cNvPr id="13" name="Text 10"/>
          <p:cNvSpPr txBox="1"/>
          <p:nvPr/>
        </p:nvSpPr>
        <p:spPr>
          <a:xfrm>
            <a:off x="548640" y="3383280"/>
            <a:ext cx="5943600" cy="914400"/>
          </a:xfrm>
          <a:prstGeom prst="roundRect">
            <a:avLst>
              <a:gd name="adj" fmla="val 8000"/>
            </a:avLst>
          </a:prstGeom>
          <a:solidFill>
            <a:schemeClr val="accent2">
              <a:alpha val="10000"/>
            </a:schemeClr>
          </a:solidFill>
          <a:ln w="15875">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731520" y="343814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lending-admin-service  (admin portal)</a:t>
            </a:r>
            <a:endParaRPr lang="en-US" sz="1400" dirty="0"/>
          </a:p>
        </p:txBody>
      </p:sp>
      <p:sp>
        <p:nvSpPr>
          <p:cNvPr id="15" name="Text 12"/>
          <p:cNvSpPr txBox="1"/>
          <p:nvPr/>
        </p:nvSpPr>
        <p:spPr>
          <a:xfrm>
            <a:off x="731520" y="3712464"/>
            <a:ext cx="5577840" cy="237744"/>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https://lending-admin-service-&lt;suffix&gt;.onrender.com</a:t>
            </a:r>
            <a:endParaRPr lang="en-US" sz="1200" dirty="0"/>
          </a:p>
        </p:txBody>
      </p:sp>
      <p:sp>
        <p:nvSpPr>
          <p:cNvPr id="16" name="Text 13"/>
          <p:cNvSpPr txBox="1"/>
          <p:nvPr/>
        </p:nvSpPr>
        <p:spPr>
          <a:xfrm>
            <a:off x="731520" y="3968496"/>
            <a:ext cx="5577840" cy="292608"/>
          </a:xfrm>
          <a:prstGeom prst="rect">
            <a:avLst/>
          </a:prstGeom>
          <a:noFill/>
          <a:ln/>
        </p:spPr>
        <p:txBody>
          <a:bodyPr wrap="square" lIns="0" tIns="0" rIns="0" bIns="0" rtlCol="0" anchor="t"/>
          <a:lstStyle/>
          <a:p>
            <a:pPr indent="0" marL="0">
              <a:buNone/>
            </a:pPr>
            <a:r>
              <a:rPr lang="en-US" sz="1000" dirty="0">
                <a:solidFill>
                  <a:schemeClr val="tx1"/>
                </a:solidFill>
              </a:rPr>
              <a:t>Login admin / ADMIN_PASSWORD (Render &gt; Environment)  |  Swagger: /swagger-ui.html</a:t>
            </a:r>
            <a:endParaRPr lang="en-US" sz="1000" dirty="0"/>
          </a:p>
        </p:txBody>
      </p:sp>
      <p:sp>
        <p:nvSpPr>
          <p:cNvPr id="17" name="Text 14"/>
          <p:cNvSpPr txBox="1"/>
          <p:nvPr/>
        </p:nvSpPr>
        <p:spPr>
          <a:xfrm>
            <a:off x="548640" y="4389120"/>
            <a:ext cx="5943600" cy="914400"/>
          </a:xfrm>
          <a:prstGeom prst="roundRect">
            <a:avLst>
              <a:gd name="adj" fmla="val 8000"/>
            </a:avLst>
          </a:prstGeom>
          <a:solidFill>
            <a:schemeClr val="tx2">
              <a:alpha val="10000"/>
            </a:schemeClr>
          </a:solidFill>
          <a:ln w="15875">
            <a:solidFill>
              <a:schemeClr val="tx2"/>
            </a:solidFill>
          </a:ln>
        </p:spPr>
        <p:txBody>
          <a:bodyPr wrap="square" lIns="50800" tIns="50800" rIns="50800" bIns="50800" rtlCol="0" anchor="ctr"/>
          <a:lstStyle/>
          <a:p>
            <a:pPr algn="ctr" indent="0" marL="0">
              <a:buNone/>
            </a:pPr>
            <a:endParaRPr lang="en-US" sz="1200" dirty="0"/>
          </a:p>
        </p:txBody>
      </p:sp>
      <p:sp>
        <p:nvSpPr>
          <p:cNvPr id="18" name="Text 15"/>
          <p:cNvSpPr txBox="1"/>
          <p:nvPr/>
        </p:nvSpPr>
        <p:spPr>
          <a:xfrm>
            <a:off x="731520" y="4443984"/>
            <a:ext cx="5577840" cy="256032"/>
          </a:xfrm>
          <a:prstGeom prst="rect">
            <a:avLst/>
          </a:prstGeom>
          <a:noFill/>
          <a:ln/>
        </p:spPr>
        <p:txBody>
          <a:bodyPr wrap="square" lIns="0" tIns="0" rIns="0" bIns="0" rtlCol="0" anchor="t"/>
          <a:lstStyle/>
          <a:p>
            <a:pPr indent="0" marL="0">
              <a:buNone/>
            </a:pPr>
            <a:r>
              <a:rPr lang="en-US" sz="1400" b="1" dirty="0">
                <a:solidFill>
                  <a:schemeClr val="tx2"/>
                </a:solidFill>
              </a:rPr>
              <a:t>lending-db  (PostgreSQL 16)</a:t>
            </a:r>
            <a:endParaRPr lang="en-US" sz="1400" dirty="0"/>
          </a:p>
        </p:txBody>
      </p:sp>
      <p:sp>
        <p:nvSpPr>
          <p:cNvPr id="19" name="Text 16"/>
          <p:cNvSpPr txBox="1"/>
          <p:nvPr/>
        </p:nvSpPr>
        <p:spPr>
          <a:xfrm>
            <a:off x="731520" y="4718304"/>
            <a:ext cx="5577840" cy="23774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Internal connection only, shared by all three services</a:t>
            </a:r>
            <a:endParaRPr lang="en-US" sz="1200" dirty="0"/>
          </a:p>
        </p:txBody>
      </p:sp>
      <p:sp>
        <p:nvSpPr>
          <p:cNvPr id="20" name="Text 17"/>
          <p:cNvSpPr txBox="1"/>
          <p:nvPr/>
        </p:nvSpPr>
        <p:spPr>
          <a:xfrm>
            <a:off x="731520" y="4974336"/>
            <a:ext cx="5577840" cy="292608"/>
          </a:xfrm>
          <a:prstGeom prst="rect">
            <a:avLst/>
          </a:prstGeom>
          <a:noFill/>
          <a:ln/>
        </p:spPr>
        <p:txBody>
          <a:bodyPr wrap="square" lIns="0" tIns="0" rIns="0" bIns="0" rtlCol="0" anchor="t"/>
          <a:lstStyle/>
          <a:p>
            <a:pPr indent="0" marL="0">
              <a:buNone/>
            </a:pPr>
            <a:r>
              <a:rPr lang="en-US" sz="1000" dirty="0">
                <a:solidFill>
                  <a:schemeClr val="tx1"/>
                </a:solidFill>
              </a:rPr>
              <a:t>Free plan: the database is deleted after 30 days</a:t>
            </a:r>
            <a:endParaRPr lang="en-US" sz="1000" dirty="0"/>
          </a:p>
        </p:txBody>
      </p:sp>
      <p:sp>
        <p:nvSpPr>
          <p:cNvPr id="21" name="Text 18"/>
          <p:cNvSpPr txBox="1"/>
          <p:nvPr/>
        </p:nvSpPr>
        <p:spPr>
          <a:xfrm>
            <a:off x="6858000" y="1371600"/>
            <a:ext cx="4754880" cy="320040"/>
          </a:xfrm>
          <a:prstGeom prst="rect">
            <a:avLst/>
          </a:prstGeom>
          <a:noFill/>
          <a:ln/>
        </p:spPr>
        <p:txBody>
          <a:bodyPr wrap="square" lIns="0" tIns="0" rIns="0" bIns="0" rtlCol="0" anchor="t"/>
          <a:lstStyle/>
          <a:p>
            <a:pPr indent="0" marL="0">
              <a:buNone/>
            </a:pPr>
            <a:r>
              <a:rPr lang="en-US" sz="1800" b="1" dirty="0">
                <a:solidFill>
                  <a:schemeClr val="tx2"/>
                </a:solidFill>
              </a:rPr>
              <a:t>Try it in six steps</a:t>
            </a:r>
            <a:endParaRPr lang="en-US" sz="1800" dirty="0"/>
          </a:p>
        </p:txBody>
      </p:sp>
      <p:sp>
        <p:nvSpPr>
          <p:cNvPr id="22" name="Text 19"/>
          <p:cNvSpPr txBox="1"/>
          <p:nvPr/>
        </p:nvSpPr>
        <p:spPr>
          <a:xfrm>
            <a:off x="6858000" y="183794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23" name="Text 20"/>
          <p:cNvSpPr txBox="1"/>
          <p:nvPr/>
        </p:nvSpPr>
        <p:spPr>
          <a:xfrm>
            <a:off x="7452360" y="178308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Swagger on lending-service</a:t>
            </a:r>
            <a:endParaRPr lang="en-US" sz="1300" dirty="0"/>
          </a:p>
        </p:txBody>
      </p:sp>
      <p:sp>
        <p:nvSpPr>
          <p:cNvPr id="24" name="Text 21"/>
          <p:cNvSpPr txBox="1"/>
          <p:nvPr/>
        </p:nvSpPr>
        <p:spPr>
          <a:xfrm>
            <a:off x="6858000" y="2459736"/>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5" name="Text 22"/>
          <p:cNvSpPr txBox="1"/>
          <p:nvPr/>
        </p:nvSpPr>
        <p:spPr>
          <a:xfrm>
            <a:off x="7452360" y="2404872"/>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/loan-accounts/bulk/create with samples/bulk-create-100-accounts.json</a:t>
            </a:r>
            <a:endParaRPr lang="en-US" sz="1300" dirty="0"/>
          </a:p>
        </p:txBody>
      </p:sp>
      <p:sp>
        <p:nvSpPr>
          <p:cNvPr id="26" name="Text 23"/>
          <p:cNvSpPr txBox="1"/>
          <p:nvPr/>
        </p:nvSpPr>
        <p:spPr>
          <a:xfrm>
            <a:off x="6858000" y="3081528"/>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7452360" y="3026664"/>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/loan-accounts/bulk/disburse with samples/bulk-disburse-100-accounts.json</a:t>
            </a:r>
            <a:endParaRPr lang="en-US" sz="1300" dirty="0"/>
          </a:p>
        </p:txBody>
      </p:sp>
      <p:sp>
        <p:nvSpPr>
          <p:cNvPr id="28" name="Text 25"/>
          <p:cNvSpPr txBox="1"/>
          <p:nvPr/>
        </p:nvSpPr>
        <p:spPr>
          <a:xfrm>
            <a:off x="6858000" y="370332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9" name="Text 26"/>
          <p:cNvSpPr txBox="1"/>
          <p:nvPr/>
        </p:nvSpPr>
        <p:spPr>
          <a:xfrm>
            <a:off x="7452360" y="3648456"/>
            <a:ext cx="4160520" cy="566928"/>
          </a:xfrm>
          <a:prstGeom prst="rect">
            <a:avLst/>
          </a:prstGeom>
          <a:noFill/>
          <a:ln/>
        </p:spPr>
        <p:txBody>
          <a:bodyPr wrap="square" lIns="0" tIns="0" rIns="0" bIns="0" rtlCol="0" anchor="ctr"/>
          <a:lstStyle/>
          <a:p>
            <a:pPr indent="0" marL="0">
              <a:buNone/>
            </a:pPr>
            <a:r>
              <a:rPr lang="en-US" sz="1300" dirty="0">
                <a:solidFill>
                  <a:schemeClr val="tx1"/>
                </a:solidFill>
              </a:rPr>
              <a:t>POST /interest-accruals/run?businessDate=YYYY-MM-DD (or scripts/run-accrual.ps1)</a:t>
            </a:r>
            <a:endParaRPr lang="en-US" sz="1300" dirty="0"/>
          </a:p>
        </p:txBody>
      </p:sp>
      <p:sp>
        <p:nvSpPr>
          <p:cNvPr id="30" name="Text 27"/>
          <p:cNvSpPr txBox="1"/>
          <p:nvPr/>
        </p:nvSpPr>
        <p:spPr>
          <a:xfrm>
            <a:off x="6858000" y="4325112"/>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1" name="Text 28"/>
          <p:cNvSpPr txBox="1"/>
          <p:nvPr/>
        </p:nvSpPr>
        <p:spPr>
          <a:xfrm>
            <a:off x="7452360" y="4270248"/>
            <a:ext cx="4160520" cy="566928"/>
          </a:xfrm>
          <a:prstGeom prst="rect">
            <a:avLst/>
          </a:prstGeom>
          <a:noFill/>
          <a:ln/>
        </p:spPr>
        <p:txBody>
          <a:bodyPr wrap="square" lIns="0" tIns="0" rIns="0" bIns="0" rtlCol="0" anchor="ctr"/>
          <a:lstStyle/>
          <a:p>
            <a:pPr indent="0" marL="0">
              <a:buNone/>
            </a:pPr>
            <a:r>
              <a:rPr lang="en-US" sz="1300" dirty="0">
                <a:solidFill>
                  <a:schemeClr val="tx1"/>
                </a:solidFill>
              </a:rPr>
              <a:t>GET /loan-accounts/{id}/statement to download the customer PDF</a:t>
            </a:r>
            <a:endParaRPr lang="en-US" sz="1300" dirty="0"/>
          </a:p>
        </p:txBody>
      </p:sp>
      <p:sp>
        <p:nvSpPr>
          <p:cNvPr id="32" name="Text 29"/>
          <p:cNvSpPr txBox="1"/>
          <p:nvPr/>
        </p:nvSpPr>
        <p:spPr>
          <a:xfrm>
            <a:off x="6858000" y="4946904"/>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3" name="Text 30"/>
          <p:cNvSpPr txBox="1"/>
          <p:nvPr/>
        </p:nvSpPr>
        <p:spPr>
          <a:xfrm>
            <a:off x="7452360" y="4892040"/>
            <a:ext cx="4160520" cy="566928"/>
          </a:xfrm>
          <a:prstGeom prst="rect">
            <a:avLst/>
          </a:prstGeom>
          <a:noFill/>
          <a:ln/>
        </p:spPr>
        <p:txBody>
          <a:bodyPr wrap="square" lIns="0" tIns="0" rIns="0" bIns="0" rtlCol="0" anchor="ctr"/>
          <a:lstStyle/>
          <a:p>
            <a:pPr indent="0" marL="0">
              <a:buNone/>
            </a:pPr>
            <a:r>
              <a:rPr lang="en-US" sz="1300" dirty="0">
                <a:solidFill>
                  <a:schemeClr val="tx1"/>
                </a:solidFill>
              </a:rPr>
              <a:t>Open the admin portal, sign in, and inspect the accounts and Configuration</a:t>
            </a:r>
            <a:endParaRPr lang="en-US" sz="1300" dirty="0"/>
          </a:p>
        </p:txBody>
      </p:sp>
      <p:sp>
        <p:nvSpPr>
          <p:cNvPr id="34" name="Text 31"/>
          <p:cNvSpPr txBox="1"/>
          <p:nvPr/>
        </p:nvSpPr>
        <p:spPr>
          <a:xfrm>
            <a:off x="548640" y="5532120"/>
            <a:ext cx="11064240" cy="777240"/>
          </a:xfrm>
          <a:prstGeom prst="roundRect">
            <a:avLst>
              <a:gd name="adj" fmla="val 9412"/>
            </a:avLst>
          </a:prstGeom>
          <a:solidFill>
            <a:schemeClr val="accent2">
              <a:alpha val="30000"/>
            </a:schemeClr>
          </a:solidFill>
          <a:ln w="12700">
            <a:solidFill>
              <a:schemeClr val="accent2"/>
            </a:solidFill>
          </a:ln>
        </p:spPr>
        <p:txBody>
          <a:bodyPr wrap="square" lIns="101600" tIns="101600" rIns="101600" bIns="101600" rtlCol="0" anchor="ctr"/>
          <a:lstStyle/>
          <a:p>
            <a:pPr algn="l" indent="0" marL="0">
              <a:buNone/>
            </a:pPr>
            <a:r>
              <a:rPr lang="en-US" sz="1300" dirty="0">
                <a:solidFill>
                  <a:schemeClr val="tx1"/>
                </a:solidFill>
              </a:rPr>
              <a:t>Free-tier behaviour: services sleep after about 15 minutes idle, so the first call can take a minute. There is no Kafka broker on Render, so batch events are not delivered. The ledger gateway is a logging stub, so outbox rows are not posted anywhere yet.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Data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loan_account is the hub; every other table hangs off account_id</a:t>
            </a:r>
            <a:endParaRPr lang="en-US" sz="1400" dirty="0"/>
          </a:p>
        </p:txBody>
      </p:sp>
      <p:sp>
        <p:nvSpPr>
          <p:cNvPr id="5" name="Text 2"/>
          <p:cNvSpPr txBox="1"/>
          <p:nvPr/>
        </p:nvSpPr>
        <p:spPr>
          <a:xfrm>
            <a:off x="548640" y="137160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a:t>
            </a:r>
            <a:endParaRPr lang="en-US" sz="1100" dirty="0"/>
          </a:p>
        </p:txBody>
      </p:sp>
      <p:sp>
        <p:nvSpPr>
          <p:cNvPr id="6" name="Text 3"/>
          <p:cNvSpPr txBox="1"/>
          <p:nvPr/>
        </p:nvSpPr>
        <p:spPr>
          <a:xfrm>
            <a:off x="548640" y="1682496"/>
            <a:ext cx="3291840" cy="170078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mortgage_id</a:t>
            </a:r>
            <a:endParaRPr lang="en-US" sz="1100" dirty="0"/>
          </a:p>
          <a:p>
            <a:pPr algn="l" indent="0" marL="0">
              <a:buNone/>
            </a:pPr>
            <a:r>
              <a:rPr lang="en-US" sz="1100" dirty="0">
                <a:solidFill>
                  <a:schemeClr val="tx1"/>
                </a:solidFill>
              </a:rPr>
              <a:t>UQ FK  account_id</a:t>
            </a:r>
            <a:endParaRPr lang="en-US" sz="1100" dirty="0"/>
          </a:p>
          <a:p>
            <a:pPr algn="l" indent="0" marL="0">
              <a:buNone/>
            </a:pPr>
            <a:r>
              <a:rPr lang="en-US" sz="1100" dirty="0">
                <a:solidFill>
                  <a:schemeClr val="tx1"/>
                </a:solidFill>
              </a:rPr>
              <a:t>property_type, property_address</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ltv_ratio</a:t>
            </a:r>
            <a:endParaRPr lang="en-US" sz="1100" dirty="0"/>
          </a:p>
          <a:p>
            <a:pPr algn="l" indent="0" marL="0">
              <a:buNone/>
            </a:pPr>
            <a:r>
              <a:rPr lang="en-US" sz="1100" dirty="0">
                <a:solidFill>
                  <a:schemeClr val="tx1"/>
                </a:solidFill>
              </a:rPr>
              <a:t>charge_status  PENDING | REGISTERED | RELEASED</a:t>
            </a:r>
            <a:endParaRPr lang="en-US" sz="1100" dirty="0"/>
          </a:p>
          <a:p>
            <a:pPr algn="l" indent="0" marL="0">
              <a:buNone/>
            </a:pPr>
            <a:r>
              <a:rPr lang="en-US" sz="1100" dirty="0">
                <a:solidFill>
                  <a:schemeClr val="tx1"/>
                </a:solidFill>
              </a:rPr>
              <a:t>cersai, deed and insurance refs</a:t>
            </a:r>
            <a:endParaRPr lang="en-US" sz="1100" dirty="0"/>
          </a:p>
          <a:p>
            <a:pPr algn="l" indent="0" marL="0">
              <a:buNone/>
            </a:pPr>
            <a:r>
              <a:rPr lang="en-US" sz="1100" dirty="0">
                <a:solidFill>
                  <a:schemeClr val="tx1"/>
                </a:solidFill>
              </a:rPr>
              <a:t>legal_verification_status</a:t>
            </a:r>
            <a:endParaRPr lang="en-US" sz="1100" dirty="0"/>
          </a:p>
        </p:txBody>
      </p:sp>
      <p:sp>
        <p:nvSpPr>
          <p:cNvPr id="7" name="Text 4"/>
          <p:cNvSpPr txBox="1"/>
          <p:nvPr/>
        </p:nvSpPr>
        <p:spPr>
          <a:xfrm>
            <a:off x="548640" y="4023360"/>
            <a:ext cx="329184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mortgage_valuation_history</a:t>
            </a:r>
            <a:endParaRPr lang="en-US" sz="1100" dirty="0"/>
          </a:p>
        </p:txBody>
      </p:sp>
      <p:sp>
        <p:nvSpPr>
          <p:cNvPr id="8" name="Text 5"/>
          <p:cNvSpPr txBox="1"/>
          <p:nvPr/>
        </p:nvSpPr>
        <p:spPr>
          <a:xfrm>
            <a:off x="548640" y="4334256"/>
            <a:ext cx="3291840" cy="877824"/>
          </a:xfrm>
          <a:prstGeom prst="rect">
            <a:avLst/>
          </a:prstGeom>
          <a:solidFill>
            <a:schemeClr val="bg1"/>
          </a:solidFill>
          <a:ln w="15875">
            <a:solidFill>
              <a:schemeClr val="accent4"/>
            </a:solidFill>
          </a:ln>
        </p:spPr>
        <p:txBody>
          <a:bodyPr wrap="square" lIns="76200" tIns="76200" rIns="76200" bIns="76200" rtlCol="0" anchor="t"/>
          <a:lstStyle/>
          <a:p>
            <a:pPr algn="l" indent="0" marL="0">
              <a:buNone/>
            </a:pPr>
            <a:r>
              <a:rPr lang="en-US" sz="1100" dirty="0">
                <a:solidFill>
                  <a:schemeClr val="tx1"/>
                </a:solidFill>
              </a:rPr>
              <a:t>PK  valuation_id</a:t>
            </a:r>
            <a:endParaRPr lang="en-US" sz="1100" dirty="0"/>
          </a:p>
          <a:p>
            <a:pPr algn="l" indent="0" marL="0">
              <a:buNone/>
            </a:pPr>
            <a:r>
              <a:rPr lang="en-US" sz="1100" dirty="0">
                <a:solidFill>
                  <a:schemeClr val="tx1"/>
                </a:solidFill>
              </a:rPr>
              <a:t>FK  mortgage_id</a:t>
            </a:r>
            <a:endParaRPr lang="en-US" sz="1100" dirty="0"/>
          </a:p>
          <a:p>
            <a:pPr algn="l" indent="0" marL="0">
              <a:buNone/>
            </a:pPr>
            <a:r>
              <a:rPr lang="en-US" sz="1100" dirty="0">
                <a:solidFill>
                  <a:schemeClr val="tx1"/>
                </a:solidFill>
              </a:rPr>
              <a:t>valuation_amount, valuation_date</a:t>
            </a:r>
            <a:endParaRPr lang="en-US" sz="1100" dirty="0"/>
          </a:p>
          <a:p>
            <a:pPr algn="l" indent="0" marL="0">
              <a:buNone/>
            </a:pPr>
            <a:r>
              <a:rPr lang="en-US" sz="1100" dirty="0">
                <a:solidFill>
                  <a:schemeClr val="tx1"/>
                </a:solidFill>
              </a:rPr>
              <a:t>valuer_ref, valuation_type</a:t>
            </a:r>
            <a:endParaRPr lang="en-US" sz="1100" dirty="0"/>
          </a:p>
        </p:txBody>
      </p:sp>
      <p:sp>
        <p:nvSpPr>
          <p:cNvPr id="9" name="Text 6"/>
          <p:cNvSpPr txBox="1"/>
          <p:nvPr/>
        </p:nvSpPr>
        <p:spPr>
          <a:xfrm>
            <a:off x="4480560" y="1371600"/>
            <a:ext cx="3200400" cy="310896"/>
          </a:xfrm>
          <a:prstGeom prst="rect">
            <a:avLst/>
          </a:prstGeom>
          <a:solidFill>
            <a:schemeClr val="accent4"/>
          </a:solidFill>
          <a:ln w="12700">
            <a:solidFill>
              <a:schemeClr val="accent4"/>
            </a:solidFill>
          </a:ln>
        </p:spPr>
        <p:txBody>
          <a:bodyPr wrap="square" lIns="76200" tIns="76200" rIns="76200" bIns="76200" rtlCol="0" anchor="ctr"/>
          <a:lstStyle/>
          <a:p>
            <a:pPr algn="l" indent="0" marL="0">
              <a:buNone/>
            </a:pPr>
            <a:r>
              <a:rPr lang="en-US" sz="1100" b="1" dirty="0">
                <a:solidFill>
                  <a:schemeClr val="bg1"/>
                </a:solidFill>
              </a:rPr>
              <a:t>processed_request  (idempotency log)</a:t>
            </a:r>
            <a:endParaRPr lang="en-US" sz="1100" dirty="0"/>
          </a:p>
        </p:txBody>
      </p:sp>
      <p:sp>
        <p:nvSpPr>
          <p:cNvPr id="10" name="Text 7"/>
          <p:cNvSpPr txBox="1"/>
          <p:nvPr/>
        </p:nvSpPr>
        <p:spPr>
          <a:xfrm>
            <a:off x="4480560" y="1682496"/>
            <a:ext cx="3200400" cy="694944"/>
          </a:xfrm>
          <a:prstGeom prst="rect">
            <a:avLst/>
          </a:prstGeom>
          <a:solidFill>
            <a:schemeClr val="bg1"/>
          </a:solidFill>
          <a:ln w="15875">
            <a:solidFill>
              <a:schemeClr val="accent4"/>
            </a:solidFill>
            <a:prstDash val="dash"/>
          </a:ln>
        </p:spPr>
        <p:txBody>
          <a:bodyPr wrap="square" lIns="76200" tIns="76200" rIns="76200" bIns="76200" rtlCol="0" anchor="t"/>
          <a:lstStyle/>
          <a:p>
            <a:pPr algn="l" indent="0" marL="0">
              <a:buNone/>
            </a:pPr>
            <a:r>
              <a:rPr lang="en-US" sz="1100" dirty="0">
                <a:solidFill>
                  <a:schemeClr val="tx1"/>
                </a:solidFill>
              </a:rPr>
              <a:t>PK  idempotency_key</a:t>
            </a:r>
            <a:endParaRPr lang="en-US" sz="1100" dirty="0"/>
          </a:p>
          <a:p>
            <a:pPr algn="l" indent="0" marL="0">
              <a:buNone/>
            </a:pPr>
            <a:r>
              <a:rPr lang="en-US" sz="1100" dirty="0">
                <a:solidFill>
                  <a:schemeClr val="tx1"/>
                </a:solidFill>
              </a:rPr>
              <a:t>endpoint, account_id</a:t>
            </a:r>
            <a:endParaRPr lang="en-US" sz="1100" dirty="0"/>
          </a:p>
          <a:p>
            <a:pPr algn="l" indent="0" marL="0">
              <a:buNone/>
            </a:pPr>
            <a:r>
              <a:rPr lang="en-US" sz="1100" dirty="0">
                <a:solidFill>
                  <a:schemeClr val="tx1"/>
                </a:solidFill>
              </a:rPr>
              <a:t>response_status, response_body (JSONB)</a:t>
            </a:r>
            <a:endParaRPr lang="en-US" sz="1100" dirty="0"/>
          </a:p>
        </p:txBody>
      </p:sp>
      <p:sp>
        <p:nvSpPr>
          <p:cNvPr id="11" name="Text 8"/>
          <p:cNvSpPr txBox="1"/>
          <p:nvPr/>
        </p:nvSpPr>
        <p:spPr>
          <a:xfrm>
            <a:off x="4480560" y="2514600"/>
            <a:ext cx="320040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loan_account</a:t>
            </a:r>
            <a:endParaRPr lang="en-US" sz="1100" dirty="0"/>
          </a:p>
        </p:txBody>
      </p:sp>
      <p:sp>
        <p:nvSpPr>
          <p:cNvPr id="12" name="Text 9"/>
          <p:cNvSpPr txBox="1"/>
          <p:nvPr/>
        </p:nvSpPr>
        <p:spPr>
          <a:xfrm>
            <a:off x="4480560" y="2825496"/>
            <a:ext cx="3200400" cy="2112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account_id</a:t>
            </a:r>
            <a:endParaRPr lang="en-US" sz="1100" dirty="0"/>
          </a:p>
          <a:p>
            <a:pPr algn="l" indent="0" marL="0">
              <a:buNone/>
            </a:pPr>
            <a:r>
              <a:rPr lang="en-US" sz="1100" dirty="0">
                <a:solidFill>
                  <a:schemeClr val="tx1"/>
                </a:solidFill>
              </a:rPr>
              <a:t>UQ  account_number, sanction_ref_id</a:t>
            </a:r>
            <a:endParaRPr lang="en-US" sz="1100" dirty="0"/>
          </a:p>
          <a:p>
            <a:pPr algn="l" indent="0" marL="0">
              <a:buNone/>
            </a:pPr>
            <a:r>
              <a:rPr lang="en-US" sz="1100" dirty="0">
                <a:solidFill>
                  <a:schemeClr val="tx1"/>
                </a:solidFill>
              </a:rPr>
              <a:t>customer_id, product_code, FK product_id</a:t>
            </a:r>
            <a:endParaRPr lang="en-US" sz="1100" dirty="0"/>
          </a:p>
          <a:p>
            <a:pPr algn="l" indent="0" marL="0">
              <a:buNone/>
            </a:pPr>
            <a:r>
              <a:rPr lang="en-US" sz="1100" dirty="0">
                <a:solidFill>
                  <a:schemeClr val="tx1"/>
                </a:solidFill>
              </a:rPr>
              <a:t>account_type  UNSECURED | MORTGAGE</a:t>
            </a:r>
            <a:endParaRPr lang="en-US" sz="1100" dirty="0"/>
          </a:p>
          <a:p>
            <a:pPr algn="l" indent="0" marL="0">
              <a:buNone/>
            </a:pPr>
            <a:r>
              <a:rPr lang="en-US" sz="1100" dirty="0">
                <a:solidFill>
                  <a:schemeClr val="tx1"/>
                </a:solidFill>
              </a:rPr>
              <a:t>rate_type, interest_rate, spread</a:t>
            </a:r>
            <a:endParaRPr lang="en-US" sz="1100" dirty="0"/>
          </a:p>
          <a:p>
            <a:pPr algn="l" indent="0" marL="0">
              <a:buNone/>
            </a:pPr>
            <a:r>
              <a:rPr lang="en-US" sz="1100" dirty="0">
                <a:solidFill>
                  <a:schemeClr val="tx1"/>
                </a:solidFill>
              </a:rPr>
              <a:t>day_count_convention</a:t>
            </a:r>
            <a:endParaRPr lang="en-US" sz="1100" dirty="0"/>
          </a:p>
          <a:p>
            <a:pPr algn="l" indent="0" marL="0">
              <a:buNone/>
            </a:pPr>
            <a:r>
              <a:rPr lang="en-US" sz="1100" dirty="0">
                <a:solidFill>
                  <a:schemeClr val="tx1"/>
                </a:solidFill>
              </a:rPr>
              <a:t>sanctioned_amount, disbursed_amount</a:t>
            </a:r>
            <a:endParaRPr lang="en-US" sz="1100" dirty="0"/>
          </a:p>
          <a:p>
            <a:pPr algn="l" indent="0" marL="0">
              <a:buNone/>
            </a:pPr>
            <a:r>
              <a:rPr lang="en-US" sz="1100" dirty="0">
                <a:solidFill>
                  <a:schemeClr val="tx1"/>
                </a:solidFill>
              </a:rPr>
              <a:t>tenure_months, emi_amount, emi_start_date</a:t>
            </a:r>
            <a:endParaRPr lang="en-US" sz="1100" dirty="0"/>
          </a:p>
          <a:p>
            <a:pPr algn="l" indent="0" marL="0">
              <a:buNone/>
            </a:pPr>
            <a:r>
              <a:rPr lang="en-US" sz="1100" dirty="0">
                <a:solidFill>
                  <a:schemeClr val="tx1"/>
                </a:solidFill>
              </a:rPr>
              <a:t>account_status  (11 states)</a:t>
            </a:r>
            <a:endParaRPr lang="en-US" sz="1100" dirty="0"/>
          </a:p>
          <a:p>
            <a:pPr algn="l" indent="0" marL="0">
              <a:buNone/>
            </a:pPr>
            <a:r>
              <a:rPr lang="en-US" sz="1100" dirty="0">
                <a:solidFill>
                  <a:schemeClr val="tx1"/>
                </a:solidFill>
              </a:rPr>
              <a:t>FK  mortgage_id,  version (optimistic lock)</a:t>
            </a:r>
            <a:endParaRPr lang="en-US" sz="1100" dirty="0"/>
          </a:p>
        </p:txBody>
      </p:sp>
      <p:sp>
        <p:nvSpPr>
          <p:cNvPr id="13" name="Text 10"/>
          <p:cNvSpPr txBox="1"/>
          <p:nvPr/>
        </p:nvSpPr>
        <p:spPr>
          <a:xfrm>
            <a:off x="4480560" y="5303520"/>
            <a:ext cx="3200400" cy="310896"/>
          </a:xfrm>
          <a:prstGeom prst="rect">
            <a:avLst/>
          </a:prstGeom>
          <a:solidFill>
            <a:schemeClr val="accent6"/>
          </a:solidFill>
          <a:ln w="12700">
            <a:solidFill>
              <a:schemeClr val="accent6"/>
            </a:solidFill>
          </a:ln>
        </p:spPr>
        <p:txBody>
          <a:bodyPr wrap="square" lIns="76200" tIns="76200" rIns="76200" bIns="76200" rtlCol="0" anchor="ctr"/>
          <a:lstStyle/>
          <a:p>
            <a:pPr algn="l" indent="0" marL="0">
              <a:buNone/>
            </a:pPr>
            <a:r>
              <a:rPr lang="en-US" sz="1100" b="1" dirty="0">
                <a:solidFill>
                  <a:schemeClr val="bg1"/>
                </a:solidFill>
              </a:rPr>
              <a:t>ledger_outbox</a:t>
            </a:r>
            <a:endParaRPr lang="en-US" sz="1100" dirty="0"/>
          </a:p>
        </p:txBody>
      </p:sp>
      <p:sp>
        <p:nvSpPr>
          <p:cNvPr id="14" name="Text 11"/>
          <p:cNvSpPr txBox="1"/>
          <p:nvPr/>
        </p:nvSpPr>
        <p:spPr>
          <a:xfrm>
            <a:off x="4480560" y="5614416"/>
            <a:ext cx="3200400" cy="603504"/>
          </a:xfrm>
          <a:prstGeom prst="rect">
            <a:avLst/>
          </a:prstGeom>
          <a:solidFill>
            <a:schemeClr val="bg1"/>
          </a:solidFill>
          <a:ln w="15875">
            <a:solidFill>
              <a:schemeClr val="accent6"/>
            </a:solidFill>
          </a:ln>
        </p:spPr>
        <p:txBody>
          <a:bodyPr wrap="square" lIns="76200" tIns="76200" rIns="76200" bIns="76200" rtlCol="0" anchor="t"/>
          <a:lstStyle/>
          <a:p>
            <a:pPr algn="l" indent="0" marL="0">
              <a:buNone/>
            </a:pPr>
            <a:r>
              <a:rPr lang="en-US" sz="1100" dirty="0">
                <a:solidFill>
                  <a:schemeClr val="tx1"/>
                </a:solidFill>
              </a:rPr>
              <a:t>PK  outbox_id,  FK  account_id</a:t>
            </a:r>
            <a:endParaRPr lang="en-US" sz="1100" dirty="0"/>
          </a:p>
          <a:p>
            <a:pPr algn="l" indent="0" marL="0">
              <a:buNone/>
            </a:pPr>
            <a:r>
              <a:rPr lang="en-US" sz="1100" dirty="0">
                <a:solidFill>
                  <a:schemeClr val="tx1"/>
                </a:solidFill>
              </a:rPr>
              <a:t>event_type  DISBURSEMENT | EMI_POSTING | ...</a:t>
            </a:r>
            <a:endParaRPr lang="en-US" sz="1100" dirty="0"/>
          </a:p>
          <a:p>
            <a:pPr algn="l" indent="0" marL="0">
              <a:buNone/>
            </a:pPr>
            <a:r>
              <a:rPr lang="en-US" sz="1100" dirty="0">
                <a:solidFill>
                  <a:schemeClr val="tx1"/>
                </a:solidFill>
              </a:rPr>
              <a:t>posting_status  PENDING | POSTED | FAILED</a:t>
            </a:r>
            <a:endParaRPr lang="en-US" sz="1100" dirty="0"/>
          </a:p>
        </p:txBody>
      </p:sp>
      <p:sp>
        <p:nvSpPr>
          <p:cNvPr id="15" name="Text 12"/>
          <p:cNvSpPr txBox="1"/>
          <p:nvPr/>
        </p:nvSpPr>
        <p:spPr>
          <a:xfrm>
            <a:off x="8503920" y="137160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amortization_schedule</a:t>
            </a:r>
            <a:endParaRPr lang="en-US" sz="1100" dirty="0"/>
          </a:p>
        </p:txBody>
      </p:sp>
      <p:sp>
        <p:nvSpPr>
          <p:cNvPr id="16" name="Text 13"/>
          <p:cNvSpPr txBox="1"/>
          <p:nvPr/>
        </p:nvSpPr>
        <p:spPr>
          <a:xfrm>
            <a:off x="8503920" y="1682496"/>
            <a:ext cx="3108960" cy="11978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schedule_id,  FK  account_id</a:t>
            </a:r>
            <a:endParaRPr lang="en-US" sz="1100" dirty="0"/>
          </a:p>
          <a:p>
            <a:pPr algn="l" indent="0" marL="0">
              <a:buNone/>
            </a:pPr>
            <a:r>
              <a:rPr lang="en-US" sz="1100" dirty="0">
                <a:solidFill>
                  <a:schemeClr val="tx1"/>
                </a:solidFill>
              </a:rPr>
              <a:t>installment_number, due_date</a:t>
            </a:r>
            <a:endParaRPr lang="en-US" sz="1100" dirty="0"/>
          </a:p>
          <a:p>
            <a:pPr algn="l" indent="0" marL="0">
              <a:buNone/>
            </a:pPr>
            <a:r>
              <a:rPr lang="en-US" sz="1100" dirty="0">
                <a:solidFill>
                  <a:schemeClr val="tx1"/>
                </a:solidFill>
              </a:rPr>
              <a:t>principal, interest, outstanding balance</a:t>
            </a:r>
            <a:endParaRPr lang="en-US" sz="1100" dirty="0"/>
          </a:p>
          <a:p>
            <a:pPr algn="l" indent="0" marL="0">
              <a:buNone/>
            </a:pPr>
            <a:r>
              <a:rPr lang="en-US" sz="1100" dirty="0">
                <a:solidFill>
                  <a:schemeClr val="tx1"/>
                </a:solidFill>
              </a:rPr>
              <a:t>status  PENDING | PAID | OVERDUE</a:t>
            </a:r>
            <a:endParaRPr lang="en-US" sz="1100" dirty="0"/>
          </a:p>
          <a:p>
            <a:pPr algn="l" indent="0" marL="0">
              <a:buNone/>
            </a:pPr>
            <a:r>
              <a:rPr lang="en-US" sz="1100" dirty="0">
                <a:solidFill>
                  <a:schemeClr val="tx1"/>
                </a:solidFill>
              </a:rPr>
              <a:t>schedule_version</a:t>
            </a:r>
            <a:endParaRPr lang="en-US" sz="1100" dirty="0"/>
          </a:p>
          <a:p>
            <a:pPr algn="l" indent="0" marL="0">
              <a:buNone/>
            </a:pPr>
            <a:r>
              <a:rPr lang="en-US" sz="1100" dirty="0">
                <a:solidFill>
                  <a:schemeClr val="tx1"/>
                </a:solidFill>
              </a:rPr>
              <a:t>UQ  (account, installment, version)</a:t>
            </a:r>
            <a:endParaRPr lang="en-US" sz="1100" dirty="0"/>
          </a:p>
        </p:txBody>
      </p:sp>
      <p:sp>
        <p:nvSpPr>
          <p:cNvPr id="17" name="Text 14"/>
          <p:cNvSpPr txBox="1"/>
          <p:nvPr/>
        </p:nvSpPr>
        <p:spPr>
          <a:xfrm>
            <a:off x="8503920" y="306324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interest_accrual  [monthly partitions]</a:t>
            </a:r>
            <a:endParaRPr lang="en-US" sz="1100" dirty="0"/>
          </a:p>
        </p:txBody>
      </p:sp>
      <p:sp>
        <p:nvSpPr>
          <p:cNvPr id="18" name="Text 15"/>
          <p:cNvSpPr txBox="1"/>
          <p:nvPr/>
        </p:nvSpPr>
        <p:spPr>
          <a:xfrm>
            <a:off x="8503920" y="3374136"/>
            <a:ext cx="3108960" cy="96926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(accrual_id, business_date)</a:t>
            </a:r>
            <a:endParaRPr lang="en-US" sz="1100" dirty="0"/>
          </a:p>
          <a:p>
            <a:pPr algn="l" indent="0" marL="0">
              <a:buNone/>
            </a:pPr>
            <a:r>
              <a:rPr lang="en-US" sz="1100" dirty="0">
                <a:solidFill>
                  <a:schemeClr val="tx1"/>
                </a:solidFill>
              </a:rPr>
              <a:t>FK  account_id</a:t>
            </a:r>
            <a:endParaRPr lang="en-US" sz="1100" dirty="0"/>
          </a:p>
          <a:p>
            <a:pPr algn="l" indent="0" marL="0">
              <a:buNone/>
            </a:pPr>
            <a:r>
              <a:rPr lang="en-US" sz="1100" dirty="0">
                <a:solidFill>
                  <a:schemeClr val="tx1"/>
                </a:solidFill>
              </a:rPr>
              <a:t>accrued_amount, outstanding_principal</a:t>
            </a:r>
            <a:endParaRPr lang="en-US" sz="1100" dirty="0"/>
          </a:p>
          <a:p>
            <a:pPr algn="l" indent="0" marL="0">
              <a:buNone/>
            </a:pPr>
            <a:r>
              <a:rPr lang="en-US" sz="1100" dirty="0">
                <a:solidFill>
                  <a:schemeClr val="tx1"/>
                </a:solidFill>
              </a:rPr>
              <a:t>UQ  (account_id, business_date)</a:t>
            </a:r>
            <a:endParaRPr lang="en-US" sz="1100" dirty="0"/>
          </a:p>
        </p:txBody>
      </p:sp>
      <p:sp>
        <p:nvSpPr>
          <p:cNvPr id="19" name="Text 16"/>
          <p:cNvSpPr txBox="1"/>
          <p:nvPr/>
        </p:nvSpPr>
        <p:spPr>
          <a:xfrm>
            <a:off x="8503920" y="4526280"/>
            <a:ext cx="3108960" cy="310896"/>
          </a:xfrm>
          <a:prstGeom prst="rect">
            <a:avLst/>
          </a:prstGeom>
          <a:solidFill>
            <a:schemeClr val="accent1"/>
          </a:solidFill>
          <a:ln w="12700">
            <a:solidFill>
              <a:schemeClr val="accent1"/>
            </a:solidFill>
          </a:ln>
        </p:spPr>
        <p:txBody>
          <a:bodyPr wrap="square" lIns="76200" tIns="76200" rIns="76200" bIns="76200" rtlCol="0" anchor="ctr"/>
          <a:lstStyle/>
          <a:p>
            <a:pPr algn="l" indent="0" marL="0">
              <a:buNone/>
            </a:pPr>
            <a:r>
              <a:rPr lang="en-US" sz="1100" b="1" dirty="0">
                <a:solidFill>
                  <a:schemeClr val="bg1"/>
                </a:solidFill>
              </a:rPr>
              <a:t>emi_transaction  [monthly partitions]</a:t>
            </a:r>
            <a:endParaRPr lang="en-US" sz="1100" dirty="0"/>
          </a:p>
        </p:txBody>
      </p:sp>
      <p:sp>
        <p:nvSpPr>
          <p:cNvPr id="20" name="Text 17"/>
          <p:cNvSpPr txBox="1"/>
          <p:nvPr/>
        </p:nvSpPr>
        <p:spPr>
          <a:xfrm>
            <a:off x="8503920" y="4837176"/>
            <a:ext cx="3108960" cy="1335024"/>
          </a:xfrm>
          <a:prstGeom prst="rect">
            <a:avLst/>
          </a:prstGeom>
          <a:solidFill>
            <a:schemeClr val="bg1"/>
          </a:solidFill>
          <a:ln w="15875">
            <a:solidFill>
              <a:schemeClr val="accent1"/>
            </a:solidFill>
          </a:ln>
        </p:spPr>
        <p:txBody>
          <a:bodyPr wrap="square" lIns="76200" tIns="76200" rIns="76200" bIns="76200" rtlCol="0" anchor="t"/>
          <a:lstStyle/>
          <a:p>
            <a:pPr algn="l" indent="0" marL="0">
              <a:buNone/>
            </a:pPr>
            <a:r>
              <a:rPr lang="en-US" sz="1100" dirty="0">
                <a:solidFill>
                  <a:schemeClr val="tx1"/>
                </a:solidFill>
              </a:rPr>
              <a:t>PK  (transaction_id, value_date)</a:t>
            </a:r>
            <a:endParaRPr lang="en-US" sz="1100" dirty="0"/>
          </a:p>
          <a:p>
            <a:pPr algn="l" indent="0" marL="0">
              <a:buNone/>
            </a:pPr>
            <a:r>
              <a:rPr lang="en-US" sz="1100" dirty="0">
                <a:solidFill>
                  <a:schemeClr val="tx1"/>
                </a:solidFill>
              </a:rPr>
              <a:t>FK  account_id,  installment_number</a:t>
            </a:r>
            <a:endParaRPr lang="en-US" sz="1100" dirty="0"/>
          </a:p>
          <a:p>
            <a:pPr algn="l" indent="0" marL="0">
              <a:buNone/>
            </a:pPr>
            <a:r>
              <a:rPr lang="en-US" sz="1100" dirty="0">
                <a:solidFill>
                  <a:schemeClr val="tx1"/>
                </a:solidFill>
              </a:rPr>
              <a:t>type  EMI | PART_PAYMENT | FORECLOSURE</a:t>
            </a:r>
            <a:endParaRPr lang="en-US" sz="1100" dirty="0"/>
          </a:p>
          <a:p>
            <a:pPr algn="l" indent="0" marL="0">
              <a:buNone/>
            </a:pPr>
            <a:r>
              <a:rPr lang="en-US" sz="1100" dirty="0">
                <a:solidFill>
                  <a:schemeClr val="tx1"/>
                </a:solidFill>
              </a:rPr>
              <a:t>amount, principal_paid, interest_paid, penal_paid</a:t>
            </a:r>
            <a:endParaRPr lang="en-US" sz="1100" dirty="0"/>
          </a:p>
          <a:p>
            <a:pPr algn="l" indent="0" marL="0">
              <a:buNone/>
            </a:pPr>
            <a:r>
              <a:rPr lang="en-US" sz="1100" dirty="0">
                <a:solidFill>
                  <a:schemeClr val="tx1"/>
                </a:solidFill>
              </a:rPr>
              <a:t>channel, payment_status</a:t>
            </a:r>
            <a:endParaRPr lang="en-US" sz="1100" dirty="0"/>
          </a:p>
          <a:p>
            <a:pPr algn="l" indent="0" marL="0">
              <a:buNone/>
            </a:pPr>
            <a:r>
              <a:rPr lang="en-US" sz="1100" dirty="0">
                <a:solidFill>
                  <a:schemeClr val="tx1"/>
                </a:solidFill>
              </a:rPr>
              <a:t>UQ  (account, idempotency_key, value_date)</a:t>
            </a:r>
            <a:endParaRPr lang="en-US" sz="1100" dirty="0"/>
          </a:p>
        </p:txBody>
      </p:sp>
      <p:sp>
        <p:nvSpPr>
          <p:cNvPr id="21" name="Shape 18"/>
          <p:cNvSpPr/>
          <p:nvPr/>
        </p:nvSpPr>
        <p:spPr>
          <a:xfrm>
            <a:off x="3840480" y="2834640"/>
            <a:ext cx="640080" cy="0"/>
          </a:xfrm>
          <a:prstGeom prst="line">
            <a:avLst/>
          </a:prstGeom>
          <a:noFill/>
          <a:ln w="19050">
            <a:solidFill>
              <a:schemeClr val="tx2"/>
            </a:solidFill>
            <a:prstDash val="solid"/>
            <a:headEnd type="triangle"/>
            <a:tailEnd type="triangle"/>
          </a:ln>
        </p:spPr>
      </p:sp>
      <p:sp>
        <p:nvSpPr>
          <p:cNvPr id="22" name="Text 19"/>
          <p:cNvSpPr txBox="1"/>
          <p:nvPr/>
        </p:nvSpPr>
        <p:spPr>
          <a:xfrm>
            <a:off x="3840480" y="2560320"/>
            <a:ext cx="64008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1</a:t>
            </a:r>
            <a:endParaRPr lang="en-US" sz="1000" dirty="0"/>
          </a:p>
        </p:txBody>
      </p:sp>
      <p:sp>
        <p:nvSpPr>
          <p:cNvPr id="23" name="Shape 20"/>
          <p:cNvSpPr/>
          <p:nvPr/>
        </p:nvSpPr>
        <p:spPr>
          <a:xfrm>
            <a:off x="2194560" y="3383280"/>
            <a:ext cx="0" cy="640080"/>
          </a:xfrm>
          <a:prstGeom prst="line">
            <a:avLst/>
          </a:prstGeom>
          <a:noFill/>
          <a:ln w="19050">
            <a:solidFill>
              <a:schemeClr val="tx2"/>
            </a:solidFill>
            <a:prstDash val="solid"/>
            <a:headEnd type="triangle"/>
            <a:tailEnd type="triangle"/>
          </a:ln>
        </p:spPr>
      </p:sp>
      <p:sp>
        <p:nvSpPr>
          <p:cNvPr id="24" name="Text 21"/>
          <p:cNvSpPr txBox="1"/>
          <p:nvPr/>
        </p:nvSpPr>
        <p:spPr>
          <a:xfrm>
            <a:off x="2286000" y="35661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hape 22"/>
          <p:cNvSpPr/>
          <p:nvPr/>
        </p:nvSpPr>
        <p:spPr>
          <a:xfrm>
            <a:off x="7680960" y="2651760"/>
            <a:ext cx="822960" cy="0"/>
          </a:xfrm>
          <a:prstGeom prst="line">
            <a:avLst/>
          </a:prstGeom>
          <a:noFill/>
          <a:ln w="19050">
            <a:solidFill>
              <a:schemeClr val="tx2"/>
            </a:solidFill>
            <a:prstDash val="solid"/>
            <a:headEnd type="triangle"/>
            <a:tailEnd type="triangle"/>
          </a:ln>
        </p:spPr>
      </p:sp>
      <p:sp>
        <p:nvSpPr>
          <p:cNvPr id="26" name="Text 23"/>
          <p:cNvSpPr txBox="1"/>
          <p:nvPr/>
        </p:nvSpPr>
        <p:spPr>
          <a:xfrm>
            <a:off x="7680960" y="237744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7" name="Shape 24"/>
          <p:cNvSpPr/>
          <p:nvPr/>
        </p:nvSpPr>
        <p:spPr>
          <a:xfrm>
            <a:off x="7680960" y="3657600"/>
            <a:ext cx="822960" cy="0"/>
          </a:xfrm>
          <a:prstGeom prst="line">
            <a:avLst/>
          </a:prstGeom>
          <a:noFill/>
          <a:ln w="19050">
            <a:solidFill>
              <a:schemeClr val="tx2"/>
            </a:solidFill>
            <a:prstDash val="solid"/>
            <a:headEnd type="triangle"/>
            <a:tailEnd type="triangle"/>
          </a:ln>
        </p:spPr>
      </p:sp>
      <p:sp>
        <p:nvSpPr>
          <p:cNvPr id="28" name="Text 25"/>
          <p:cNvSpPr txBox="1"/>
          <p:nvPr/>
        </p:nvSpPr>
        <p:spPr>
          <a:xfrm>
            <a:off x="7680960" y="338328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29" name="Shape 26"/>
          <p:cNvSpPr/>
          <p:nvPr/>
        </p:nvSpPr>
        <p:spPr>
          <a:xfrm>
            <a:off x="7680960" y="4754880"/>
            <a:ext cx="822960" cy="0"/>
          </a:xfrm>
          <a:prstGeom prst="line">
            <a:avLst/>
          </a:prstGeom>
          <a:noFill/>
          <a:ln w="19050">
            <a:solidFill>
              <a:schemeClr val="tx2"/>
            </a:solidFill>
            <a:prstDash val="solid"/>
            <a:headEnd type="triangle"/>
            <a:tailEnd type="triangle"/>
          </a:ln>
        </p:spPr>
      </p:sp>
      <p:sp>
        <p:nvSpPr>
          <p:cNvPr id="30" name="Text 27"/>
          <p:cNvSpPr txBox="1"/>
          <p:nvPr/>
        </p:nvSpPr>
        <p:spPr>
          <a:xfrm>
            <a:off x="7680960" y="4480560"/>
            <a:ext cx="822960" cy="228600"/>
          </a:xfrm>
          <a:prstGeom prst="rect">
            <a:avLst/>
          </a:prstGeom>
          <a:noFill/>
          <a:ln/>
        </p:spPr>
        <p:txBody>
          <a:bodyPr wrap="square" lIns="0" tIns="0" rIns="0" bIns="0" rtlCol="0" anchor="ctr"/>
          <a:lstStyle/>
          <a:p>
            <a:pPr algn="ctr" indent="0" marL="0">
              <a:buNone/>
            </a:pPr>
            <a:r>
              <a:rPr lang="en-US" sz="1000" i="1" dirty="0">
                <a:solidFill>
                  <a:schemeClr val="accent4"/>
                </a:solidFill>
              </a:rPr>
              <a:t>1 : N</a:t>
            </a:r>
            <a:endParaRPr lang="en-US" sz="1000" dirty="0"/>
          </a:p>
        </p:txBody>
      </p:sp>
      <p:sp>
        <p:nvSpPr>
          <p:cNvPr id="31" name="Shape 28"/>
          <p:cNvSpPr/>
          <p:nvPr/>
        </p:nvSpPr>
        <p:spPr>
          <a:xfrm>
            <a:off x="6080760" y="4937760"/>
            <a:ext cx="0" cy="365760"/>
          </a:xfrm>
          <a:prstGeom prst="line">
            <a:avLst/>
          </a:prstGeom>
          <a:noFill/>
          <a:ln w="19050">
            <a:solidFill>
              <a:schemeClr val="tx2"/>
            </a:solidFill>
            <a:prstDash val="solid"/>
            <a:headEnd type="triangle"/>
            <a:tailEnd type="triangle"/>
          </a:ln>
        </p:spPr>
      </p:sp>
      <p:sp>
        <p:nvSpPr>
          <p:cNvPr id="32" name="Text 29"/>
          <p:cNvSpPr txBox="1"/>
          <p:nvPr/>
        </p:nvSpPr>
        <p:spPr>
          <a:xfrm>
            <a:off x="6172200" y="498348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1 : 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Loan products: one place for the terms of a loan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account is opened from a product; it takes the product's terms by default and may differ only inside the product's limits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731520"/>
                <a:gridCol w="1554480"/>
                <a:gridCol w="2103120"/>
                <a:gridCol w="822960"/>
                <a:gridCol w="1188720"/>
                <a:gridCol w="1097280"/>
              </a:tblGrid>
              <a:tr h="420624">
                <a:tc>
                  <a:txBody>
                    <a:bodyPr/>
                    <a:lstStyle/>
                    <a:p>
                      <a:pPr indent="0" marL="0">
                        <a:buNone/>
                      </a:pPr>
                      <a:r>
                        <a:rPr lang="en-US" sz="1200" b="1" dirty="0">
                          <a:solidFill>
                            <a:schemeClr val="bg1"/>
                          </a:solidFill>
                        </a:rPr>
                        <a:t>Code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rate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band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PL01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Personal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10.50%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6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BL01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Business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11.50%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 to 17%</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EL01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Education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120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GL01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Gold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Unsecured, fixed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9.00%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7%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3 to 36</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AL01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Auto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Unsecured, REPO + 3.00%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9.75%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12 to 84</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200" b="1" dirty="0">
                          <a:solidFill>
                            <a:schemeClr val="tx2"/>
                          </a:solidFill>
                          <a:latin typeface="Courier New" pitchFamily="34" charset="0"/>
                          <a:ea typeface="Courier New" pitchFamily="34" charset="-122"/>
                          <a:cs typeface="Courier New" pitchFamily="34" charset="-120"/>
                        </a:rPr>
                        <a:t>HL01</a:t>
                      </a:r>
                      <a:endParaRPr lang="en-US" sz="1200" dirty="0">
                        <a:latin typeface="Courier New" charset="0"/>
                        <a:ea typeface="Courier New" charset="0"/>
                        <a:cs typeface="Courier New" charset="0"/>
                      </a:endParaRPr>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Home Loan</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Mortgage, REPO + 2.50%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8.75%</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8% to 13%</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60 to 360</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480560"/>
            <a:ext cx="7498080" cy="274320"/>
          </a:xfrm>
          <a:prstGeom prst="rect">
            <a:avLst/>
          </a:prstGeom>
          <a:noFill/>
          <a:ln/>
        </p:spPr>
        <p:txBody>
          <a:bodyPr wrap="square" lIns="0" tIns="0" rIns="0" bIns="0" rtlCol="0" anchor="t"/>
          <a:lstStyle/>
          <a:p>
            <a:pPr indent="0" marL="0">
              <a:buNone/>
            </a:pPr>
            <a:r>
              <a:rPr lang="en-US" sz="1050" i="1" dirty="0">
                <a:solidFill>
                  <a:schemeClr val="accent4"/>
                </a:solidFill>
              </a:rPr>
              <a:t>Standard products; amount bands also apply. Existing product codes not listed are kept as open "Legacy" products.</a:t>
            </a:r>
            <a:endParaRPr lang="en-US" sz="1050" dirty="0"/>
          </a:p>
        </p:txBody>
      </p:sp>
      <p:sp>
        <p:nvSpPr>
          <p:cNvPr id="7" name="Text 3"/>
          <p:cNvSpPr txBox="1"/>
          <p:nvPr/>
        </p:nvSpPr>
        <p:spPr>
          <a:xfrm>
            <a:off x="8321040" y="1463040"/>
            <a:ext cx="3291840" cy="3200400"/>
          </a:xfrm>
          <a:prstGeom prst="roundRect">
            <a:avLst>
              <a:gd name="adj" fmla="val 2286"/>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buNone/>
            </a:pPr>
            <a:r>
              <a:rPr lang="en-US" sz="1500" b="1" dirty="0">
                <a:solidFill>
                  <a:schemeClr val="tx2"/>
                </a:solidFill>
              </a:rPr>
              <a:t>Opening an account</a:t>
            </a:r>
            <a:endParaRPr lang="en-US" sz="1200" dirty="0"/>
          </a:p>
          <a:p>
            <a:pPr algn="l" marL="342900" indent="-342900">
              <a:spcAft>
                <a:spcPts val="600"/>
              </a:spcAft>
              <a:buSzPct val="100000"/>
              <a:buChar char="•"/>
            </a:pPr>
            <a:r>
              <a:rPr lang="en-US" sz="1300" dirty="0">
                <a:solidFill>
                  <a:schemeClr val="tx1"/>
                </a:solidFill>
              </a:rPr>
              <a:t>Give product, customer, amount, tenure</a:t>
            </a:r>
            <a:endParaRPr lang="en-US" sz="1200" dirty="0"/>
          </a:p>
          <a:p>
            <a:pPr algn="l" marL="342900" indent="-342900">
              <a:spcAft>
                <a:spcPts val="600"/>
              </a:spcAft>
              <a:buSzPct val="100000"/>
              <a:buChar char="•"/>
            </a:pPr>
            <a:r>
              <a:rPr lang="en-US" sz="1300" dirty="0">
                <a:solidFill>
                  <a:schemeClr val="tx1"/>
                </a:solidFill>
              </a:rPr>
              <a:t>Everything else defaults from the product</a:t>
            </a:r>
            <a:endParaRPr lang="en-US" sz="1200" dirty="0"/>
          </a:p>
          <a:p>
            <a:pPr algn="l" marL="342900" indent="-342900">
              <a:spcAft>
                <a:spcPts val="600"/>
              </a:spcAft>
              <a:buSzPct val="100000"/>
              <a:buChar char="•"/>
            </a:pPr>
            <a:r>
              <a:rPr lang="en-US" sz="1300" dirty="0">
                <a:solidFill>
                  <a:schemeClr val="tx1"/>
                </a:solidFill>
              </a:rPr>
              <a:t>Own values allowed inside the bands</a:t>
            </a:r>
            <a:endParaRPr lang="en-US" sz="1200" dirty="0"/>
          </a:p>
          <a:p>
            <a:pPr algn="l" marL="342900" indent="-342900">
              <a:spcAft>
                <a:spcPts val="600"/>
              </a:spcAft>
              <a:buSzPct val="100000"/>
              <a:buChar char="•"/>
            </a:pPr>
            <a:r>
              <a:rPr lang="en-US" sz="1300" dirty="0">
                <a:solidFill>
                  <a:schemeClr val="tx1"/>
                </a:solidFill>
              </a:rPr>
              <a:t>Account and rate type must match</a:t>
            </a:r>
            <a:endParaRPr lang="en-US" sz="1200" dirty="0"/>
          </a:p>
          <a:p>
            <a:pPr algn="l" marL="342900" indent="-342900">
              <a:spcAft>
                <a:spcPts val="600"/>
              </a:spcAft>
              <a:buSzPct val="100000"/>
              <a:buChar char="•"/>
            </a:pPr>
            <a:r>
              <a:rPr lang="en-US" sz="1300" dirty="0">
                <a:solidFill>
                  <a:schemeClr val="tx1"/>
                </a:solidFill>
              </a:rPr>
              <a:t>All problems returned in one 400</a:t>
            </a:r>
            <a:endParaRPr lang="en-US" sz="1200" dirty="0"/>
          </a:p>
        </p:txBody>
      </p:sp>
      <p:sp>
        <p:nvSpPr>
          <p:cNvPr id="8" name="Text 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What a product defines</a:t>
            </a:r>
            <a:endParaRPr lang="en-US" sz="1200" dirty="0"/>
          </a:p>
          <a:p>
            <a:pPr algn="l" indent="0" marL="0">
              <a:buNone/>
            </a:pPr>
            <a:r>
              <a:rPr lang="en-US" sz="1200" dirty="0">
                <a:solidFill>
                  <a:schemeClr val="tx1"/>
                </a:solidFill>
              </a:rPr>
              <a:t>Account type, rate type, schedule type, day count, repayment frequency, moratorium, balloon and step-up; benchmark, default rate and spread; bands for rate, spread, amount and tenure; status.</a:t>
            </a:r>
            <a:endParaRPr lang="en-US" sz="1200" dirty="0"/>
          </a:p>
        </p:txBody>
      </p:sp>
      <p:sp>
        <p:nvSpPr>
          <p:cNvPr id="9" name="Text 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When a change applies</a:t>
            </a:r>
            <a:endParaRPr lang="en-US" sz="1200" dirty="0"/>
          </a:p>
          <a:p>
            <a:pPr algn="l" indent="0" marL="0">
              <a:buNone/>
            </a:pPr>
            <a:r>
              <a:rPr lang="en-US" sz="1200" dirty="0">
                <a:solidFill>
                  <a:schemeClr val="tx1"/>
                </a:solidFill>
              </a:rPr>
              <a:t>New accounts, and one account at a floating rate reset (the rate band floors and caps it). Existing accounts keep their terms; no reschedule-all.</a:t>
            </a:r>
            <a:endParaRPr lang="en-US" sz="1200" dirty="0"/>
          </a:p>
        </p:txBody>
      </p:sp>
      <p:sp>
        <p:nvSpPr>
          <p:cNvPr id="10" name="Text 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Where it lives</a:t>
            </a:r>
            <a:endParaRPr lang="en-US" sz="1200" dirty="0"/>
          </a:p>
          <a:p>
            <a:pPr algn="l" indent="0" marL="0">
              <a:buNone/>
            </a:pPr>
            <a:r>
              <a:rPr lang="en-US" sz="1200" dirty="0">
                <a:solidFill>
                  <a:schemeClr val="tx1"/>
                </a:solidFill>
              </a:rPr>
              <a:t>Table loan_product (V10, V11), API /api/v1/loan-products, and the Products screen in the admin portal (view, create, edit).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Day counts and repayment schedules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product chooses how interest is counted and how the loan is repaid; the account keeps its own copy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029200" cy="914400"/>
        </p:xfrm>
        <a:graphic>
          <a:graphicData uri="http://schemas.openxmlformats.org/drawingml/2006/table">
            <a:tbl>
              <a:tblPr/>
              <a:tblGrid>
                <a:gridCol w="1463040"/>
                <a:gridCol w="3566160"/>
              </a:tblGrid>
              <a:tr h="420624">
                <a:tc>
                  <a:txBody>
                    <a:bodyPr/>
                    <a:lstStyle/>
                    <a:p>
                      <a:pPr indent="0" marL="0">
                        <a:buNone/>
                      </a:pPr>
                      <a:r>
                        <a:rPr lang="en-US" sz="1200" b="1" dirty="0">
                          <a:solidFill>
                            <a:schemeClr val="bg1"/>
                          </a:solidFill>
                        </a:rPr>
                        <a:t>Day count</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Interest for an instalment period</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ACT/365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365</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ACT/ACT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Each year's days / 365 or 366</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ACT/360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Actual days / 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30/360 (US)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30-day months, 360-day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30E/360</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30-day months, any 31st = 30th</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852160" y="1463040"/>
          <a:ext cx="5760720" cy="914400"/>
        </p:xfrm>
        <a:graphic>
          <a:graphicData uri="http://schemas.openxmlformats.org/drawingml/2006/table">
            <a:tbl>
              <a:tblPr/>
              <a:tblGrid>
                <a:gridCol w="1737360"/>
                <a:gridCol w="4023360"/>
              </a:tblGrid>
              <a:tr h="420624">
                <a:tc>
                  <a:txBody>
                    <a:bodyPr/>
                    <a:lstStyle/>
                    <a:p>
                      <a:pPr indent="0" marL="0">
                        <a:buNone/>
                      </a:pPr>
                      <a:r>
                        <a:rPr lang="en-US" sz="1200" b="1" dirty="0">
                          <a:solidFill>
                            <a:schemeClr val="bg1"/>
                          </a:solidFill>
                        </a:rPr>
                        <a:t>Schedule type</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the borrower pays</a:t>
                      </a:r>
                      <a:endParaRPr lang="en-US" sz="120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20624">
                <a:tc>
                  <a:txBody>
                    <a:bodyPr/>
                    <a:lstStyle/>
                    <a:p>
                      <a:pPr indent="0" marL="0">
                        <a:buNone/>
                      </a:pPr>
                      <a:r>
                        <a:rPr lang="en-US" sz="1150" b="1" dirty="0">
                          <a:solidFill>
                            <a:schemeClr val="tx2"/>
                          </a:solidFill>
                        </a:rPr>
                        <a:t>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Same instalment every time</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Equal principal</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Same principal; instalment falls</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Interest only</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Interest; all principal at the end</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20624">
                <a:tc>
                  <a:txBody>
                    <a:bodyPr/>
                    <a:lstStyle/>
                    <a:p>
                      <a:pPr indent="0" marL="0">
                        <a:buNone/>
                      </a:pPr>
                      <a:r>
                        <a:rPr lang="en-US" sz="1150" b="1" dirty="0">
                          <a:solidFill>
                            <a:schemeClr val="tx2"/>
                          </a:solidFill>
                        </a:rPr>
                        <a:t>Balloon</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rgbClr val="000000"/>
                          </a:solidFill>
                        </a:rPr>
                        <a:t>Level instalments + balloon % last</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20624">
                <a:tc>
                  <a:txBody>
                    <a:bodyPr/>
                    <a:lstStyle/>
                    <a:p>
                      <a:pPr indent="0" marL="0">
                        <a:buNone/>
                      </a:pPr>
                      <a:r>
                        <a:rPr lang="en-US" sz="1150" b="1" dirty="0">
                          <a:solidFill>
                            <a:schemeClr val="tx2"/>
                          </a:solidFill>
                        </a:rPr>
                        <a:t>Step-up EMI</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rgbClr val="000000"/>
                          </a:solidFill>
                        </a:rPr>
                        <a:t>Instalment rises x% a year</a:t>
                      </a:r>
                      <a:endParaRPr lang="en-US" sz="1150" dirty="0"/>
                    </a:p>
                  </a:txBody>
                  <a:tcPr marL="73152" marR="73152"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7" name="Text 2"/>
          <p:cNvSpPr txBox="1"/>
          <p:nvPr/>
        </p:nvSpPr>
        <p:spPr>
          <a:xfrm>
            <a:off x="54864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Parameters</a:t>
            </a:r>
            <a:endParaRPr lang="en-US" sz="1200" dirty="0"/>
          </a:p>
          <a:p>
            <a:pPr algn="l" indent="0" marL="0">
              <a:buNone/>
            </a:pPr>
            <a:r>
              <a:rPr lang="en-US" sz="1200" dirty="0">
                <a:solidFill>
                  <a:schemeClr val="tx1"/>
                </a:solidFill>
              </a:rPr>
              <a:t>Repayment frequency (monthly, quarterly, half-yearly, yearly; product lists the allowed ones), moratorium months (interest only first), balloon %, step-up % a year. Default and maximum on the product; the account may choose inside them.</a:t>
            </a:r>
            <a:endParaRPr lang="en-US" sz="1200" dirty="0"/>
          </a:p>
        </p:txBody>
      </p:sp>
      <p:sp>
        <p:nvSpPr>
          <p:cNvPr id="8" name="Text 3"/>
          <p:cNvSpPr txBox="1"/>
          <p:nvPr/>
        </p:nvSpPr>
        <p:spPr>
          <a:xfrm>
            <a:off x="429768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engine</a:t>
            </a:r>
            <a:endParaRPr lang="en-US" sz="1200" dirty="0"/>
          </a:p>
          <a:p>
            <a:pPr algn="l" indent="0" marL="0">
              <a:buNone/>
            </a:pPr>
            <a:r>
              <a:rPr lang="en-US" sz="1200" dirty="0">
                <a:solidFill>
                  <a:schemeClr val="tx1"/>
                </a:solidFill>
              </a:rPr>
              <a:t>First schedule, part-payment and floating rate reset all use ScheduleCalculator. The last instalment clears the balance; a running moratorium and the current step-up year carry on after a reschedule.</a:t>
            </a:r>
            <a:endParaRPr lang="en-US" sz="1200" dirty="0"/>
          </a:p>
        </p:txBody>
      </p:sp>
      <p:sp>
        <p:nvSpPr>
          <p:cNvPr id="9" name="Text 4"/>
          <p:cNvSpPr txBox="1"/>
          <p:nvPr/>
        </p:nvSpPr>
        <p:spPr>
          <a:xfrm>
            <a:off x="8046720" y="4343400"/>
            <a:ext cx="3566160" cy="1874520"/>
          </a:xfrm>
          <a:prstGeom prst="roundRect">
            <a:avLst>
              <a:gd name="adj" fmla="val 3902"/>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Example</a:t>
            </a:r>
            <a:endParaRPr lang="en-US" sz="1200" dirty="0"/>
          </a:p>
          <a:p>
            <a:pPr algn="l" indent="0" marL="0">
              <a:buNone/>
            </a:pPr>
            <a:r>
              <a:rPr lang="en-US" sz="1200" dirty="0">
                <a:solidFill>
                  <a:schemeClr val="tx1"/>
                </a:solidFill>
              </a:rPr>
              <a:t>10,00,000 at 12%, 12 months, 30/360: EMI 88,848.79. Equal principal: 93,333.33 falling to 84,166.70. Sample products: TL01, BB01, AB01, SU01, EM01.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Six design rules in the schema</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These choices make payments safe to retry and history safe to audit</a:t>
            </a:r>
            <a:endParaRPr lang="en-US" sz="1400" dirty="0"/>
          </a:p>
        </p:txBody>
      </p:sp>
      <p:sp>
        <p:nvSpPr>
          <p:cNvPr id="5" name="Text 2"/>
          <p:cNvSpPr txBox="1"/>
          <p:nvPr/>
        </p:nvSpPr>
        <p:spPr>
          <a:xfrm>
            <a:off x="54864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 4"/>
          <p:cNvSpPr txBox="1"/>
          <p:nvPr/>
        </p:nvSpPr>
        <p:spPr>
          <a:xfrm>
            <a:off x="7315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Monthly partitions</a:t>
            </a:r>
            <a:endParaRPr lang="en-US" sz="1600" dirty="0"/>
          </a:p>
        </p:txBody>
      </p:sp>
      <p:sp>
        <p:nvSpPr>
          <p:cNvPr id="9" name="Text 6"/>
          <p:cNvSpPr txBox="1"/>
          <p:nvPr/>
        </p:nvSpPr>
        <p:spPr>
          <a:xfrm>
            <a:off x="77724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interest_accrual and emi_transaction are range-partitioned by date, and their unique keys include the date. A startup job keeps six months of partitions ahead.</a:t>
            </a:r>
            <a:endParaRPr lang="en-US" sz="1500" dirty="0"/>
          </a:p>
        </p:txBody>
      </p:sp>
      <p:sp>
        <p:nvSpPr>
          <p:cNvPr id="10" name="Text 7"/>
          <p:cNvSpPr txBox="1"/>
          <p:nvPr/>
        </p:nvSpPr>
        <p:spPr>
          <a:xfrm>
            <a:off x="429768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1" name="Text 8"/>
          <p:cNvSpPr txBox="1"/>
          <p:nvPr/>
        </p:nvSpPr>
        <p:spPr>
          <a:xfrm>
            <a:off x="448056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9"/>
          <p:cNvSpPr txBox="1"/>
          <p:nvPr/>
        </p:nvSpPr>
        <p:spPr>
          <a:xfrm>
            <a:off x="44805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507492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Versioned schedules</a:t>
            </a:r>
            <a:endParaRPr lang="en-US" sz="1600" dirty="0"/>
          </a:p>
        </p:txBody>
      </p:sp>
      <p:sp>
        <p:nvSpPr>
          <p:cNvPr id="14" name="Text 11"/>
          <p:cNvSpPr txBox="1"/>
          <p:nvPr/>
        </p:nvSpPr>
        <p:spPr>
          <a:xfrm>
            <a:off x="452628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 rate reset or part-payment writes a new schedule_version for the remaining instalments. The current schedule is the highest version; older ones stay for audit.</a:t>
            </a:r>
            <a:endParaRPr lang="en-US" sz="1500" dirty="0"/>
          </a:p>
        </p:txBody>
      </p:sp>
      <p:sp>
        <p:nvSpPr>
          <p:cNvPr id="15" name="Text 12"/>
          <p:cNvSpPr txBox="1"/>
          <p:nvPr/>
        </p:nvSpPr>
        <p:spPr>
          <a:xfrm>
            <a:off x="8046720" y="155448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8229600" y="173736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82296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823960" y="17373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Idempotent by design</a:t>
            </a:r>
            <a:endParaRPr lang="en-US" sz="1600" dirty="0"/>
          </a:p>
        </p:txBody>
      </p:sp>
      <p:sp>
        <p:nvSpPr>
          <p:cNvPr id="19" name="Text 16"/>
          <p:cNvSpPr txBox="1"/>
          <p:nvPr/>
        </p:nvSpPr>
        <p:spPr>
          <a:xfrm>
            <a:off x="8275320" y="2331720"/>
            <a:ext cx="3154680" cy="1325880"/>
          </a:xfrm>
          <a:prstGeom prst="rect">
            <a:avLst/>
          </a:prstGeom>
          <a:noFill/>
          <a:ln/>
        </p:spPr>
        <p:txBody>
          <a:bodyPr wrap="square" lIns="0" tIns="0" rIns="0" bIns="0" rtlCol="0" anchor="t"/>
          <a:lstStyle/>
          <a:p>
            <a:pPr indent="0" marL="0">
              <a:buNone/>
            </a:pPr>
            <a:r>
              <a:rPr lang="en-US" sz="1500" dirty="0">
                <a:solidFill>
                  <a:schemeClr val="tx1"/>
                </a:solidFill>
              </a:rPr>
              <a:t>Account creation keys on sanction_ref_id, payments on account plus idempotency key, accruals on account plus date. A retry never double-posts.</a:t>
            </a:r>
            <a:endParaRPr lang="en-US" sz="1500" dirty="0"/>
          </a:p>
        </p:txBody>
      </p:sp>
      <p:sp>
        <p:nvSpPr>
          <p:cNvPr id="20" name="Text 17"/>
          <p:cNvSpPr txBox="1"/>
          <p:nvPr/>
        </p:nvSpPr>
        <p:spPr>
          <a:xfrm>
            <a:off x="54864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73152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2" name="Text 19"/>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32588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Transactional outbox</a:t>
            </a:r>
            <a:endParaRPr lang="en-US" sz="1600" dirty="0"/>
          </a:p>
        </p:txBody>
      </p:sp>
      <p:sp>
        <p:nvSpPr>
          <p:cNvPr id="24" name="Text 21"/>
          <p:cNvSpPr txBox="1"/>
          <p:nvPr/>
        </p:nvSpPr>
        <p:spPr>
          <a:xfrm>
            <a:off x="77724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Disbursement, EMI and foreclosure write a ledger_outbox row in the same transaction. A push job later marks it POSTED or FAILED.</a:t>
            </a:r>
            <a:endParaRPr lang="en-US" sz="1500" dirty="0"/>
          </a:p>
        </p:txBody>
      </p:sp>
      <p:sp>
        <p:nvSpPr>
          <p:cNvPr id="25" name="Text 22"/>
          <p:cNvSpPr txBox="1"/>
          <p:nvPr/>
        </p:nvSpPr>
        <p:spPr>
          <a:xfrm>
            <a:off x="429768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448056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7" name="Text 24"/>
          <p:cNvSpPr txBox="1"/>
          <p:nvPr/>
        </p:nvSpPr>
        <p:spPr>
          <a:xfrm>
            <a:off x="448056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507492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Optimistic locking</a:t>
            </a:r>
            <a:endParaRPr lang="en-US" sz="1600" dirty="0"/>
          </a:p>
        </p:txBody>
      </p:sp>
      <p:sp>
        <p:nvSpPr>
          <p:cNvPr id="29" name="Text 26"/>
          <p:cNvSpPr txBox="1"/>
          <p:nvPr/>
        </p:nvSpPr>
        <p:spPr>
          <a:xfrm>
            <a:off x="452628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loan_account and mortgage carry a version column, so two concurrent writers cannot silently overwrite each other.</a:t>
            </a:r>
            <a:endParaRPr lang="en-US" sz="1500" dirty="0"/>
          </a:p>
        </p:txBody>
      </p:sp>
      <p:sp>
        <p:nvSpPr>
          <p:cNvPr id="30" name="Text 27"/>
          <p:cNvSpPr txBox="1"/>
          <p:nvPr/>
        </p:nvSpPr>
        <p:spPr>
          <a:xfrm>
            <a:off x="8046720" y="3931920"/>
            <a:ext cx="3566160" cy="2194560"/>
          </a:xfrm>
          <a:prstGeom prst="roundRect">
            <a:avLst>
              <a:gd name="adj" fmla="val 3333"/>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8229600" y="411480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2" name="Text 29"/>
          <p:cNvSpPr txBox="1"/>
          <p:nvPr/>
        </p:nvSpPr>
        <p:spPr>
          <a:xfrm>
            <a:off x="8229600" y="4114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823960" y="411480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Day-count aware interest</a:t>
            </a:r>
            <a:endParaRPr lang="en-US" sz="1600" dirty="0"/>
          </a:p>
        </p:txBody>
      </p:sp>
      <p:sp>
        <p:nvSpPr>
          <p:cNvPr id="34" name="Text 31"/>
          <p:cNvSpPr txBox="1"/>
          <p:nvPr/>
        </p:nvSpPr>
        <p:spPr>
          <a:xfrm>
            <a:off x="8275320" y="4709160"/>
            <a:ext cx="3154680" cy="1325880"/>
          </a:xfrm>
          <a:prstGeom prst="rect">
            <a:avLst/>
          </a:prstGeom>
          <a:noFill/>
          <a:ln/>
        </p:spPr>
        <p:txBody>
          <a:bodyPr wrap="square" lIns="0" tIns="0" rIns="0" bIns="0" rtlCol="0" anchor="t"/>
          <a:lstStyle/>
          <a:p>
            <a:pPr indent="0" marL="0">
              <a:buNone/>
            </a:pPr>
            <a:r>
              <a:rPr lang="en-US" sz="1500" dirty="0">
                <a:solidFill>
                  <a:schemeClr val="tx1"/>
                </a:solidFill>
              </a:rPr>
              <a:t>Daily interest uses the convention stored on the account: ACT/365, ACT/ACT or 30/360, applied to the current outstanding principal.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Application flow of one request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API call follows the same layered path; the example is a loan disbursement</a:t>
            </a:r>
            <a:endParaRPr lang="en-US" sz="1400" dirty="0"/>
          </a:p>
        </p:txBody>
      </p:sp>
      <p:sp>
        <p:nvSpPr>
          <p:cNvPr id="5" name="Text 2"/>
          <p:cNvSpPr txBox="1"/>
          <p:nvPr/>
        </p:nvSpPr>
        <p:spPr>
          <a:xfrm>
            <a:off x="548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Client</a:t>
            </a:r>
            <a:endParaRPr lang="en-US" sz="1200" dirty="0"/>
          </a:p>
          <a:p>
            <a:pPr algn="ctr" indent="0" marL="0">
              <a:buNone/>
            </a:pPr>
            <a:r>
              <a:rPr lang="en-US" sz="1100" dirty="0">
                <a:solidFill>
                  <a:schemeClr val="bg1"/>
                </a:solidFill>
              </a:rPr>
              <a:t>Swagger, app or script</a:t>
            </a:r>
            <a:endParaRPr lang="en-US" sz="1200" dirty="0"/>
          </a:p>
        </p:txBody>
      </p:sp>
      <p:sp>
        <p:nvSpPr>
          <p:cNvPr id="6" name="Shape 3"/>
          <p:cNvSpPr/>
          <p:nvPr/>
        </p:nvSpPr>
        <p:spPr>
          <a:xfrm>
            <a:off x="2377440" y="1988820"/>
            <a:ext cx="457200" cy="0"/>
          </a:xfrm>
          <a:prstGeom prst="line">
            <a:avLst/>
          </a:prstGeom>
          <a:noFill/>
          <a:ln w="22225">
            <a:solidFill>
              <a:schemeClr val="tx2"/>
            </a:solidFill>
            <a:prstDash val="solid"/>
            <a:tailEnd type="triangle"/>
          </a:ln>
        </p:spPr>
      </p:sp>
      <p:sp>
        <p:nvSpPr>
          <p:cNvPr id="7" name="Text 4"/>
          <p:cNvSpPr txBox="1"/>
          <p:nvPr/>
        </p:nvSpPr>
        <p:spPr>
          <a:xfrm>
            <a:off x="2834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Controller</a:t>
            </a:r>
            <a:endParaRPr lang="en-US" sz="1200" dirty="0"/>
          </a:p>
          <a:p>
            <a:pPr algn="ctr" indent="0" marL="0">
              <a:buNone/>
            </a:pPr>
            <a:r>
              <a:rPr lang="en-US" sz="1100" dirty="0">
                <a:solidFill>
                  <a:schemeClr val="bg1"/>
                </a:solidFill>
              </a:rPr>
              <a:t>Bean validation, OpenAPI docs</a:t>
            </a:r>
            <a:endParaRPr lang="en-US" sz="1200" dirty="0"/>
          </a:p>
        </p:txBody>
      </p:sp>
      <p:sp>
        <p:nvSpPr>
          <p:cNvPr id="8" name="Shape 5"/>
          <p:cNvSpPr/>
          <p:nvPr/>
        </p:nvSpPr>
        <p:spPr>
          <a:xfrm>
            <a:off x="4663440" y="1988820"/>
            <a:ext cx="457200" cy="0"/>
          </a:xfrm>
          <a:prstGeom prst="line">
            <a:avLst/>
          </a:prstGeom>
          <a:noFill/>
          <a:ln w="22225">
            <a:solidFill>
              <a:schemeClr val="tx2"/>
            </a:solidFill>
            <a:prstDash val="solid"/>
            <a:tailEnd type="triangle"/>
          </a:ln>
        </p:spPr>
      </p:sp>
      <p:sp>
        <p:nvSpPr>
          <p:cNvPr id="9" name="Text 6"/>
          <p:cNvSpPr txBox="1"/>
          <p:nvPr/>
        </p:nvSpPr>
        <p:spPr>
          <a:xfrm>
            <a:off x="5120640" y="1508760"/>
            <a:ext cx="1828800" cy="960120"/>
          </a:xfrm>
          <a:prstGeom prst="roundRect">
            <a:avLst>
              <a:gd name="adj" fmla="val 761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500" b="1" dirty="0">
                <a:solidFill>
                  <a:schemeClr val="bg1"/>
                </a:solidFill>
              </a:rPr>
              <a:t>Service</a:t>
            </a:r>
            <a:endParaRPr lang="en-US" sz="1200" dirty="0"/>
          </a:p>
          <a:p>
            <a:pPr algn="ctr" indent="0" marL="0">
              <a:buNone/>
            </a:pPr>
            <a:r>
              <a:rPr lang="en-US" sz="1100" dirty="0">
                <a:solidFill>
                  <a:schemeClr val="bg1"/>
                </a:solidFill>
              </a:rPr>
              <a:t>Business rules, @Transactional</a:t>
            </a:r>
            <a:endParaRPr lang="en-US" sz="1200" dirty="0"/>
          </a:p>
        </p:txBody>
      </p:sp>
      <p:sp>
        <p:nvSpPr>
          <p:cNvPr id="10" name="Shape 7"/>
          <p:cNvSpPr/>
          <p:nvPr/>
        </p:nvSpPr>
        <p:spPr>
          <a:xfrm>
            <a:off x="6949440" y="1988820"/>
            <a:ext cx="457200" cy="0"/>
          </a:xfrm>
          <a:prstGeom prst="line">
            <a:avLst/>
          </a:prstGeom>
          <a:noFill/>
          <a:ln w="22225">
            <a:solidFill>
              <a:schemeClr val="tx2"/>
            </a:solidFill>
            <a:prstDash val="solid"/>
            <a:tailEnd type="triangle"/>
          </a:ln>
        </p:spPr>
      </p:sp>
      <p:sp>
        <p:nvSpPr>
          <p:cNvPr id="11" name="Text 8"/>
          <p:cNvSpPr txBox="1"/>
          <p:nvPr/>
        </p:nvSpPr>
        <p:spPr>
          <a:xfrm>
            <a:off x="7406640" y="1508760"/>
            <a:ext cx="1828800" cy="960120"/>
          </a:xfrm>
          <a:prstGeom prst="roundRect">
            <a:avLst>
              <a:gd name="adj" fmla="val 761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500" b="1" dirty="0">
                <a:solidFill>
                  <a:schemeClr val="bg1"/>
                </a:solidFill>
              </a:rPr>
              <a:t>Repository</a:t>
            </a:r>
            <a:endParaRPr lang="en-US" sz="1200" dirty="0"/>
          </a:p>
          <a:p>
            <a:pPr algn="ctr" indent="0" marL="0">
              <a:buNone/>
            </a:pPr>
            <a:r>
              <a:rPr lang="en-US" sz="1100" dirty="0">
                <a:solidFill>
                  <a:schemeClr val="bg1"/>
                </a:solidFill>
              </a:rPr>
              <a:t>Spring Data JPA, native SQL</a:t>
            </a:r>
            <a:endParaRPr lang="en-US" sz="1200" dirty="0"/>
          </a:p>
        </p:txBody>
      </p:sp>
      <p:sp>
        <p:nvSpPr>
          <p:cNvPr id="12" name="Shape 9"/>
          <p:cNvSpPr/>
          <p:nvPr/>
        </p:nvSpPr>
        <p:spPr>
          <a:xfrm>
            <a:off x="9235440" y="1988820"/>
            <a:ext cx="457200" cy="0"/>
          </a:xfrm>
          <a:prstGeom prst="line">
            <a:avLst/>
          </a:prstGeom>
          <a:noFill/>
          <a:ln w="22225">
            <a:solidFill>
              <a:schemeClr val="tx2"/>
            </a:solidFill>
            <a:prstDash val="solid"/>
            <a:tailEnd type="triangle"/>
          </a:ln>
        </p:spPr>
      </p:sp>
      <p:sp>
        <p:nvSpPr>
          <p:cNvPr id="13" name="Text 10"/>
          <p:cNvSpPr txBox="1"/>
          <p:nvPr/>
        </p:nvSpPr>
        <p:spPr>
          <a:xfrm>
            <a:off x="9692640" y="1508760"/>
            <a:ext cx="1828800" cy="960120"/>
          </a:xfrm>
          <a:prstGeom prst="roundRect">
            <a:avLst>
              <a:gd name="adj" fmla="val 7619"/>
            </a:avLst>
          </a:prstGeom>
          <a:solidFill>
            <a:schemeClr val="tx2"/>
          </a:solidFill>
          <a:ln w="12700">
            <a:solidFill>
              <a:schemeClr val="tx2"/>
            </a:solidFill>
          </a:ln>
        </p:spPr>
        <p:txBody>
          <a:bodyPr wrap="square" lIns="50800" tIns="50800" rIns="50800" bIns="50800" rtlCol="0" anchor="ctr"/>
          <a:lstStyle/>
          <a:p>
            <a:pPr algn="ctr" indent="0" marL="0">
              <a:buNone/>
            </a:pPr>
            <a:r>
              <a:rPr lang="en-US" sz="1500" b="1" dirty="0">
                <a:solidFill>
                  <a:schemeClr val="bg1"/>
                </a:solidFill>
              </a:rPr>
              <a:t>PostgreSQL</a:t>
            </a:r>
            <a:endParaRPr lang="en-US" sz="1200" dirty="0"/>
          </a:p>
          <a:p>
            <a:pPr algn="ctr" indent="0" marL="0">
              <a:buNone/>
            </a:pPr>
            <a:r>
              <a:rPr lang="en-US" sz="1100" dirty="0">
                <a:solidFill>
                  <a:schemeClr val="bg1"/>
                </a:solidFill>
              </a:rPr>
              <a:t>Flyway-managed schema</a:t>
            </a:r>
            <a:endParaRPr lang="en-US" sz="1200" dirty="0"/>
          </a:p>
        </p:txBody>
      </p:sp>
      <p:sp>
        <p:nvSpPr>
          <p:cNvPr id="14" name="Text 11"/>
          <p:cNvSpPr txBox="1"/>
          <p:nvPr/>
        </p:nvSpPr>
        <p:spPr>
          <a:xfrm>
            <a:off x="548640" y="278892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Example: POST /api/v1/loan-accounts/{id}/disburse</a:t>
            </a:r>
            <a:endParaRPr lang="en-US" sz="1600" dirty="0"/>
          </a:p>
        </p:txBody>
      </p:sp>
      <p:sp>
        <p:nvSpPr>
          <p:cNvPr id="15" name="Text 12"/>
          <p:cNvSpPr txBox="1"/>
          <p:nvPr/>
        </p:nvSpPr>
        <p:spPr>
          <a:xfrm>
            <a:off x="548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6" name="Text 13"/>
          <p:cNvSpPr txBox="1"/>
          <p:nvPr/>
        </p:nvSpPr>
        <p:spPr>
          <a:xfrm>
            <a:off x="658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7" name="Text 14"/>
          <p:cNvSpPr txBox="1"/>
          <p:nvPr/>
        </p:nvSpPr>
        <p:spPr>
          <a:xfrm>
            <a:off x="1115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Validate</a:t>
            </a:r>
            <a:endParaRPr lang="en-US" sz="1400" dirty="0"/>
          </a:p>
        </p:txBody>
      </p:sp>
      <p:sp>
        <p:nvSpPr>
          <p:cNvPr id="18" name="Text 15"/>
          <p:cNvSpPr txBox="1"/>
          <p:nvPr/>
        </p:nvSpPr>
        <p:spPr>
          <a:xfrm>
            <a:off x="676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Request body checked; amount and first EMI date required</a:t>
            </a:r>
            <a:endParaRPr lang="en-US" sz="1300" dirty="0"/>
          </a:p>
        </p:txBody>
      </p:sp>
      <p:sp>
        <p:nvSpPr>
          <p:cNvPr id="19" name="Shape 16"/>
          <p:cNvSpPr/>
          <p:nvPr/>
        </p:nvSpPr>
        <p:spPr>
          <a:xfrm>
            <a:off x="2560320" y="4023360"/>
            <a:ext cx="274320" cy="0"/>
          </a:xfrm>
          <a:prstGeom prst="line">
            <a:avLst/>
          </a:prstGeom>
          <a:noFill/>
          <a:ln w="22225">
            <a:solidFill>
              <a:schemeClr val="tx2"/>
            </a:solidFill>
            <a:prstDash val="solid"/>
            <a:tailEnd type="triangle"/>
          </a:ln>
        </p:spPr>
      </p:sp>
      <p:sp>
        <p:nvSpPr>
          <p:cNvPr id="20" name="Text 17"/>
          <p:cNvSpPr txBox="1"/>
          <p:nvPr/>
        </p:nvSpPr>
        <p:spPr>
          <a:xfrm>
            <a:off x="2834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1" name="Text 18"/>
          <p:cNvSpPr txBox="1"/>
          <p:nvPr/>
        </p:nvSpPr>
        <p:spPr>
          <a:xfrm>
            <a:off x="2944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22" name="Text 19"/>
          <p:cNvSpPr txBox="1"/>
          <p:nvPr/>
        </p:nvSpPr>
        <p:spPr>
          <a:xfrm>
            <a:off x="3401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Guard</a:t>
            </a:r>
            <a:endParaRPr lang="en-US" sz="1400" dirty="0"/>
          </a:p>
        </p:txBody>
      </p:sp>
      <p:sp>
        <p:nvSpPr>
          <p:cNvPr id="23" name="Text 20"/>
          <p:cNvSpPr txBox="1"/>
          <p:nvPr/>
        </p:nvSpPr>
        <p:spPr>
          <a:xfrm>
            <a:off x="2962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Account must be PENDING_DISBURSEMENT; mortgage accounts need a linked charge</a:t>
            </a:r>
            <a:endParaRPr lang="en-US" sz="1300" dirty="0"/>
          </a:p>
        </p:txBody>
      </p:sp>
      <p:sp>
        <p:nvSpPr>
          <p:cNvPr id="24" name="Shape 21"/>
          <p:cNvSpPr/>
          <p:nvPr/>
        </p:nvSpPr>
        <p:spPr>
          <a:xfrm>
            <a:off x="4846320" y="4023360"/>
            <a:ext cx="274320" cy="0"/>
          </a:xfrm>
          <a:prstGeom prst="line">
            <a:avLst/>
          </a:prstGeom>
          <a:noFill/>
          <a:ln w="22225">
            <a:solidFill>
              <a:schemeClr val="tx2"/>
            </a:solidFill>
            <a:prstDash val="solid"/>
            <a:tailEnd type="triangle"/>
          </a:ln>
        </p:spPr>
      </p:sp>
      <p:sp>
        <p:nvSpPr>
          <p:cNvPr id="25" name="Text 22"/>
          <p:cNvSpPr txBox="1"/>
          <p:nvPr/>
        </p:nvSpPr>
        <p:spPr>
          <a:xfrm>
            <a:off x="5120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6" name="Text 23"/>
          <p:cNvSpPr txBox="1"/>
          <p:nvPr/>
        </p:nvSpPr>
        <p:spPr>
          <a:xfrm>
            <a:off x="5230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7" name="Text 24"/>
          <p:cNvSpPr txBox="1"/>
          <p:nvPr/>
        </p:nvSpPr>
        <p:spPr>
          <a:xfrm>
            <a:off x="5687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Activate</a:t>
            </a:r>
            <a:endParaRPr lang="en-US" sz="1400" dirty="0"/>
          </a:p>
        </p:txBody>
      </p:sp>
      <p:sp>
        <p:nvSpPr>
          <p:cNvPr id="28" name="Text 25"/>
          <p:cNvSpPr txBox="1"/>
          <p:nvPr/>
        </p:nvSpPr>
        <p:spPr>
          <a:xfrm>
            <a:off x="5248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Status becomes ACTIVE; schedule version 1 is generated</a:t>
            </a:r>
            <a:endParaRPr lang="en-US" sz="1300" dirty="0"/>
          </a:p>
        </p:txBody>
      </p:sp>
      <p:sp>
        <p:nvSpPr>
          <p:cNvPr id="29" name="Shape 26"/>
          <p:cNvSpPr/>
          <p:nvPr/>
        </p:nvSpPr>
        <p:spPr>
          <a:xfrm>
            <a:off x="7132320" y="4023360"/>
            <a:ext cx="274320" cy="0"/>
          </a:xfrm>
          <a:prstGeom prst="line">
            <a:avLst/>
          </a:prstGeom>
          <a:noFill/>
          <a:ln w="22225">
            <a:solidFill>
              <a:schemeClr val="tx2"/>
            </a:solidFill>
            <a:prstDash val="solid"/>
            <a:tailEnd type="triangle"/>
          </a:ln>
        </p:spPr>
      </p:sp>
      <p:sp>
        <p:nvSpPr>
          <p:cNvPr id="30" name="Text 27"/>
          <p:cNvSpPr txBox="1"/>
          <p:nvPr/>
        </p:nvSpPr>
        <p:spPr>
          <a:xfrm>
            <a:off x="7406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7516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2" name="Text 29"/>
          <p:cNvSpPr txBox="1"/>
          <p:nvPr/>
        </p:nvSpPr>
        <p:spPr>
          <a:xfrm>
            <a:off x="7973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Record</a:t>
            </a:r>
            <a:endParaRPr lang="en-US" sz="1400" dirty="0"/>
          </a:p>
        </p:txBody>
      </p:sp>
      <p:sp>
        <p:nvSpPr>
          <p:cNvPr id="33" name="Text 30"/>
          <p:cNvSpPr txBox="1"/>
          <p:nvPr/>
        </p:nvSpPr>
        <p:spPr>
          <a:xfrm>
            <a:off x="7534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A DISBURSEMENT row is written to ledger_outbox</a:t>
            </a:r>
            <a:endParaRPr lang="en-US" sz="1300" dirty="0"/>
          </a:p>
        </p:txBody>
      </p:sp>
      <p:sp>
        <p:nvSpPr>
          <p:cNvPr id="34" name="Shape 31"/>
          <p:cNvSpPr/>
          <p:nvPr/>
        </p:nvSpPr>
        <p:spPr>
          <a:xfrm>
            <a:off x="9418320" y="4023360"/>
            <a:ext cx="274320" cy="0"/>
          </a:xfrm>
          <a:prstGeom prst="line">
            <a:avLst/>
          </a:prstGeom>
          <a:noFill/>
          <a:ln w="22225">
            <a:solidFill>
              <a:schemeClr val="tx2"/>
            </a:solidFill>
            <a:prstDash val="solid"/>
            <a:tailEnd type="triangle"/>
          </a:ln>
        </p:spPr>
      </p:sp>
      <p:sp>
        <p:nvSpPr>
          <p:cNvPr id="35" name="Text 32"/>
          <p:cNvSpPr txBox="1"/>
          <p:nvPr/>
        </p:nvSpPr>
        <p:spPr>
          <a:xfrm>
            <a:off x="9692640" y="3200400"/>
            <a:ext cx="2011680" cy="1554480"/>
          </a:xfrm>
          <a:prstGeom prst="roundRect">
            <a:avLst>
              <a:gd name="adj" fmla="val 4706"/>
            </a:avLst>
          </a:prstGeom>
          <a:solidFill>
            <a:schemeClr val="accent1">
              <a:alpha val="10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6" name="Text 33"/>
          <p:cNvSpPr txBox="1"/>
          <p:nvPr/>
        </p:nvSpPr>
        <p:spPr>
          <a:xfrm>
            <a:off x="9802368" y="331012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37" name="Text 34"/>
          <p:cNvSpPr txBox="1"/>
          <p:nvPr/>
        </p:nvSpPr>
        <p:spPr>
          <a:xfrm>
            <a:off x="10259568" y="3310128"/>
            <a:ext cx="1371600" cy="365760"/>
          </a:xfrm>
          <a:prstGeom prst="rect">
            <a:avLst/>
          </a:prstGeom>
          <a:noFill/>
          <a:ln/>
        </p:spPr>
        <p:txBody>
          <a:bodyPr wrap="square" lIns="0" tIns="0" rIns="0" bIns="0" rtlCol="0" anchor="ctr"/>
          <a:lstStyle/>
          <a:p>
            <a:pPr indent="0" marL="0">
              <a:buNone/>
            </a:pPr>
            <a:r>
              <a:rPr lang="en-US" sz="1400" b="1" dirty="0">
                <a:solidFill>
                  <a:schemeClr val="tx2"/>
                </a:solidFill>
              </a:rPr>
              <a:t>Commit</a:t>
            </a:r>
            <a:endParaRPr lang="en-US" sz="1400" dirty="0"/>
          </a:p>
        </p:txBody>
      </p:sp>
      <p:sp>
        <p:nvSpPr>
          <p:cNvPr id="38" name="Text 35"/>
          <p:cNvSpPr txBox="1"/>
          <p:nvPr/>
        </p:nvSpPr>
        <p:spPr>
          <a:xfrm>
            <a:off x="9820656" y="3749040"/>
            <a:ext cx="1783080" cy="960120"/>
          </a:xfrm>
          <a:prstGeom prst="rect">
            <a:avLst/>
          </a:prstGeom>
          <a:noFill/>
          <a:ln/>
        </p:spPr>
        <p:txBody>
          <a:bodyPr wrap="square" lIns="0" tIns="0" rIns="0" bIns="0" rtlCol="0" anchor="t"/>
          <a:lstStyle/>
          <a:p>
            <a:pPr indent="0" marL="0">
              <a:buNone/>
            </a:pPr>
            <a:r>
              <a:rPr lang="en-US" sz="1300" dirty="0">
                <a:solidFill>
                  <a:schemeClr val="tx1"/>
                </a:solidFill>
              </a:rPr>
              <a:t>One transaction; the response returns the account</a:t>
            </a:r>
            <a:endParaRPr lang="en-US" sz="1300" dirty="0"/>
          </a:p>
        </p:txBody>
      </p:sp>
      <p:sp>
        <p:nvSpPr>
          <p:cNvPr id="39" name="Text 36"/>
          <p:cNvSpPr txBox="1"/>
          <p:nvPr/>
        </p:nvSpPr>
        <p:spPr>
          <a:xfrm>
            <a:off x="54864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Errors</a:t>
            </a:r>
            <a:endParaRPr lang="en-US" sz="1200" dirty="0"/>
          </a:p>
          <a:p>
            <a:pPr algn="l" indent="0" marL="0">
              <a:buNone/>
            </a:pPr>
            <a:r>
              <a:rPr lang="en-US" sz="1100" dirty="0">
                <a:solidFill>
                  <a:schemeClr val="tx1"/>
                </a:solidFill>
              </a:rPr>
              <a:t>404 not found, 400 invalid input, 409 state or data conflict, mapped in one handler</a:t>
            </a:r>
            <a:endParaRPr lang="en-US" sz="1200" dirty="0"/>
          </a:p>
        </p:txBody>
      </p:sp>
      <p:sp>
        <p:nvSpPr>
          <p:cNvPr id="40" name="Text 37"/>
          <p:cNvSpPr txBox="1"/>
          <p:nvPr/>
        </p:nvSpPr>
        <p:spPr>
          <a:xfrm>
            <a:off x="333756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Retries</a:t>
            </a:r>
            <a:endParaRPr lang="en-US" sz="1200" dirty="0"/>
          </a:p>
          <a:p>
            <a:pPr algn="l" indent="0" marL="0">
              <a:buNone/>
            </a:pPr>
            <a:r>
              <a:rPr lang="en-US" sz="1100" dirty="0">
                <a:solidFill>
                  <a:schemeClr val="tx1"/>
                </a:solidFill>
              </a:rPr>
              <a:t>Replaying a disburse on an ACTIVE account returns it unchanged</a:t>
            </a:r>
            <a:endParaRPr lang="en-US" sz="1200" dirty="0"/>
          </a:p>
        </p:txBody>
      </p:sp>
      <p:sp>
        <p:nvSpPr>
          <p:cNvPr id="41" name="Text 38"/>
          <p:cNvSpPr txBox="1"/>
          <p:nvPr/>
        </p:nvSpPr>
        <p:spPr>
          <a:xfrm>
            <a:off x="612648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Bulk calls</a:t>
            </a:r>
            <a:endParaRPr lang="en-US" sz="1200" dirty="0"/>
          </a:p>
          <a:p>
            <a:pPr algn="l" indent="0" marL="0">
              <a:buNone/>
            </a:pPr>
            <a:r>
              <a:rPr lang="en-US" sz="1100" dirty="0">
                <a:solidFill>
                  <a:schemeClr val="tx1"/>
                </a:solidFill>
              </a:rPr>
              <a:t>Up to 200 items; each item commits on its own and reports success or failure</a:t>
            </a:r>
            <a:endParaRPr lang="en-US" sz="1200" dirty="0"/>
          </a:p>
        </p:txBody>
      </p:sp>
      <p:sp>
        <p:nvSpPr>
          <p:cNvPr id="42" name="Text 39"/>
          <p:cNvSpPr txBox="1"/>
          <p:nvPr/>
        </p:nvSpPr>
        <p:spPr>
          <a:xfrm>
            <a:off x="8915400" y="5120640"/>
            <a:ext cx="26517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300" b="1" dirty="0">
                <a:solidFill>
                  <a:schemeClr val="tx2"/>
                </a:solidFill>
              </a:rPr>
              <a:t>Housekeeping</a:t>
            </a:r>
            <a:endParaRPr lang="en-US" sz="1200" dirty="0"/>
          </a:p>
          <a:p>
            <a:pPr algn="l" indent="0" marL="0">
              <a:buNone/>
            </a:pPr>
            <a:r>
              <a:rPr lang="en-US" sz="1100" dirty="0">
                <a:solidFill>
                  <a:schemeClr val="tx1"/>
                </a:solidFill>
              </a:rPr>
              <a:t>Partitions are created at startup and twice a month</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originate to disburse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Unsecured loans go straight to disbursement; mortgage loans need a registered charge first</a:t>
            </a:r>
            <a:endParaRPr lang="en-US" sz="1400" dirty="0"/>
          </a:p>
        </p:txBody>
      </p:sp>
      <p:sp>
        <p:nvSpPr>
          <p:cNvPr id="5" name="Text 2"/>
          <p:cNvSpPr txBox="1"/>
          <p:nvPr/>
        </p:nvSpPr>
        <p:spPr>
          <a:xfrm>
            <a:off x="548640" y="1691640"/>
            <a:ext cx="201168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Sanction approved</a:t>
            </a:r>
            <a:endParaRPr lang="en-US" sz="1200" dirty="0"/>
          </a:p>
          <a:p>
            <a:pPr algn="ctr" indent="0" marL="0">
              <a:buNone/>
            </a:pPr>
            <a:r>
              <a:rPr lang="en-US" sz="1100" dirty="0">
                <a:solidFill>
                  <a:schemeClr val="bg1"/>
                </a:solidFill>
              </a:rPr>
              <a:t>sanctionRefId issued</a:t>
            </a:r>
            <a:endParaRPr lang="en-US" sz="1200" dirty="0"/>
          </a:p>
        </p:txBody>
      </p:sp>
      <p:sp>
        <p:nvSpPr>
          <p:cNvPr id="6" name="Text 3"/>
          <p:cNvSpPr txBox="1"/>
          <p:nvPr/>
        </p:nvSpPr>
        <p:spPr>
          <a:xfrm>
            <a:off x="3017520" y="1691640"/>
            <a:ext cx="2468880" cy="822960"/>
          </a:xfrm>
          <a:prstGeom prst="roundRect">
            <a:avLst>
              <a:gd name="adj" fmla="val 8889"/>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300" b="1" dirty="0">
                <a:solidFill>
                  <a:schemeClr val="bg1"/>
                </a:solidFill>
              </a:rPr>
              <a:t>POST /loan-accounts</a:t>
            </a:r>
            <a:endParaRPr lang="en-US" sz="1200" dirty="0"/>
          </a:p>
          <a:p>
            <a:pPr algn="ctr" indent="0" marL="0">
              <a:buNone/>
            </a:pPr>
            <a:r>
              <a:rPr lang="en-US" sz="1100" dirty="0">
                <a:solidFill>
                  <a:schemeClr val="bg1"/>
                </a:solidFill>
              </a:rPr>
              <a:t>status PENDING_DISBURSEMENT</a:t>
            </a:r>
            <a:endParaRPr lang="en-US" sz="1200" dirty="0"/>
          </a:p>
        </p:txBody>
      </p:sp>
      <p:sp>
        <p:nvSpPr>
          <p:cNvPr id="7" name="Text 4"/>
          <p:cNvSpPr txBox="1"/>
          <p:nvPr/>
        </p:nvSpPr>
        <p:spPr>
          <a:xfrm>
            <a:off x="5943600" y="1508760"/>
            <a:ext cx="1920240" cy="1188720"/>
          </a:xfrm>
          <a:prstGeom prst="diamond">
            <a:avLst/>
          </a:prstGeom>
          <a:solidFill>
            <a:schemeClr val="accent2"/>
          </a:solidFill>
          <a:ln/>
        </p:spPr>
        <p:txBody>
          <a:bodyPr wrap="square" lIns="0" tIns="0" rIns="0" bIns="0" rtlCol="0" anchor="ctr"/>
          <a:lstStyle/>
          <a:p>
            <a:pPr algn="ctr" indent="0" marL="0">
              <a:buNone/>
            </a:pPr>
            <a:r>
              <a:rPr lang="en-US" sz="1200" b="1" dirty="0">
                <a:solidFill>
                  <a:schemeClr val="tx1"/>
                </a:solidFill>
              </a:rPr>
              <a:t>Mortgage account?</a:t>
            </a:r>
            <a:endParaRPr lang="en-US" sz="1200" dirty="0"/>
          </a:p>
        </p:txBody>
      </p:sp>
      <p:sp>
        <p:nvSpPr>
          <p:cNvPr id="8" name="Text 5"/>
          <p:cNvSpPr txBox="1"/>
          <p:nvPr/>
        </p:nvSpPr>
        <p:spPr>
          <a:xfrm>
            <a:off x="8778240" y="1417320"/>
            <a:ext cx="2834640" cy="1371600"/>
          </a:xfrm>
          <a:prstGeom prst="roundRect">
            <a:avLst>
              <a:gd name="adj" fmla="val 5333"/>
            </a:avLst>
          </a:prstGeom>
          <a:solidFill>
            <a:schemeClr val="tx2"/>
          </a:solidFill>
          <a:ln w="12700">
            <a:solidFill>
              <a:schemeClr val="tx2"/>
            </a:solidFill>
          </a:ln>
        </p:spPr>
        <p:txBody>
          <a:bodyPr wrap="square" lIns="50800" tIns="50800" rIns="50800" bIns="50800" rtlCol="0" anchor="ctr"/>
          <a:lstStyle/>
          <a:p>
            <a:pPr algn="ctr" indent="0" marL="0">
              <a:buNone/>
            </a:pPr>
            <a:r>
              <a:rPr lang="en-US" sz="1400" b="1" dirty="0">
                <a:solidFill>
                  <a:schemeClr val="bg1"/>
                </a:solidFill>
              </a:rPr>
              <a:t>POST /{id}/disburse</a:t>
            </a:r>
            <a:endParaRPr lang="en-US" sz="1200" dirty="0"/>
          </a:p>
          <a:p>
            <a:pPr algn="ctr" indent="0" marL="0">
              <a:buNone/>
            </a:pPr>
            <a:r>
              <a:rPr lang="en-US" sz="1200" dirty="0">
                <a:solidFill>
                  <a:schemeClr val="bg1"/>
                </a:solidFill>
              </a:rPr>
              <a:t>Account becomes ACTIVE</a:t>
            </a:r>
            <a:endParaRPr lang="en-US" sz="1200" dirty="0"/>
          </a:p>
          <a:p>
            <a:pPr algn="ctr" indent="0" marL="0">
              <a:buNone/>
            </a:pPr>
            <a:r>
              <a:rPr lang="en-US" sz="1200" dirty="0">
                <a:solidFill>
                  <a:schemeClr val="bg1"/>
                </a:solidFill>
              </a:rPr>
              <a:t>Schedule version 1 generated</a:t>
            </a:r>
            <a:endParaRPr lang="en-US" sz="1200" dirty="0"/>
          </a:p>
          <a:p>
            <a:pPr algn="ctr" indent="0" marL="0">
              <a:buNone/>
            </a:pPr>
            <a:r>
              <a:rPr lang="en-US" sz="1200" dirty="0">
                <a:solidFill>
                  <a:schemeClr val="bg1"/>
                </a:solidFill>
              </a:rPr>
              <a:t>DISBURSEMENT event to ledger outbox</a:t>
            </a:r>
            <a:endParaRPr lang="en-US" sz="1200" dirty="0"/>
          </a:p>
        </p:txBody>
      </p:sp>
      <p:sp>
        <p:nvSpPr>
          <p:cNvPr id="9" name="Shape 6"/>
          <p:cNvSpPr/>
          <p:nvPr/>
        </p:nvSpPr>
        <p:spPr>
          <a:xfrm>
            <a:off x="2560320" y="2103120"/>
            <a:ext cx="457200" cy="0"/>
          </a:xfrm>
          <a:prstGeom prst="line">
            <a:avLst/>
          </a:prstGeom>
          <a:noFill/>
          <a:ln w="22225">
            <a:solidFill>
              <a:schemeClr val="tx2"/>
            </a:solidFill>
            <a:prstDash val="solid"/>
            <a:tailEnd type="triangle"/>
          </a:ln>
        </p:spPr>
      </p:sp>
      <p:sp>
        <p:nvSpPr>
          <p:cNvPr id="10" name="Shape 7"/>
          <p:cNvSpPr/>
          <p:nvPr/>
        </p:nvSpPr>
        <p:spPr>
          <a:xfrm>
            <a:off x="5486400" y="2103120"/>
            <a:ext cx="457200" cy="0"/>
          </a:xfrm>
          <a:prstGeom prst="line">
            <a:avLst/>
          </a:prstGeom>
          <a:noFill/>
          <a:ln w="22225">
            <a:solidFill>
              <a:schemeClr val="tx2"/>
            </a:solidFill>
            <a:prstDash val="solid"/>
            <a:tailEnd type="triangle"/>
          </a:ln>
        </p:spPr>
      </p:sp>
      <p:sp>
        <p:nvSpPr>
          <p:cNvPr id="11" name="Shape 8"/>
          <p:cNvSpPr/>
          <p:nvPr/>
        </p:nvSpPr>
        <p:spPr>
          <a:xfrm>
            <a:off x="7863840" y="2103120"/>
            <a:ext cx="914400" cy="0"/>
          </a:xfrm>
          <a:prstGeom prst="line">
            <a:avLst/>
          </a:prstGeom>
          <a:noFill/>
          <a:ln w="22225">
            <a:solidFill>
              <a:schemeClr val="tx2"/>
            </a:solidFill>
            <a:prstDash val="solid"/>
            <a:tailEnd type="triangle"/>
          </a:ln>
        </p:spPr>
      </p:sp>
      <p:sp>
        <p:nvSpPr>
          <p:cNvPr id="12" name="Text 9"/>
          <p:cNvSpPr txBox="1"/>
          <p:nvPr/>
        </p:nvSpPr>
        <p:spPr>
          <a:xfrm>
            <a:off x="7863840" y="182880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No</a:t>
            </a:r>
            <a:endParaRPr lang="en-US" sz="1000" dirty="0"/>
          </a:p>
        </p:txBody>
      </p:sp>
      <p:sp>
        <p:nvSpPr>
          <p:cNvPr id="13" name="Shape 10"/>
          <p:cNvSpPr/>
          <p:nvPr/>
        </p:nvSpPr>
        <p:spPr>
          <a:xfrm>
            <a:off x="6903720" y="2697480"/>
            <a:ext cx="0" cy="685800"/>
          </a:xfrm>
          <a:prstGeom prst="line">
            <a:avLst/>
          </a:prstGeom>
          <a:noFill/>
          <a:ln w="22225">
            <a:solidFill>
              <a:schemeClr val="tx2"/>
            </a:solidFill>
            <a:prstDash val="solid"/>
            <a:tailEnd type="triangle"/>
          </a:ln>
        </p:spPr>
      </p:sp>
      <p:sp>
        <p:nvSpPr>
          <p:cNvPr id="14" name="Text 11"/>
          <p:cNvSpPr txBox="1"/>
          <p:nvPr/>
        </p:nvSpPr>
        <p:spPr>
          <a:xfrm>
            <a:off x="6995160" y="2880360"/>
            <a:ext cx="548640" cy="228600"/>
          </a:xfrm>
          <a:prstGeom prst="rect">
            <a:avLst/>
          </a:prstGeom>
          <a:noFill/>
          <a:ln/>
        </p:spPr>
        <p:txBody>
          <a:bodyPr wrap="square" lIns="0" tIns="0" rIns="0" bIns="0" rtlCol="0" anchor="ctr"/>
          <a:lstStyle/>
          <a:p>
            <a:pPr algn="l" indent="0" marL="0">
              <a:buNone/>
            </a:pPr>
            <a:r>
              <a:rPr lang="en-US" sz="1000" i="1" dirty="0">
                <a:solidFill>
                  <a:schemeClr val="accent4"/>
                </a:solidFill>
              </a:rPr>
              <a:t>Yes</a:t>
            </a:r>
            <a:endParaRPr lang="en-US" sz="1000" dirty="0"/>
          </a:p>
        </p:txBody>
      </p:sp>
      <p:sp>
        <p:nvSpPr>
          <p:cNvPr id="15" name="Text 12"/>
          <p:cNvSpPr txBox="1"/>
          <p:nvPr/>
        </p:nvSpPr>
        <p:spPr>
          <a:xfrm>
            <a:off x="5760720" y="3383280"/>
            <a:ext cx="228600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a:t>
            </a:r>
            <a:endParaRPr lang="en-US" sz="1200" dirty="0"/>
          </a:p>
          <a:p>
            <a:pPr algn="ctr" indent="0" marL="0">
              <a:buNone/>
            </a:pPr>
            <a:r>
              <a:rPr lang="en-US" sz="1100" dirty="0">
                <a:solidFill>
                  <a:schemeClr val="bg1"/>
                </a:solidFill>
              </a:rPr>
              <a:t>valuation, LTV ratio</a:t>
            </a:r>
            <a:endParaRPr lang="en-US" sz="1200" dirty="0"/>
          </a:p>
        </p:txBody>
      </p:sp>
      <p:sp>
        <p:nvSpPr>
          <p:cNvPr id="16" name="Text 13"/>
          <p:cNvSpPr txBox="1"/>
          <p:nvPr/>
        </p:nvSpPr>
        <p:spPr>
          <a:xfrm>
            <a:off x="8778240" y="3383280"/>
            <a:ext cx="283464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300" b="1" dirty="0">
                <a:solidFill>
                  <a:schemeClr val="bg1"/>
                </a:solidFill>
              </a:rPr>
              <a:t>POST /mortgages/{id}/charge</a:t>
            </a:r>
            <a:endParaRPr lang="en-US" sz="1200" dirty="0"/>
          </a:p>
          <a:p>
            <a:pPr algn="ctr" indent="0" marL="0">
              <a:buNone/>
            </a:pPr>
            <a:r>
              <a:rPr lang="en-US" sz="1100" dirty="0">
                <a:solidFill>
                  <a:schemeClr val="bg1"/>
                </a:solidFill>
              </a:rPr>
              <a:t>CERSAI and deed references</a:t>
            </a:r>
            <a:endParaRPr lang="en-US" sz="1200" dirty="0"/>
          </a:p>
        </p:txBody>
      </p:sp>
      <p:sp>
        <p:nvSpPr>
          <p:cNvPr id="17" name="Shape 14"/>
          <p:cNvSpPr/>
          <p:nvPr/>
        </p:nvSpPr>
        <p:spPr>
          <a:xfrm>
            <a:off x="8046720" y="3794760"/>
            <a:ext cx="731520" cy="0"/>
          </a:xfrm>
          <a:prstGeom prst="line">
            <a:avLst/>
          </a:prstGeom>
          <a:noFill/>
          <a:ln w="22225">
            <a:solidFill>
              <a:schemeClr val="tx2"/>
            </a:solidFill>
            <a:prstDash val="solid"/>
            <a:tailEnd type="triangle"/>
          </a:ln>
        </p:spPr>
      </p:sp>
      <p:sp>
        <p:nvSpPr>
          <p:cNvPr id="18" name="Shape 15"/>
          <p:cNvSpPr/>
          <p:nvPr/>
        </p:nvSpPr>
        <p:spPr>
          <a:xfrm flipV="1">
            <a:off x="10195560" y="2788920"/>
            <a:ext cx="0" cy="594360"/>
          </a:xfrm>
          <a:prstGeom prst="line">
            <a:avLst/>
          </a:prstGeom>
          <a:noFill/>
          <a:ln w="22225">
            <a:solidFill>
              <a:schemeClr val="tx2"/>
            </a:solidFill>
            <a:prstDash val="solid"/>
            <a:tailEnd type="triangle"/>
          </a:ln>
        </p:spPr>
      </p:sp>
      <p:sp>
        <p:nvSpPr>
          <p:cNvPr id="19" name="Text 16"/>
          <p:cNvSpPr txBox="1"/>
          <p:nvPr/>
        </p:nvSpPr>
        <p:spPr>
          <a:xfrm>
            <a:off x="548640" y="3383280"/>
            <a:ext cx="4663440" cy="822960"/>
          </a:xfrm>
          <a:prstGeom prst="roundRect">
            <a:avLst>
              <a:gd name="adj" fmla="val 8889"/>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b="1" dirty="0">
                <a:solidFill>
                  <a:schemeClr val="tx1"/>
                </a:solidFill>
              </a:rPr>
              <a:t>Account status</a:t>
            </a:r>
            <a:endParaRPr lang="en-US" sz="1200" dirty="0"/>
          </a:p>
          <a:p>
            <a:pPr algn="l" indent="0" marL="0">
              <a:buNone/>
            </a:pPr>
            <a:r>
              <a:rPr lang="en-US" sz="1300" dirty="0">
                <a:solidFill>
                  <a:schemeClr val="tx1"/>
                </a:solidFill>
              </a:rPr>
              <a:t>PENDING_DISBURSEMENT  -&gt;  ACTIVE</a:t>
            </a:r>
            <a:endParaRPr lang="en-US" sz="1200" dirty="0"/>
          </a:p>
        </p:txBody>
      </p:sp>
      <p:sp>
        <p:nvSpPr>
          <p:cNvPr id="20" name="Text 17"/>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Guards that protect the flow</a:t>
            </a:r>
            <a:endParaRPr lang="en-US" sz="1600" dirty="0"/>
          </a:p>
        </p:txBody>
      </p:sp>
      <p:sp>
        <p:nvSpPr>
          <p:cNvPr id="21" name="Text 18"/>
          <p:cNvSpPr txBox="1"/>
          <p:nvPr/>
        </p:nvSpPr>
        <p:spPr>
          <a:xfrm>
            <a:off x="54864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creation</a:t>
            </a:r>
            <a:endParaRPr lang="en-US" sz="1200" dirty="0"/>
          </a:p>
          <a:p>
            <a:pPr algn="l" indent="0" marL="0">
              <a:buNone/>
            </a:pPr>
            <a:r>
              <a:rPr lang="en-US" sz="1300" dirty="0">
                <a:solidFill>
                  <a:schemeClr val="tx1"/>
                </a:solidFill>
              </a:rPr>
              <a:t>Re-sending the same sanctionRefId returns the same account, never a second one.</a:t>
            </a:r>
            <a:endParaRPr lang="en-US" sz="1200" dirty="0"/>
          </a:p>
        </p:txBody>
      </p:sp>
      <p:sp>
        <p:nvSpPr>
          <p:cNvPr id="22" name="Text 19"/>
          <p:cNvSpPr txBox="1"/>
          <p:nvPr/>
        </p:nvSpPr>
        <p:spPr>
          <a:xfrm>
            <a:off x="429768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Retry-safe disbursal</a:t>
            </a:r>
            <a:endParaRPr lang="en-US" sz="1200" dirty="0"/>
          </a:p>
          <a:p>
            <a:pPr algn="l" indent="0" marL="0">
              <a:buNone/>
            </a:pPr>
            <a:r>
              <a:rPr lang="en-US" sz="1300" dirty="0">
                <a:solidFill>
                  <a:schemeClr val="tx1"/>
                </a:solidFill>
              </a:rPr>
              <a:t>Disbursing an ACTIVE account returns it unchanged.</a:t>
            </a:r>
            <a:endParaRPr lang="en-US" sz="1200" dirty="0"/>
          </a:p>
        </p:txBody>
      </p:sp>
      <p:sp>
        <p:nvSpPr>
          <p:cNvPr id="23" name="Text 20"/>
          <p:cNvSpPr txBox="1"/>
          <p:nvPr/>
        </p:nvSpPr>
        <p:spPr>
          <a:xfrm>
            <a:off x="8046720" y="4937760"/>
            <a:ext cx="3566160" cy="1097280"/>
          </a:xfrm>
          <a:prstGeom prst="roundRect">
            <a:avLst>
              <a:gd name="adj" fmla="val 6667"/>
            </a:avLst>
          </a:prstGeom>
          <a:solidFill>
            <a:schemeClr val="accent2">
              <a:alpha val="22000"/>
            </a:schemeClr>
          </a:solidFill>
          <a:ln w="12700">
            <a:solidFill>
              <a:schemeClr val="accent2"/>
            </a:solidFill>
          </a:ln>
        </p:spPr>
        <p:txBody>
          <a:bodyPr wrap="square" lIns="101600" tIns="101600" rIns="101600" bIns="101600" rtlCol="0" anchor="t"/>
          <a:lstStyle/>
          <a:p>
            <a:pPr algn="l" indent="0" marL="0">
              <a:buNone/>
            </a:pPr>
            <a:r>
              <a:rPr lang="en-US" sz="1500" b="1" dirty="0">
                <a:solidFill>
                  <a:schemeClr val="tx2"/>
                </a:solidFill>
              </a:rPr>
              <a:t>Mortgage guard</a:t>
            </a:r>
            <a:endParaRPr lang="en-US" sz="1200" dirty="0"/>
          </a:p>
          <a:p>
            <a:pPr algn="l" indent="0" marL="0">
              <a:buNone/>
            </a:pPr>
            <a:r>
              <a:rPr lang="en-US" sz="1300" dirty="0">
                <a:solidFill>
                  <a:schemeClr val="tx1"/>
                </a:solidFill>
              </a:rPr>
              <a:t>A mortgage account with no linked charge is rejected, so a secured loan is never released without its security.</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repayment and exit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Three ways money moves after disbursement; each is idempotent on account plus idempotency key</a:t>
            </a:r>
            <a:endParaRPr lang="en-US" sz="1400" dirty="0"/>
          </a:p>
        </p:txBody>
      </p:sp>
      <p:sp>
        <p:nvSpPr>
          <p:cNvPr id="5" name="Text 2"/>
          <p:cNvSpPr txBox="1"/>
          <p:nvPr/>
        </p:nvSpPr>
        <p:spPr>
          <a:xfrm>
            <a:off x="548640" y="1508760"/>
            <a:ext cx="3566160" cy="731520"/>
          </a:xfrm>
          <a:prstGeom prst="roundRect">
            <a:avLst>
              <a:gd name="adj" fmla="val 10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EMI payment</a:t>
            </a:r>
            <a:endParaRPr lang="en-US" sz="1200" dirty="0"/>
          </a:p>
          <a:p>
            <a:pPr algn="ctr" indent="0" marL="0">
              <a:buNone/>
            </a:pPr>
            <a:r>
              <a:rPr lang="en-US" sz="1200" dirty="0">
                <a:solidFill>
                  <a:schemeClr val="bg1"/>
                </a:solidFill>
              </a:rPr>
              <a:t>POST /payments/emi</a:t>
            </a:r>
            <a:endParaRPr lang="en-US" sz="1200" dirty="0"/>
          </a:p>
        </p:txBody>
      </p:sp>
      <p:sp>
        <p:nvSpPr>
          <p:cNvPr id="6" name="Text 3"/>
          <p:cNvSpPr txBox="1"/>
          <p:nvPr/>
        </p:nvSpPr>
        <p:spPr>
          <a:xfrm>
            <a:off x="548640" y="246888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Account ACTIVE or NPA</a:t>
            </a:r>
            <a:endParaRPr lang="en-US" sz="1300" dirty="0"/>
          </a:p>
        </p:txBody>
      </p:sp>
      <p:sp>
        <p:nvSpPr>
          <p:cNvPr id="7" name="Shape 4"/>
          <p:cNvSpPr/>
          <p:nvPr/>
        </p:nvSpPr>
        <p:spPr>
          <a:xfrm>
            <a:off x="2331720" y="3200400"/>
            <a:ext cx="0" cy="228600"/>
          </a:xfrm>
          <a:prstGeom prst="line">
            <a:avLst/>
          </a:prstGeom>
          <a:noFill/>
          <a:ln w="22225">
            <a:solidFill>
              <a:schemeClr val="tx2"/>
            </a:solidFill>
            <a:prstDash val="solid"/>
            <a:tailEnd type="triangle"/>
          </a:ln>
        </p:spPr>
      </p:sp>
      <p:sp>
        <p:nvSpPr>
          <p:cNvPr id="8" name="Text 5"/>
          <p:cNvSpPr txBox="1"/>
          <p:nvPr/>
        </p:nvSpPr>
        <p:spPr>
          <a:xfrm>
            <a:off x="548640" y="342900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Any amount: penal first, then oldest demand</a:t>
            </a:r>
            <a:endParaRPr lang="en-US" sz="1300" dirty="0"/>
          </a:p>
        </p:txBody>
      </p:sp>
      <p:sp>
        <p:nvSpPr>
          <p:cNvPr id="9" name="Shape 6"/>
          <p:cNvSpPr/>
          <p:nvPr/>
        </p:nvSpPr>
        <p:spPr>
          <a:xfrm>
            <a:off x="2331720" y="4160520"/>
            <a:ext cx="0" cy="228600"/>
          </a:xfrm>
          <a:prstGeom prst="line">
            <a:avLst/>
          </a:prstGeom>
          <a:noFill/>
          <a:ln w="22225">
            <a:solidFill>
              <a:schemeClr val="tx2"/>
            </a:solidFill>
            <a:prstDash val="solid"/>
            <a:tailEnd type="triangle"/>
          </a:ln>
        </p:spPr>
      </p:sp>
      <p:sp>
        <p:nvSpPr>
          <p:cNvPr id="10" name="Text 7"/>
          <p:cNvSpPr txBox="1"/>
          <p:nvPr/>
        </p:nvSpPr>
        <p:spPr>
          <a:xfrm>
            <a:off x="548640" y="438912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Demands cleared, schedule PAID; surplus held as advance</a:t>
            </a:r>
            <a:endParaRPr lang="en-US" sz="1300" dirty="0"/>
          </a:p>
        </p:txBody>
      </p:sp>
      <p:sp>
        <p:nvSpPr>
          <p:cNvPr id="11" name="Shape 8"/>
          <p:cNvSpPr/>
          <p:nvPr/>
        </p:nvSpPr>
        <p:spPr>
          <a:xfrm>
            <a:off x="2331720" y="5120640"/>
            <a:ext cx="0" cy="228600"/>
          </a:xfrm>
          <a:prstGeom prst="line">
            <a:avLst/>
          </a:prstGeom>
          <a:noFill/>
          <a:ln w="22225">
            <a:solidFill>
              <a:schemeClr val="tx2"/>
            </a:solidFill>
            <a:prstDash val="solid"/>
            <a:tailEnd type="triangle"/>
          </a:ln>
        </p:spPr>
      </p:sp>
      <p:sp>
        <p:nvSpPr>
          <p:cNvPr id="12" name="Text 9"/>
          <p:cNvSpPr txBox="1"/>
          <p:nvPr/>
        </p:nvSpPr>
        <p:spPr>
          <a:xfrm>
            <a:off x="548640" y="5349240"/>
            <a:ext cx="3566160" cy="731520"/>
          </a:xfrm>
          <a:prstGeom prst="roundRect">
            <a:avLst>
              <a:gd name="adj" fmla="val 10000"/>
            </a:avLst>
          </a:prstGeom>
          <a:solidFill>
            <a:schemeClr val="accent1">
              <a:alpha val="12000"/>
            </a:schemeClr>
          </a:solidFill>
          <a:ln w="12700">
            <a:solidFill>
              <a:schemeClr val="accent1"/>
            </a:solidFill>
          </a:ln>
        </p:spPr>
        <p:txBody>
          <a:bodyPr wrap="square" lIns="101600" tIns="101600" rIns="101600" bIns="101600" rtlCol="0" anchor="ctr"/>
          <a:lstStyle/>
          <a:p>
            <a:pPr algn="l" indent="0" marL="0">
              <a:buNone/>
            </a:pPr>
            <a:r>
              <a:rPr lang="en-US" sz="1300" dirty="0">
                <a:solidFill>
                  <a:schemeClr val="tx1"/>
                </a:solidFill>
              </a:rPr>
              <a:t>EMI_POSTING event queued; last instalment closes the account</a:t>
            </a:r>
            <a:endParaRPr lang="en-US" sz="1300" dirty="0"/>
          </a:p>
        </p:txBody>
      </p:sp>
      <p:sp>
        <p:nvSpPr>
          <p:cNvPr id="13" name="Text 10"/>
          <p:cNvSpPr txBox="1"/>
          <p:nvPr/>
        </p:nvSpPr>
        <p:spPr>
          <a:xfrm>
            <a:off x="4297680" y="1508760"/>
            <a:ext cx="356616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600" b="1" dirty="0">
                <a:solidFill>
                  <a:schemeClr val="bg1"/>
                </a:solidFill>
              </a:rPr>
              <a:t>Part-payment</a:t>
            </a:r>
            <a:endParaRPr lang="en-US" sz="1200" dirty="0"/>
          </a:p>
          <a:p>
            <a:pPr algn="ctr" indent="0" marL="0">
              <a:buNone/>
            </a:pPr>
            <a:r>
              <a:rPr lang="en-US" sz="1200" dirty="0">
                <a:solidFill>
                  <a:schemeClr val="bg1"/>
                </a:solidFill>
              </a:rPr>
              <a:t>POST /payments/part-payment</a:t>
            </a:r>
            <a:endParaRPr lang="en-US" sz="1200" dirty="0"/>
          </a:p>
        </p:txBody>
      </p:sp>
      <p:sp>
        <p:nvSpPr>
          <p:cNvPr id="14" name="Text 11"/>
          <p:cNvSpPr txBox="1"/>
          <p:nvPr/>
        </p:nvSpPr>
        <p:spPr>
          <a:xfrm>
            <a:off x="4297680" y="246888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ACTIVE or NPA account; due items cleared first</a:t>
            </a:r>
            <a:endParaRPr lang="en-US" sz="1300" dirty="0"/>
          </a:p>
        </p:txBody>
      </p:sp>
      <p:sp>
        <p:nvSpPr>
          <p:cNvPr id="15" name="Shape 12"/>
          <p:cNvSpPr/>
          <p:nvPr/>
        </p:nvSpPr>
        <p:spPr>
          <a:xfrm>
            <a:off x="6080760" y="3200400"/>
            <a:ext cx="0" cy="228600"/>
          </a:xfrm>
          <a:prstGeom prst="line">
            <a:avLst/>
          </a:prstGeom>
          <a:noFill/>
          <a:ln w="22225">
            <a:solidFill>
              <a:schemeClr val="tx2"/>
            </a:solidFill>
            <a:prstDash val="solid"/>
            <a:tailEnd type="triangle"/>
          </a:ln>
        </p:spPr>
      </p:sp>
      <p:sp>
        <p:nvSpPr>
          <p:cNvPr id="16" name="Text 13"/>
          <p:cNvSpPr txBox="1"/>
          <p:nvPr/>
        </p:nvSpPr>
        <p:spPr>
          <a:xfrm>
            <a:off x="4297680" y="342900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Only the remainder reduces principal</a:t>
            </a:r>
            <a:endParaRPr lang="en-US" sz="1300" dirty="0"/>
          </a:p>
        </p:txBody>
      </p:sp>
      <p:sp>
        <p:nvSpPr>
          <p:cNvPr id="17" name="Shape 14"/>
          <p:cNvSpPr/>
          <p:nvPr/>
        </p:nvSpPr>
        <p:spPr>
          <a:xfrm>
            <a:off x="6080760" y="4160520"/>
            <a:ext cx="0" cy="228600"/>
          </a:xfrm>
          <a:prstGeom prst="line">
            <a:avLst/>
          </a:prstGeom>
          <a:noFill/>
          <a:ln w="22225">
            <a:solidFill>
              <a:schemeClr val="tx2"/>
            </a:solidFill>
            <a:prstDash val="solid"/>
            <a:tailEnd type="triangle"/>
          </a:ln>
        </p:spPr>
      </p:sp>
      <p:sp>
        <p:nvSpPr>
          <p:cNvPr id="18" name="Text 15"/>
          <p:cNvSpPr txBox="1"/>
          <p:nvPr/>
        </p:nvSpPr>
        <p:spPr>
          <a:xfrm>
            <a:off x="4297680" y="438912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Undemanded instalments regenerated (new version)</a:t>
            </a:r>
            <a:endParaRPr lang="en-US" sz="1300" dirty="0"/>
          </a:p>
        </p:txBody>
      </p:sp>
      <p:sp>
        <p:nvSpPr>
          <p:cNvPr id="19" name="Shape 16"/>
          <p:cNvSpPr/>
          <p:nvPr/>
        </p:nvSpPr>
        <p:spPr>
          <a:xfrm>
            <a:off x="6080760" y="5120640"/>
            <a:ext cx="0" cy="228600"/>
          </a:xfrm>
          <a:prstGeom prst="line">
            <a:avLst/>
          </a:prstGeom>
          <a:noFill/>
          <a:ln w="22225">
            <a:solidFill>
              <a:schemeClr val="tx2"/>
            </a:solidFill>
            <a:prstDash val="solid"/>
            <a:tailEnd type="triangle"/>
          </a:ln>
        </p:spPr>
      </p:sp>
      <p:sp>
        <p:nvSpPr>
          <p:cNvPr id="20" name="Text 17"/>
          <p:cNvSpPr txBox="1"/>
          <p:nvPr/>
        </p:nvSpPr>
        <p:spPr>
          <a:xfrm>
            <a:off x="4297680" y="5349240"/>
            <a:ext cx="3566160" cy="731520"/>
          </a:xfrm>
          <a:prstGeom prst="roundRect">
            <a:avLst>
              <a:gd name="adj" fmla="val 10000"/>
            </a:avLst>
          </a:prstGeom>
          <a:solidFill>
            <a:schemeClr val="accent4">
              <a:alpha val="12000"/>
            </a:schemeClr>
          </a:solidFill>
          <a:ln w="12700">
            <a:solidFill>
              <a:schemeClr val="accent4"/>
            </a:solidFill>
          </a:ln>
        </p:spPr>
        <p:txBody>
          <a:bodyPr wrap="square" lIns="101600" tIns="101600" rIns="101600" bIns="101600" rtlCol="0" anchor="ctr"/>
          <a:lstStyle/>
          <a:p>
            <a:pPr algn="l" indent="0" marL="0">
              <a:buNone/>
            </a:pPr>
            <a:r>
              <a:rPr lang="en-US" sz="1300" dirty="0">
                <a:solidFill>
                  <a:schemeClr val="tx1"/>
                </a:solidFill>
              </a:rPr>
              <a:t>EMI_POSTING event queued; a full clearance closes the account</a:t>
            </a:r>
            <a:endParaRPr lang="en-US" sz="1300" dirty="0"/>
          </a:p>
        </p:txBody>
      </p:sp>
      <p:sp>
        <p:nvSpPr>
          <p:cNvPr id="21" name="Text 18"/>
          <p:cNvSpPr txBox="1"/>
          <p:nvPr/>
        </p:nvSpPr>
        <p:spPr>
          <a:xfrm>
            <a:off x="8046720" y="1508760"/>
            <a:ext cx="3566160" cy="731520"/>
          </a:xfrm>
          <a:prstGeom prst="roundRect">
            <a:avLst>
              <a:gd name="adj" fmla="val 10000"/>
            </a:avLst>
          </a:prstGeom>
          <a:solidFill>
            <a:schemeClr val="accent3"/>
          </a:solidFill>
          <a:ln w="12700">
            <a:solidFill>
              <a:schemeClr val="accent3"/>
            </a:solidFill>
          </a:ln>
        </p:spPr>
        <p:txBody>
          <a:bodyPr wrap="square" lIns="50800" tIns="50800" rIns="50800" bIns="50800" rtlCol="0" anchor="ctr"/>
          <a:lstStyle/>
          <a:p>
            <a:pPr algn="ctr" indent="0" marL="0">
              <a:buNone/>
            </a:pPr>
            <a:r>
              <a:rPr lang="en-US" sz="1600" b="1" dirty="0">
                <a:solidFill>
                  <a:schemeClr val="bg1"/>
                </a:solidFill>
              </a:rPr>
              <a:t>Foreclosure</a:t>
            </a:r>
            <a:endParaRPr lang="en-US" sz="1200" dirty="0"/>
          </a:p>
          <a:p>
            <a:pPr algn="ctr" indent="0" marL="0">
              <a:buNone/>
            </a:pPr>
            <a:r>
              <a:rPr lang="en-US" sz="1200" dirty="0">
                <a:solidFill>
                  <a:schemeClr val="bg1"/>
                </a:solidFill>
              </a:rPr>
              <a:t>POST /payments/foreclosure</a:t>
            </a:r>
            <a:endParaRPr lang="en-US" sz="1200" dirty="0"/>
          </a:p>
        </p:txBody>
      </p:sp>
      <p:sp>
        <p:nvSpPr>
          <p:cNvPr id="22" name="Text 19"/>
          <p:cNvSpPr txBox="1"/>
          <p:nvPr/>
        </p:nvSpPr>
        <p:spPr>
          <a:xfrm>
            <a:off x="8046720" y="246888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Payoff = open demands + penal + undemanded principal + accrued interest</a:t>
            </a:r>
            <a:endParaRPr lang="en-US" sz="1300" dirty="0"/>
          </a:p>
        </p:txBody>
      </p:sp>
      <p:sp>
        <p:nvSpPr>
          <p:cNvPr id="23" name="Shape 20"/>
          <p:cNvSpPr/>
          <p:nvPr/>
        </p:nvSpPr>
        <p:spPr>
          <a:xfrm>
            <a:off x="9829800" y="3200400"/>
            <a:ext cx="0" cy="228600"/>
          </a:xfrm>
          <a:prstGeom prst="line">
            <a:avLst/>
          </a:prstGeom>
          <a:noFill/>
          <a:ln w="22225">
            <a:solidFill>
              <a:schemeClr val="tx2"/>
            </a:solidFill>
            <a:prstDash val="solid"/>
            <a:tailEnd type="triangle"/>
          </a:ln>
        </p:spPr>
      </p:sp>
      <p:sp>
        <p:nvSpPr>
          <p:cNvPr id="24" name="Text 21"/>
          <p:cNvSpPr txBox="1"/>
          <p:nvPr/>
        </p:nvSpPr>
        <p:spPr>
          <a:xfrm>
            <a:off x="8046720" y="342900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Accrued interest read from interest_accrual</a:t>
            </a:r>
            <a:endParaRPr lang="en-US" sz="1300" dirty="0"/>
          </a:p>
        </p:txBody>
      </p:sp>
      <p:sp>
        <p:nvSpPr>
          <p:cNvPr id="25" name="Shape 22"/>
          <p:cNvSpPr/>
          <p:nvPr/>
        </p:nvSpPr>
        <p:spPr>
          <a:xfrm>
            <a:off x="9829800" y="4160520"/>
            <a:ext cx="0" cy="228600"/>
          </a:xfrm>
          <a:prstGeom prst="line">
            <a:avLst/>
          </a:prstGeom>
          <a:noFill/>
          <a:ln w="22225">
            <a:solidFill>
              <a:schemeClr val="tx2"/>
            </a:solidFill>
            <a:prstDash val="solid"/>
            <a:tailEnd type="triangle"/>
          </a:ln>
        </p:spPr>
      </p:sp>
      <p:sp>
        <p:nvSpPr>
          <p:cNvPr id="26" name="Text 23"/>
          <p:cNvSpPr txBox="1"/>
          <p:nvPr/>
        </p:nvSpPr>
        <p:spPr>
          <a:xfrm>
            <a:off x="8046720" y="438912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FORECLOSURE transaction recorded in full</a:t>
            </a:r>
            <a:endParaRPr lang="en-US" sz="1300" dirty="0"/>
          </a:p>
        </p:txBody>
      </p:sp>
      <p:sp>
        <p:nvSpPr>
          <p:cNvPr id="27" name="Shape 24"/>
          <p:cNvSpPr/>
          <p:nvPr/>
        </p:nvSpPr>
        <p:spPr>
          <a:xfrm>
            <a:off x="9829800" y="5120640"/>
            <a:ext cx="0" cy="228600"/>
          </a:xfrm>
          <a:prstGeom prst="line">
            <a:avLst/>
          </a:prstGeom>
          <a:noFill/>
          <a:ln w="22225">
            <a:solidFill>
              <a:schemeClr val="tx2"/>
            </a:solidFill>
            <a:prstDash val="solid"/>
            <a:tailEnd type="triangle"/>
          </a:ln>
        </p:spPr>
      </p:sp>
      <p:sp>
        <p:nvSpPr>
          <p:cNvPr id="28" name="Text 25"/>
          <p:cNvSpPr txBox="1"/>
          <p:nvPr/>
        </p:nvSpPr>
        <p:spPr>
          <a:xfrm>
            <a:off x="8046720" y="5349240"/>
            <a:ext cx="3566160" cy="731520"/>
          </a:xfrm>
          <a:prstGeom prst="roundRect">
            <a:avLst>
              <a:gd name="adj" fmla="val 10000"/>
            </a:avLst>
          </a:prstGeom>
          <a:solidFill>
            <a:schemeClr val="accent3">
              <a:alpha val="12000"/>
            </a:schemeClr>
          </a:solidFill>
          <a:ln w="12700">
            <a:solidFill>
              <a:schemeClr val="accent3"/>
            </a:solidFill>
          </a:ln>
        </p:spPr>
        <p:txBody>
          <a:bodyPr wrap="square" lIns="101600" tIns="101600" rIns="101600" bIns="101600" rtlCol="0" anchor="ctr"/>
          <a:lstStyle/>
          <a:p>
            <a:pPr algn="l" indent="0" marL="0">
              <a:buNone/>
            </a:pPr>
            <a:r>
              <a:rPr lang="en-US" sz="1300" dirty="0">
                <a:solidFill>
                  <a:schemeClr val="tx1"/>
                </a:solidFill>
              </a:rPr>
              <a:t>Status FORECLOSED; FORECLOSURE event queued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the nightly batch chain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Thirteen daily jobs shown in priority order; DEMAND_RAISE_DAILY runs first. One nightly run goes through them, then advances the date</a:t>
            </a:r>
            <a:endParaRPr lang="en-US" sz="1400" dirty="0"/>
          </a:p>
        </p:txBody>
      </p:sp>
      <p:sp>
        <p:nvSpPr>
          <p:cNvPr id="5" name="Text 2"/>
          <p:cNvSpPr txBox="1"/>
          <p:nvPr/>
        </p:nvSpPr>
        <p:spPr>
          <a:xfrm>
            <a:off x="548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  |  01:00</a:t>
            </a:r>
            <a:endParaRPr lang="en-US" sz="1200" dirty="0"/>
          </a:p>
          <a:p>
            <a:pPr algn="ctr" indent="0" marL="0">
              <a:buNone/>
            </a:pPr>
            <a:r>
              <a:rPr lang="en-US" sz="1100" dirty="0">
                <a:solidFill>
                  <a:schemeClr val="bg1"/>
                </a:solidFill>
              </a:rPr>
              <a:t>Interest accrual</a:t>
            </a:r>
            <a:endParaRPr lang="en-US" sz="1200" dirty="0"/>
          </a:p>
        </p:txBody>
      </p:sp>
      <p:sp>
        <p:nvSpPr>
          <p:cNvPr id="6" name="Shape 3"/>
          <p:cNvSpPr/>
          <p:nvPr/>
        </p:nvSpPr>
        <p:spPr>
          <a:xfrm>
            <a:off x="2011680" y="2011680"/>
            <a:ext cx="137160" cy="0"/>
          </a:xfrm>
          <a:prstGeom prst="line">
            <a:avLst/>
          </a:prstGeom>
          <a:noFill/>
          <a:ln w="15875">
            <a:solidFill>
              <a:schemeClr val="tx2"/>
            </a:solidFill>
            <a:prstDash val="solid"/>
            <a:tailEnd type="triangle"/>
          </a:ln>
        </p:spPr>
      </p:sp>
      <p:sp>
        <p:nvSpPr>
          <p:cNvPr id="7" name="Text 4"/>
          <p:cNvSpPr txBox="1"/>
          <p:nvPr/>
        </p:nvSpPr>
        <p:spPr>
          <a:xfrm>
            <a:off x="2148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2  |  01:05</a:t>
            </a:r>
            <a:endParaRPr lang="en-US" sz="1200" dirty="0"/>
          </a:p>
          <a:p>
            <a:pPr algn="ctr" indent="0" marL="0">
              <a:buNone/>
            </a:pPr>
            <a:r>
              <a:rPr lang="en-US" sz="1100" dirty="0">
                <a:solidFill>
                  <a:schemeClr val="bg1"/>
                </a:solidFill>
              </a:rPr>
              <a:t>Penal interest</a:t>
            </a:r>
            <a:endParaRPr lang="en-US" sz="1200" dirty="0"/>
          </a:p>
        </p:txBody>
      </p:sp>
      <p:sp>
        <p:nvSpPr>
          <p:cNvPr id="8" name="Shape 5"/>
          <p:cNvSpPr/>
          <p:nvPr/>
        </p:nvSpPr>
        <p:spPr>
          <a:xfrm>
            <a:off x="3611880" y="2011680"/>
            <a:ext cx="137160" cy="0"/>
          </a:xfrm>
          <a:prstGeom prst="line">
            <a:avLst/>
          </a:prstGeom>
          <a:noFill/>
          <a:ln w="15875">
            <a:solidFill>
              <a:schemeClr val="tx2"/>
            </a:solidFill>
            <a:prstDash val="solid"/>
            <a:tailEnd type="triangle"/>
          </a:ln>
        </p:spPr>
      </p:sp>
      <p:sp>
        <p:nvSpPr>
          <p:cNvPr id="9" name="Text 6"/>
          <p:cNvSpPr txBox="1"/>
          <p:nvPr/>
        </p:nvSpPr>
        <p:spPr>
          <a:xfrm>
            <a:off x="37490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3  |  01:10</a:t>
            </a:r>
            <a:endParaRPr lang="en-US" sz="1200" dirty="0"/>
          </a:p>
          <a:p>
            <a:pPr algn="ctr" indent="0" marL="0">
              <a:buNone/>
            </a:pPr>
            <a:r>
              <a:rPr lang="en-US" sz="1100" dirty="0">
                <a:solidFill>
                  <a:schemeClr val="tx1"/>
                </a:solidFill>
              </a:rPr>
              <a:t>DPD update</a:t>
            </a:r>
            <a:endParaRPr lang="en-US" sz="1200" dirty="0"/>
          </a:p>
        </p:txBody>
      </p:sp>
      <p:sp>
        <p:nvSpPr>
          <p:cNvPr id="10" name="Shape 7"/>
          <p:cNvSpPr/>
          <p:nvPr/>
        </p:nvSpPr>
        <p:spPr>
          <a:xfrm>
            <a:off x="5212080" y="2011680"/>
            <a:ext cx="137160" cy="0"/>
          </a:xfrm>
          <a:prstGeom prst="line">
            <a:avLst/>
          </a:prstGeom>
          <a:noFill/>
          <a:ln w="15875">
            <a:solidFill>
              <a:schemeClr val="tx2"/>
            </a:solidFill>
            <a:prstDash val="solid"/>
            <a:tailEnd type="triangle"/>
          </a:ln>
        </p:spPr>
      </p:sp>
      <p:sp>
        <p:nvSpPr>
          <p:cNvPr id="11" name="Text 8"/>
          <p:cNvSpPr txBox="1"/>
          <p:nvPr/>
        </p:nvSpPr>
        <p:spPr>
          <a:xfrm>
            <a:off x="5349240" y="1554480"/>
            <a:ext cx="1463040" cy="914400"/>
          </a:xfrm>
          <a:prstGeom prst="roundRect">
            <a:avLst>
              <a:gd name="adj" fmla="val 8000"/>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200" b="1" dirty="0">
                <a:solidFill>
                  <a:schemeClr val="tx1"/>
                </a:solidFill>
              </a:rPr>
              <a:t>4  |  01:15</a:t>
            </a:r>
            <a:endParaRPr lang="en-US" sz="1200" dirty="0"/>
          </a:p>
          <a:p>
            <a:pPr algn="ctr" indent="0" marL="0">
              <a:buNone/>
            </a:pPr>
            <a:r>
              <a:rPr lang="en-US" sz="1100" dirty="0">
                <a:solidFill>
                  <a:schemeClr val="tx1"/>
                </a:solidFill>
              </a:rPr>
              <a:t>NPA classification</a:t>
            </a:r>
            <a:endParaRPr lang="en-US" sz="1200" dirty="0"/>
          </a:p>
        </p:txBody>
      </p:sp>
      <p:sp>
        <p:nvSpPr>
          <p:cNvPr id="12" name="Shape 9"/>
          <p:cNvSpPr/>
          <p:nvPr/>
        </p:nvSpPr>
        <p:spPr>
          <a:xfrm>
            <a:off x="6812280" y="2011680"/>
            <a:ext cx="137160" cy="0"/>
          </a:xfrm>
          <a:prstGeom prst="line">
            <a:avLst/>
          </a:prstGeom>
          <a:noFill/>
          <a:ln w="15875">
            <a:solidFill>
              <a:schemeClr val="tx2"/>
            </a:solidFill>
            <a:prstDash val="solid"/>
            <a:tailEnd type="triangle"/>
          </a:ln>
        </p:spPr>
      </p:sp>
      <p:sp>
        <p:nvSpPr>
          <p:cNvPr id="13" name="Text 10"/>
          <p:cNvSpPr txBox="1"/>
          <p:nvPr/>
        </p:nvSpPr>
        <p:spPr>
          <a:xfrm>
            <a:off x="69494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5  |  01:20</a:t>
            </a:r>
            <a:endParaRPr lang="en-US" sz="1200" dirty="0"/>
          </a:p>
          <a:p>
            <a:pPr algn="ctr" indent="0" marL="0">
              <a:buNone/>
            </a:pPr>
            <a:r>
              <a:rPr lang="en-US" sz="1100" dirty="0">
                <a:solidFill>
                  <a:schemeClr val="bg1"/>
                </a:solidFill>
              </a:rPr>
              <a:t>Auto-debit</a:t>
            </a:r>
            <a:endParaRPr lang="en-US" sz="1200" dirty="0"/>
          </a:p>
        </p:txBody>
      </p:sp>
      <p:sp>
        <p:nvSpPr>
          <p:cNvPr id="14" name="Shape 11"/>
          <p:cNvSpPr/>
          <p:nvPr/>
        </p:nvSpPr>
        <p:spPr>
          <a:xfrm>
            <a:off x="8412480" y="2011680"/>
            <a:ext cx="137160" cy="0"/>
          </a:xfrm>
          <a:prstGeom prst="line">
            <a:avLst/>
          </a:prstGeom>
          <a:noFill/>
          <a:ln w="15875">
            <a:solidFill>
              <a:schemeClr val="tx2"/>
            </a:solidFill>
            <a:prstDash val="solid"/>
            <a:tailEnd type="triangle"/>
          </a:ln>
        </p:spPr>
      </p:sp>
      <p:sp>
        <p:nvSpPr>
          <p:cNvPr id="15" name="Text 12"/>
          <p:cNvSpPr txBox="1"/>
          <p:nvPr/>
        </p:nvSpPr>
        <p:spPr>
          <a:xfrm>
            <a:off x="85496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6  |  01:25</a:t>
            </a:r>
            <a:endParaRPr lang="en-US" sz="1200" dirty="0"/>
          </a:p>
          <a:p>
            <a:pPr algn="ctr" indent="0" marL="0">
              <a:buNone/>
            </a:pPr>
            <a:r>
              <a:rPr lang="en-US" sz="1100" dirty="0">
                <a:solidFill>
                  <a:schemeClr val="bg1"/>
                </a:solidFill>
              </a:rPr>
              <a:t>Bounce and NSF</a:t>
            </a:r>
            <a:endParaRPr lang="en-US" sz="1200" dirty="0"/>
          </a:p>
        </p:txBody>
      </p:sp>
      <p:sp>
        <p:nvSpPr>
          <p:cNvPr id="16" name="Shape 13"/>
          <p:cNvSpPr/>
          <p:nvPr/>
        </p:nvSpPr>
        <p:spPr>
          <a:xfrm>
            <a:off x="10012680" y="2011680"/>
            <a:ext cx="137160" cy="0"/>
          </a:xfrm>
          <a:prstGeom prst="line">
            <a:avLst/>
          </a:prstGeom>
          <a:noFill/>
          <a:ln w="15875">
            <a:solidFill>
              <a:schemeClr val="tx2"/>
            </a:solidFill>
            <a:prstDash val="solid"/>
            <a:tailEnd type="triangle"/>
          </a:ln>
        </p:spPr>
      </p:sp>
      <p:sp>
        <p:nvSpPr>
          <p:cNvPr id="17" name="Text 14"/>
          <p:cNvSpPr txBox="1"/>
          <p:nvPr/>
        </p:nvSpPr>
        <p:spPr>
          <a:xfrm>
            <a:off x="10149840" y="155448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7  |  01:30</a:t>
            </a:r>
            <a:endParaRPr lang="en-US" sz="1200" dirty="0"/>
          </a:p>
          <a:p>
            <a:pPr algn="ctr" indent="0" marL="0">
              <a:buNone/>
            </a:pPr>
            <a:r>
              <a:rPr lang="en-US" sz="1100" dirty="0">
                <a:solidFill>
                  <a:schemeClr val="bg1"/>
                </a:solidFill>
              </a:rPr>
              <a:t>Disbursement settlement</a:t>
            </a:r>
            <a:endParaRPr lang="en-US" sz="1200" dirty="0"/>
          </a:p>
        </p:txBody>
      </p:sp>
      <p:sp>
        <p:nvSpPr>
          <p:cNvPr id="18" name="Text 15"/>
          <p:cNvSpPr txBox="1"/>
          <p:nvPr/>
        </p:nvSpPr>
        <p:spPr>
          <a:xfrm>
            <a:off x="548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8  |  01:35</a:t>
            </a:r>
            <a:endParaRPr lang="en-US" sz="1200" dirty="0"/>
          </a:p>
          <a:p>
            <a:pPr algn="ctr" indent="0" marL="0">
              <a:buNone/>
            </a:pPr>
            <a:r>
              <a:rPr lang="en-US" sz="1100" dirty="0">
                <a:solidFill>
                  <a:schemeClr val="bg1"/>
                </a:solidFill>
              </a:rPr>
              <a:t>GL reconciliation</a:t>
            </a:r>
            <a:endParaRPr lang="en-US" sz="1200" dirty="0"/>
          </a:p>
        </p:txBody>
      </p:sp>
      <p:sp>
        <p:nvSpPr>
          <p:cNvPr id="19" name="Shape 16"/>
          <p:cNvSpPr/>
          <p:nvPr/>
        </p:nvSpPr>
        <p:spPr>
          <a:xfrm>
            <a:off x="2011680" y="3246120"/>
            <a:ext cx="137160" cy="0"/>
          </a:xfrm>
          <a:prstGeom prst="line">
            <a:avLst/>
          </a:prstGeom>
          <a:noFill/>
          <a:ln w="15875">
            <a:solidFill>
              <a:schemeClr val="tx2"/>
            </a:solidFill>
            <a:prstDash val="solid"/>
            <a:tailEnd type="triangle"/>
          </a:ln>
        </p:spPr>
      </p:sp>
      <p:sp>
        <p:nvSpPr>
          <p:cNvPr id="20" name="Text 17"/>
          <p:cNvSpPr txBox="1"/>
          <p:nvPr/>
        </p:nvSpPr>
        <p:spPr>
          <a:xfrm>
            <a:off x="21488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9  |  01:40</a:t>
            </a:r>
            <a:endParaRPr lang="en-US" sz="1200" dirty="0"/>
          </a:p>
          <a:p>
            <a:pPr algn="ctr" indent="0" marL="0">
              <a:buNone/>
            </a:pPr>
            <a:r>
              <a:rPr lang="en-US" sz="1100" dirty="0">
                <a:solidFill>
                  <a:schemeClr val="bg1"/>
                </a:solidFill>
              </a:rPr>
              <a:t>Limit utilisation</a:t>
            </a:r>
            <a:endParaRPr lang="en-US" sz="1200" dirty="0"/>
          </a:p>
        </p:txBody>
      </p:sp>
      <p:sp>
        <p:nvSpPr>
          <p:cNvPr id="21" name="Shape 18"/>
          <p:cNvSpPr/>
          <p:nvPr/>
        </p:nvSpPr>
        <p:spPr>
          <a:xfrm>
            <a:off x="3611880" y="3246120"/>
            <a:ext cx="137160" cy="0"/>
          </a:xfrm>
          <a:prstGeom prst="line">
            <a:avLst/>
          </a:prstGeom>
          <a:noFill/>
          <a:ln w="15875">
            <a:solidFill>
              <a:schemeClr val="tx2"/>
            </a:solidFill>
            <a:prstDash val="solid"/>
            <a:tailEnd type="triangle"/>
          </a:ln>
        </p:spPr>
      </p:sp>
      <p:sp>
        <p:nvSpPr>
          <p:cNvPr id="22" name="Text 19"/>
          <p:cNvSpPr txBox="1"/>
          <p:nvPr/>
        </p:nvSpPr>
        <p:spPr>
          <a:xfrm>
            <a:off x="37490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10  |  01:45</a:t>
            </a:r>
            <a:endParaRPr lang="en-US" sz="1200" dirty="0"/>
          </a:p>
          <a:p>
            <a:pPr algn="ctr" indent="0" marL="0">
              <a:buNone/>
            </a:pPr>
            <a:r>
              <a:rPr lang="en-US" sz="1100" dirty="0">
                <a:solidFill>
                  <a:schemeClr val="bg1"/>
                </a:solidFill>
              </a:rPr>
              <a:t>Fees and charges</a:t>
            </a:r>
            <a:endParaRPr lang="en-US" sz="1200" dirty="0"/>
          </a:p>
        </p:txBody>
      </p:sp>
      <p:sp>
        <p:nvSpPr>
          <p:cNvPr id="23" name="Shape 20"/>
          <p:cNvSpPr/>
          <p:nvPr/>
        </p:nvSpPr>
        <p:spPr>
          <a:xfrm>
            <a:off x="5212080" y="3246120"/>
            <a:ext cx="137160" cy="0"/>
          </a:xfrm>
          <a:prstGeom prst="line">
            <a:avLst/>
          </a:prstGeom>
          <a:noFill/>
          <a:ln w="15875">
            <a:solidFill>
              <a:schemeClr val="tx2"/>
            </a:solidFill>
            <a:prstDash val="solid"/>
            <a:tailEnd type="triangle"/>
          </a:ln>
        </p:spPr>
      </p:sp>
      <p:sp>
        <p:nvSpPr>
          <p:cNvPr id="24" name="Text 21"/>
          <p:cNvSpPr txBox="1"/>
          <p:nvPr/>
        </p:nvSpPr>
        <p:spPr>
          <a:xfrm>
            <a:off x="53492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11  |  01:50</a:t>
            </a:r>
            <a:endParaRPr lang="en-US" sz="1200" dirty="0"/>
          </a:p>
          <a:p>
            <a:pPr algn="ctr" indent="0" marL="0">
              <a:buNone/>
            </a:pPr>
            <a:r>
              <a:rPr lang="en-US" sz="1100" dirty="0">
                <a:solidFill>
                  <a:schemeClr val="bg1"/>
                </a:solidFill>
              </a:rPr>
              <a:t>SOD / EOD balancing</a:t>
            </a:r>
            <a:endParaRPr lang="en-US" sz="1200" dirty="0"/>
          </a:p>
        </p:txBody>
      </p:sp>
      <p:sp>
        <p:nvSpPr>
          <p:cNvPr id="25" name="Shape 22"/>
          <p:cNvSpPr/>
          <p:nvPr/>
        </p:nvSpPr>
        <p:spPr>
          <a:xfrm>
            <a:off x="6812280" y="3246120"/>
            <a:ext cx="137160" cy="0"/>
          </a:xfrm>
          <a:prstGeom prst="line">
            <a:avLst/>
          </a:prstGeom>
          <a:noFill/>
          <a:ln w="15875">
            <a:solidFill>
              <a:schemeClr val="tx2"/>
            </a:solidFill>
            <a:prstDash val="solid"/>
            <a:tailEnd type="triangle"/>
          </a:ln>
        </p:spPr>
      </p:sp>
      <p:sp>
        <p:nvSpPr>
          <p:cNvPr id="26" name="Text 23"/>
          <p:cNvSpPr txBox="1"/>
          <p:nvPr/>
        </p:nvSpPr>
        <p:spPr>
          <a:xfrm>
            <a:off x="69494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12  |  01:55</a:t>
            </a:r>
            <a:endParaRPr lang="en-US" sz="1200" dirty="0"/>
          </a:p>
          <a:p>
            <a:pPr algn="ctr" indent="0" marL="0">
              <a:buNone/>
            </a:pPr>
            <a:r>
              <a:rPr lang="en-US" sz="1100" dirty="0">
                <a:solidFill>
                  <a:schemeClr val="bg1"/>
                </a:solidFill>
              </a:rPr>
              <a:t>Statement notices</a:t>
            </a:r>
            <a:endParaRPr lang="en-US" sz="1200" dirty="0"/>
          </a:p>
        </p:txBody>
      </p:sp>
      <p:sp>
        <p:nvSpPr>
          <p:cNvPr id="27" name="Shape 24"/>
          <p:cNvSpPr/>
          <p:nvPr/>
        </p:nvSpPr>
        <p:spPr>
          <a:xfrm>
            <a:off x="8412480" y="3246120"/>
            <a:ext cx="137160" cy="0"/>
          </a:xfrm>
          <a:prstGeom prst="line">
            <a:avLst/>
          </a:prstGeom>
          <a:noFill/>
          <a:ln w="15875">
            <a:solidFill>
              <a:schemeClr val="tx2"/>
            </a:solidFill>
            <a:prstDash val="solid"/>
            <a:tailEnd type="triangle"/>
          </a:ln>
        </p:spPr>
      </p:sp>
      <p:sp>
        <p:nvSpPr>
          <p:cNvPr id="28" name="Text 25"/>
          <p:cNvSpPr txBox="1"/>
          <p:nvPr/>
        </p:nvSpPr>
        <p:spPr>
          <a:xfrm>
            <a:off x="8549640" y="2788920"/>
            <a:ext cx="1463040" cy="914400"/>
          </a:xfrm>
          <a:prstGeom prst="roundRect">
            <a:avLst>
              <a:gd name="adj" fmla="val 8000"/>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200" b="1" dirty="0">
                <a:solidFill>
                  <a:schemeClr val="bg1"/>
                </a:solidFill>
              </a:rPr>
              <a:t>13  |  02:00</a:t>
            </a:r>
            <a:endParaRPr lang="en-US" sz="1200" dirty="0"/>
          </a:p>
          <a:p>
            <a:pPr algn="ctr" indent="0" marL="0">
              <a:buNone/>
            </a:pPr>
            <a:r>
              <a:rPr lang="en-US" sz="1100" dirty="0">
                <a:solidFill>
                  <a:schemeClr val="bg1"/>
                </a:solidFill>
              </a:rPr>
              <a:t>Rate-reset check</a:t>
            </a:r>
            <a:endParaRPr lang="en-US" sz="1200" dirty="0"/>
          </a:p>
        </p:txBody>
      </p:sp>
      <p:sp>
        <p:nvSpPr>
          <p:cNvPr id="29" name="Text 26"/>
          <p:cNvSpPr txBox="1"/>
          <p:nvPr/>
        </p:nvSpPr>
        <p:spPr>
          <a:xfrm>
            <a:off x="3749040" y="2468880"/>
            <a:ext cx="3108960" cy="274320"/>
          </a:xfrm>
          <a:prstGeom prst="rect">
            <a:avLst/>
          </a:prstGeom>
          <a:noFill/>
          <a:ln/>
        </p:spPr>
        <p:txBody>
          <a:bodyPr wrap="square" lIns="0" tIns="0" rIns="0" bIns="0" rtlCol="0" anchor="ctr"/>
          <a:lstStyle/>
          <a:p>
            <a:pPr algn="l" indent="0" marL="0">
              <a:buNone/>
            </a:pPr>
            <a:r>
              <a:rPr lang="en-US" sz="1000" i="1" dirty="0">
                <a:solidFill>
                  <a:schemeClr val="accent4"/>
                </a:solidFill>
              </a:rPr>
              <a:t>Grey: DPD update must complete before NPA classification</a:t>
            </a:r>
            <a:endParaRPr lang="en-US" sz="1000" dirty="0"/>
          </a:p>
        </p:txBody>
      </p:sp>
      <p:sp>
        <p:nvSpPr>
          <p:cNvPr id="30" name="Text 27"/>
          <p:cNvSpPr txBox="1"/>
          <p:nvPr/>
        </p:nvSpPr>
        <p:spPr>
          <a:xfrm>
            <a:off x="54864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Monthly  (11)</a:t>
            </a:r>
            <a:endParaRPr lang="en-US" sz="1200" dirty="0"/>
          </a:p>
          <a:p>
            <a:pPr algn="l" indent="0" marL="0">
              <a:buNone/>
            </a:pPr>
            <a:r>
              <a:rPr lang="en-US" sz="1400" dirty="0">
                <a:solidFill>
                  <a:schemeClr val="bg1"/>
                </a:solidFill>
              </a:rPr>
              <a:t>EMI billing, interest capitalisation, provisioning, rate reset, schedule refresh, month-end GL close, bureau and regulatory extracts</a:t>
            </a:r>
            <a:endParaRPr lang="en-US" sz="1200" dirty="0"/>
          </a:p>
        </p:txBody>
      </p:sp>
      <p:sp>
        <p:nvSpPr>
          <p:cNvPr id="31" name="Text 28"/>
          <p:cNvSpPr txBox="1"/>
          <p:nvPr/>
        </p:nvSpPr>
        <p:spPr>
          <a:xfrm>
            <a:off x="4297680" y="4160520"/>
            <a:ext cx="356616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buNone/>
            </a:pPr>
            <a:r>
              <a:rPr lang="en-US" sz="1600" b="1" dirty="0">
                <a:solidFill>
                  <a:schemeClr val="bg1"/>
                </a:solidFill>
              </a:rPr>
              <a:t>Periodic  (12)</a:t>
            </a:r>
            <a:endParaRPr lang="en-US" sz="1200" dirty="0"/>
          </a:p>
          <a:p>
            <a:pPr algn="l" indent="0" marL="0">
              <a:buNone/>
            </a:pPr>
            <a:r>
              <a:rPr lang="en-US" sz="1400" dirty="0">
                <a:solidFill>
                  <a:schemeClr val="bg1"/>
                </a:solidFill>
              </a:rPr>
              <a:t>Quarterly NPA provisioning review, stress testing and rate reset; annual insurance and credit-limit review; document expiry; event-triggered jobs</a:t>
            </a:r>
            <a:endParaRPr lang="en-US" sz="1200" dirty="0"/>
          </a:p>
        </p:txBody>
      </p:sp>
      <p:sp>
        <p:nvSpPr>
          <p:cNvPr id="32" name="Text 29"/>
          <p:cNvSpPr txBox="1"/>
          <p:nvPr/>
        </p:nvSpPr>
        <p:spPr>
          <a:xfrm>
            <a:off x="8046720" y="4160520"/>
            <a:ext cx="3566160" cy="18288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buNone/>
            </a:pPr>
            <a:r>
              <a:rPr lang="en-US" sz="1600" b="1" dirty="0">
                <a:solidFill>
                  <a:schemeClr val="tx1"/>
                </a:solidFill>
              </a:rPr>
              <a:t>Status today</a:t>
            </a:r>
            <a:endParaRPr lang="en-US" sz="1200" dirty="0"/>
          </a:p>
          <a:p>
            <a:pPr algn="l" indent="0" marL="0">
              <a:buNone/>
            </a:pPr>
            <a:r>
              <a:rPr lang="en-US" sz="1400" dirty="0">
                <a:solidFill>
                  <a:schemeClr val="tx1"/>
                </a:solidFill>
              </a:rPr>
              <a:t>Scheduler, retry, skip, dead-letter, admin API and end of day are live. Eleven of the 37 job bodies call lending-service (v1.7 adds the demand job and the penal interest body); the other 26 are stubs.</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flow: the loan lifecycle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Six stages from approved credit to a closed account, with the system action and API behind each</a:t>
            </a:r>
            <a:endParaRPr lang="en-US" sz="1400" dirty="0"/>
          </a:p>
        </p:txBody>
      </p:sp>
      <p:sp>
        <p:nvSpPr>
          <p:cNvPr id="5" name="Text 2"/>
          <p:cNvSpPr txBox="1"/>
          <p:nvPr/>
        </p:nvSpPr>
        <p:spPr>
          <a:xfrm>
            <a:off x="548640" y="1508760"/>
            <a:ext cx="1828800" cy="822960"/>
          </a:xfrm>
          <a:prstGeom prst="homePlate">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Sanction and onboard</a:t>
            </a:r>
            <a:endParaRPr lang="en-US" sz="1200" dirty="0"/>
          </a:p>
        </p:txBody>
      </p:sp>
      <p:sp>
        <p:nvSpPr>
          <p:cNvPr id="6" name="Text 3"/>
          <p:cNvSpPr txBox="1"/>
          <p:nvPr/>
        </p:nvSpPr>
        <p:spPr>
          <a:xfrm>
            <a:off x="5760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7" name="Text 4"/>
          <p:cNvSpPr txBox="1"/>
          <p:nvPr/>
        </p:nvSpPr>
        <p:spPr>
          <a:xfrm>
            <a:off x="6583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8" name="Text 5"/>
          <p:cNvSpPr txBox="1"/>
          <p:nvPr/>
        </p:nvSpPr>
        <p:spPr>
          <a:xfrm>
            <a:off x="6583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Credit approved and terms agreed</a:t>
            </a:r>
            <a:endParaRPr lang="en-US" sz="1200" dirty="0"/>
          </a:p>
        </p:txBody>
      </p:sp>
      <p:sp>
        <p:nvSpPr>
          <p:cNvPr id="9" name="Text 6"/>
          <p:cNvSpPr txBox="1"/>
          <p:nvPr/>
        </p:nvSpPr>
        <p:spPr>
          <a:xfrm>
            <a:off x="6583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0" name="Text 7"/>
          <p:cNvSpPr txBox="1"/>
          <p:nvPr/>
        </p:nvSpPr>
        <p:spPr>
          <a:xfrm>
            <a:off x="6583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created and awaiting disbursement; unique account number</a:t>
            </a:r>
            <a:endParaRPr lang="en-US" sz="1200" dirty="0"/>
          </a:p>
        </p:txBody>
      </p:sp>
      <p:sp>
        <p:nvSpPr>
          <p:cNvPr id="11" name="Text 8"/>
          <p:cNvSpPr txBox="1"/>
          <p:nvPr/>
        </p:nvSpPr>
        <p:spPr>
          <a:xfrm>
            <a:off x="6583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12" name="Text 9"/>
          <p:cNvSpPr txBox="1"/>
          <p:nvPr/>
        </p:nvSpPr>
        <p:spPr>
          <a:xfrm>
            <a:off x="6583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/loan-accounts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/bulk/create</a:t>
            </a:r>
            <a:endParaRPr lang="en-US" sz="1000" dirty="0"/>
          </a:p>
        </p:txBody>
      </p:sp>
      <p:sp>
        <p:nvSpPr>
          <p:cNvPr id="13" name="Text 10"/>
          <p:cNvSpPr txBox="1"/>
          <p:nvPr/>
        </p:nvSpPr>
        <p:spPr>
          <a:xfrm>
            <a:off x="242316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Secure</a:t>
            </a:r>
            <a:endParaRPr lang="en-US" sz="1200" dirty="0"/>
          </a:p>
        </p:txBody>
      </p:sp>
      <p:sp>
        <p:nvSpPr>
          <p:cNvPr id="14" name="Text 11"/>
          <p:cNvSpPr txBox="1"/>
          <p:nvPr/>
        </p:nvSpPr>
        <p:spPr>
          <a:xfrm>
            <a:off x="245059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15" name="Text 12"/>
          <p:cNvSpPr txBox="1"/>
          <p:nvPr/>
        </p:nvSpPr>
        <p:spPr>
          <a:xfrm>
            <a:off x="253288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16" name="Text 13"/>
          <p:cNvSpPr txBox="1"/>
          <p:nvPr/>
        </p:nvSpPr>
        <p:spPr>
          <a:xfrm>
            <a:off x="253288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Property valued and charge registered (mortgage only)</a:t>
            </a:r>
            <a:endParaRPr lang="en-US" sz="1200" dirty="0"/>
          </a:p>
        </p:txBody>
      </p:sp>
      <p:sp>
        <p:nvSpPr>
          <p:cNvPr id="17" name="Text 14"/>
          <p:cNvSpPr txBox="1"/>
          <p:nvPr/>
        </p:nvSpPr>
        <p:spPr>
          <a:xfrm>
            <a:off x="253288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18" name="Text 15"/>
          <p:cNvSpPr txBox="1"/>
          <p:nvPr/>
        </p:nvSpPr>
        <p:spPr>
          <a:xfrm>
            <a:off x="253288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LTV computed; CERSAI and deed refs stored; revaluation tracked</a:t>
            </a:r>
            <a:endParaRPr lang="en-US" sz="1200" dirty="0"/>
          </a:p>
        </p:txBody>
      </p:sp>
      <p:sp>
        <p:nvSpPr>
          <p:cNvPr id="19" name="Text 16"/>
          <p:cNvSpPr txBox="1"/>
          <p:nvPr/>
        </p:nvSpPr>
        <p:spPr>
          <a:xfrm>
            <a:off x="253288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0" name="Text 17"/>
          <p:cNvSpPr txBox="1"/>
          <p:nvPr/>
        </p:nvSpPr>
        <p:spPr>
          <a:xfrm>
            <a:off x="253288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/mortgages</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/{id}/charge</a:t>
            </a:r>
            <a:endParaRPr lang="en-US" sz="1000" dirty="0"/>
          </a:p>
        </p:txBody>
      </p:sp>
      <p:sp>
        <p:nvSpPr>
          <p:cNvPr id="21" name="Text 18"/>
          <p:cNvSpPr txBox="1"/>
          <p:nvPr/>
        </p:nvSpPr>
        <p:spPr>
          <a:xfrm>
            <a:off x="4297680" y="1508760"/>
            <a:ext cx="1828800" cy="822960"/>
          </a:xfrm>
          <a:prstGeom prst="chevron">
            <a:avLst/>
          </a:prstGeom>
          <a:solidFill>
            <a:schemeClr val="accent2"/>
          </a:solidFill>
          <a:ln/>
        </p:spPr>
        <p:txBody>
          <a:bodyPr wrap="square" lIns="177800" tIns="177800" rIns="177800" bIns="177800" rtlCol="0" anchor="ctr"/>
          <a:lstStyle/>
          <a:p>
            <a:pPr algn="ctr" indent="0" marL="0">
              <a:buNone/>
            </a:pPr>
            <a:r>
              <a:rPr lang="en-US" sz="1200" b="1" dirty="0">
                <a:solidFill>
                  <a:schemeClr val="tx1"/>
                </a:solidFill>
              </a:rPr>
              <a:t>Disburse</a:t>
            </a:r>
            <a:endParaRPr lang="en-US" sz="1200" dirty="0"/>
          </a:p>
        </p:txBody>
      </p:sp>
      <p:sp>
        <p:nvSpPr>
          <p:cNvPr id="22" name="Text 19"/>
          <p:cNvSpPr txBox="1"/>
          <p:nvPr/>
        </p:nvSpPr>
        <p:spPr>
          <a:xfrm>
            <a:off x="432511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23" name="Text 20"/>
          <p:cNvSpPr txBox="1"/>
          <p:nvPr/>
        </p:nvSpPr>
        <p:spPr>
          <a:xfrm>
            <a:off x="440740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24" name="Text 21"/>
          <p:cNvSpPr txBox="1"/>
          <p:nvPr/>
        </p:nvSpPr>
        <p:spPr>
          <a:xfrm>
            <a:off x="440740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Funds released; first EMI date fixed</a:t>
            </a:r>
            <a:endParaRPr lang="en-US" sz="1200" dirty="0"/>
          </a:p>
        </p:txBody>
      </p:sp>
      <p:sp>
        <p:nvSpPr>
          <p:cNvPr id="25" name="Text 22"/>
          <p:cNvSpPr txBox="1"/>
          <p:nvPr/>
        </p:nvSpPr>
        <p:spPr>
          <a:xfrm>
            <a:off x="440740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26" name="Text 23"/>
          <p:cNvSpPr txBox="1"/>
          <p:nvPr/>
        </p:nvSpPr>
        <p:spPr>
          <a:xfrm>
            <a:off x="440740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Account ACTIVE; schedule v1; ledger event queued</a:t>
            </a:r>
            <a:endParaRPr lang="en-US" sz="1200" dirty="0"/>
          </a:p>
        </p:txBody>
      </p:sp>
      <p:sp>
        <p:nvSpPr>
          <p:cNvPr id="27" name="Text 24"/>
          <p:cNvSpPr txBox="1"/>
          <p:nvPr/>
        </p:nvSpPr>
        <p:spPr>
          <a:xfrm>
            <a:off x="440740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28" name="Text 25"/>
          <p:cNvSpPr txBox="1"/>
          <p:nvPr/>
        </p:nvSpPr>
        <p:spPr>
          <a:xfrm>
            <a:off x="440740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POST /{id}/disburse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/bulk/disburse</a:t>
            </a:r>
            <a:endParaRPr lang="en-US" sz="1000" dirty="0"/>
          </a:p>
        </p:txBody>
      </p:sp>
      <p:sp>
        <p:nvSpPr>
          <p:cNvPr id="29" name="Text 26"/>
          <p:cNvSpPr txBox="1"/>
          <p:nvPr/>
        </p:nvSpPr>
        <p:spPr>
          <a:xfrm>
            <a:off x="617220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Repay and accrue</a:t>
            </a:r>
            <a:endParaRPr lang="en-US" sz="1200" dirty="0"/>
          </a:p>
        </p:txBody>
      </p:sp>
      <p:sp>
        <p:nvSpPr>
          <p:cNvPr id="30" name="Text 27"/>
          <p:cNvSpPr txBox="1"/>
          <p:nvPr/>
        </p:nvSpPr>
        <p:spPr>
          <a:xfrm>
            <a:off x="619963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1" name="Text 28"/>
          <p:cNvSpPr txBox="1"/>
          <p:nvPr/>
        </p:nvSpPr>
        <p:spPr>
          <a:xfrm>
            <a:off x="628192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32" name="Text 29"/>
          <p:cNvSpPr txBox="1"/>
          <p:nvPr/>
        </p:nvSpPr>
        <p:spPr>
          <a:xfrm>
            <a:off x="628192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Customer pays EMIs, may part-pay; floating rates reset</a:t>
            </a:r>
            <a:endParaRPr lang="en-US" sz="1200" dirty="0"/>
          </a:p>
        </p:txBody>
      </p:sp>
      <p:sp>
        <p:nvSpPr>
          <p:cNvPr id="33" name="Text 30"/>
          <p:cNvSpPr txBox="1"/>
          <p:nvPr/>
        </p:nvSpPr>
        <p:spPr>
          <a:xfrm>
            <a:off x="628192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34" name="Text 31"/>
          <p:cNvSpPr txBox="1"/>
          <p:nvPr/>
        </p:nvSpPr>
        <p:spPr>
          <a:xfrm>
            <a:off x="628192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Instalments PAID; daily interest accrued; schedule re-versioned</a:t>
            </a:r>
            <a:endParaRPr lang="en-US" sz="1200" dirty="0"/>
          </a:p>
        </p:txBody>
      </p:sp>
      <p:sp>
        <p:nvSpPr>
          <p:cNvPr id="35" name="Text 32"/>
          <p:cNvSpPr txBox="1"/>
          <p:nvPr/>
        </p:nvSpPr>
        <p:spPr>
          <a:xfrm>
            <a:off x="628192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36" name="Text 33"/>
          <p:cNvSpPr txBox="1"/>
          <p:nvPr/>
        </p:nvSpPr>
        <p:spPr>
          <a:xfrm>
            <a:off x="628192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/payments/emi</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/part-payment</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/rate-resets</a:t>
            </a:r>
            <a:endParaRPr lang="en-US" sz="1000" dirty="0"/>
          </a:p>
        </p:txBody>
      </p:sp>
      <p:sp>
        <p:nvSpPr>
          <p:cNvPr id="37" name="Text 34"/>
          <p:cNvSpPr txBox="1"/>
          <p:nvPr/>
        </p:nvSpPr>
        <p:spPr>
          <a:xfrm>
            <a:off x="804672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Monitor and recover</a:t>
            </a:r>
            <a:endParaRPr lang="en-US" sz="1200" dirty="0"/>
          </a:p>
        </p:txBody>
      </p:sp>
      <p:sp>
        <p:nvSpPr>
          <p:cNvPr id="38" name="Text 35"/>
          <p:cNvSpPr txBox="1"/>
          <p:nvPr/>
        </p:nvSpPr>
        <p:spPr>
          <a:xfrm>
            <a:off x="807415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39" name="Text 36"/>
          <p:cNvSpPr txBox="1"/>
          <p:nvPr/>
        </p:nvSpPr>
        <p:spPr>
          <a:xfrm>
            <a:off x="815644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0" name="Text 37"/>
          <p:cNvSpPr txBox="1"/>
          <p:nvPr/>
        </p:nvSpPr>
        <p:spPr>
          <a:xfrm>
            <a:off x="815644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Missed EMI ages into DPD and NPA buckets</a:t>
            </a:r>
            <a:endParaRPr lang="en-US" sz="1200" dirty="0"/>
          </a:p>
        </p:txBody>
      </p:sp>
      <p:sp>
        <p:nvSpPr>
          <p:cNvPr id="41" name="Text 38"/>
          <p:cNvSpPr txBox="1"/>
          <p:nvPr/>
        </p:nvSpPr>
        <p:spPr>
          <a:xfrm>
            <a:off x="815644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42" name="Text 39"/>
          <p:cNvSpPr txBox="1"/>
          <p:nvPr/>
        </p:nvSpPr>
        <p:spPr>
          <a:xfrm>
            <a:off x="815644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Overdue instalments flagged; status SMA0 to LOSS</a:t>
            </a:r>
            <a:endParaRPr lang="en-US" sz="1200" dirty="0"/>
          </a:p>
        </p:txBody>
      </p:sp>
      <p:sp>
        <p:nvSpPr>
          <p:cNvPr id="43" name="Text 40"/>
          <p:cNvSpPr txBox="1"/>
          <p:nvPr/>
        </p:nvSpPr>
        <p:spPr>
          <a:xfrm>
            <a:off x="815644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44" name="Text 41"/>
          <p:cNvSpPr txBox="1"/>
          <p:nvPr/>
        </p:nvSpPr>
        <p:spPr>
          <a:xfrm>
            <a:off x="815644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/delinquency-</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classifications</a:t>
            </a:r>
            <a:endParaRPr lang="en-US" sz="1000" dirty="0"/>
          </a:p>
        </p:txBody>
      </p:sp>
      <p:sp>
        <p:nvSpPr>
          <p:cNvPr id="45" name="Text 42"/>
          <p:cNvSpPr txBox="1"/>
          <p:nvPr/>
        </p:nvSpPr>
        <p:spPr>
          <a:xfrm>
            <a:off x="9921240" y="1508760"/>
            <a:ext cx="1828800" cy="822960"/>
          </a:xfrm>
          <a:prstGeom prst="chevron">
            <a:avLst/>
          </a:prstGeom>
          <a:solidFill>
            <a:schemeClr val="accent1"/>
          </a:solidFill>
          <a:ln/>
        </p:spPr>
        <p:txBody>
          <a:bodyPr wrap="square" lIns="177800" tIns="177800" rIns="177800" bIns="177800" rtlCol="0" anchor="ctr"/>
          <a:lstStyle/>
          <a:p>
            <a:pPr algn="ctr" indent="0" marL="0">
              <a:buNone/>
            </a:pPr>
            <a:r>
              <a:rPr lang="en-US" sz="1200" b="1" dirty="0">
                <a:solidFill>
                  <a:schemeClr val="bg1"/>
                </a:solidFill>
              </a:rPr>
              <a:t>Close</a:t>
            </a:r>
            <a:endParaRPr lang="en-US" sz="1200" dirty="0"/>
          </a:p>
        </p:txBody>
      </p:sp>
      <p:sp>
        <p:nvSpPr>
          <p:cNvPr id="46" name="Text 43"/>
          <p:cNvSpPr txBox="1"/>
          <p:nvPr/>
        </p:nvSpPr>
        <p:spPr>
          <a:xfrm>
            <a:off x="9948672" y="2514600"/>
            <a:ext cx="1755648" cy="3703320"/>
          </a:xfrm>
          <a:prstGeom prst="roundRect">
            <a:avLst>
              <a:gd name="adj" fmla="val 4167"/>
            </a:avLst>
          </a:prstGeom>
          <a:solidFill>
            <a:schemeClr val="accent1">
              <a:alpha val="9000"/>
            </a:schemeClr>
          </a:solidFill>
          <a:ln w="12700">
            <a:solidFill>
              <a:schemeClr val="accent1"/>
            </a:solidFill>
          </a:ln>
        </p:spPr>
        <p:txBody>
          <a:bodyPr wrap="square" lIns="50800" tIns="50800" rIns="50800" bIns="50800" rtlCol="0" anchor="ctr"/>
          <a:lstStyle/>
          <a:p>
            <a:pPr algn="ctr" indent="0" marL="0">
              <a:buNone/>
            </a:pPr>
            <a:endParaRPr lang="en-US" sz="1200" dirty="0"/>
          </a:p>
        </p:txBody>
      </p:sp>
      <p:sp>
        <p:nvSpPr>
          <p:cNvPr id="47" name="Text 44"/>
          <p:cNvSpPr txBox="1"/>
          <p:nvPr/>
        </p:nvSpPr>
        <p:spPr>
          <a:xfrm>
            <a:off x="10030968" y="260604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BUSINESS</a:t>
            </a:r>
            <a:endParaRPr lang="en-US" sz="1000" dirty="0"/>
          </a:p>
        </p:txBody>
      </p:sp>
      <p:sp>
        <p:nvSpPr>
          <p:cNvPr id="48" name="Text 45"/>
          <p:cNvSpPr txBox="1"/>
          <p:nvPr/>
        </p:nvSpPr>
        <p:spPr>
          <a:xfrm>
            <a:off x="10030968" y="2816352"/>
            <a:ext cx="1572768" cy="1005840"/>
          </a:xfrm>
          <a:prstGeom prst="rect">
            <a:avLst/>
          </a:prstGeom>
          <a:noFill/>
          <a:ln/>
        </p:spPr>
        <p:txBody>
          <a:bodyPr wrap="square" lIns="0" tIns="0" rIns="0" bIns="0" rtlCol="0" anchor="t"/>
          <a:lstStyle/>
          <a:p>
            <a:pPr indent="0" marL="0">
              <a:buNone/>
            </a:pPr>
            <a:r>
              <a:rPr lang="en-US" sz="1200" dirty="0">
                <a:solidFill>
                  <a:schemeClr val="tx1"/>
                </a:solidFill>
              </a:rPr>
              <a:t>Final EMI, early payoff or write-off</a:t>
            </a:r>
            <a:endParaRPr lang="en-US" sz="1200" dirty="0"/>
          </a:p>
        </p:txBody>
      </p:sp>
      <p:sp>
        <p:nvSpPr>
          <p:cNvPr id="49" name="Text 46"/>
          <p:cNvSpPr txBox="1"/>
          <p:nvPr/>
        </p:nvSpPr>
        <p:spPr>
          <a:xfrm>
            <a:off x="10030968" y="384048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SYSTEM</a:t>
            </a:r>
            <a:endParaRPr lang="en-US" sz="1000" dirty="0"/>
          </a:p>
        </p:txBody>
      </p:sp>
      <p:sp>
        <p:nvSpPr>
          <p:cNvPr id="50" name="Text 47"/>
          <p:cNvSpPr txBox="1"/>
          <p:nvPr/>
        </p:nvSpPr>
        <p:spPr>
          <a:xfrm>
            <a:off x="10030968" y="4050792"/>
            <a:ext cx="1572768" cy="1188720"/>
          </a:xfrm>
          <a:prstGeom prst="rect">
            <a:avLst/>
          </a:prstGeom>
          <a:noFill/>
          <a:ln/>
        </p:spPr>
        <p:txBody>
          <a:bodyPr wrap="square" lIns="0" tIns="0" rIns="0" bIns="0" rtlCol="0" anchor="t"/>
          <a:lstStyle/>
          <a:p>
            <a:pPr indent="0" marL="0">
              <a:buNone/>
            </a:pPr>
            <a:r>
              <a:rPr lang="en-US" sz="1200" dirty="0">
                <a:solidFill>
                  <a:schemeClr val="tx1"/>
                </a:solidFill>
              </a:rPr>
              <a:t>CLOSED or FORECLOSED; statement available</a:t>
            </a:r>
            <a:endParaRPr lang="en-US" sz="1200" dirty="0"/>
          </a:p>
        </p:txBody>
      </p:sp>
      <p:sp>
        <p:nvSpPr>
          <p:cNvPr id="51" name="Text 48"/>
          <p:cNvSpPr txBox="1"/>
          <p:nvPr/>
        </p:nvSpPr>
        <p:spPr>
          <a:xfrm>
            <a:off x="10030968" y="5257800"/>
            <a:ext cx="1554480" cy="201168"/>
          </a:xfrm>
          <a:prstGeom prst="rect">
            <a:avLst/>
          </a:prstGeom>
          <a:noFill/>
          <a:ln/>
        </p:spPr>
        <p:txBody>
          <a:bodyPr wrap="square" lIns="0" tIns="0" rIns="0" bIns="0" rtlCol="0" anchor="t"/>
          <a:lstStyle/>
          <a:p>
            <a:pPr indent="0" marL="0">
              <a:buNone/>
            </a:pPr>
            <a:r>
              <a:rPr lang="en-US" sz="1000" b="1" dirty="0">
                <a:solidFill>
                  <a:schemeClr val="accent1"/>
                </a:solidFill>
              </a:rPr>
              <a:t>API</a:t>
            </a:r>
            <a:endParaRPr lang="en-US" sz="1000" dirty="0"/>
          </a:p>
        </p:txBody>
      </p:sp>
      <p:sp>
        <p:nvSpPr>
          <p:cNvPr id="52" name="Text 49"/>
          <p:cNvSpPr txBox="1"/>
          <p:nvPr/>
        </p:nvSpPr>
        <p:spPr>
          <a:xfrm>
            <a:off x="10030968" y="5458968"/>
            <a:ext cx="1572768" cy="73152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/payments/foreclosure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/{id}/statement</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Account status model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Delinquency moves an account down the ladder; clearing dues brings it back to ACTIVE</a:t>
            </a:r>
            <a:endParaRPr lang="en-US" sz="1400" dirty="0"/>
          </a:p>
        </p:txBody>
      </p:sp>
      <p:sp>
        <p:nvSpPr>
          <p:cNvPr id="5" name="Text 2"/>
          <p:cNvSpPr txBox="1"/>
          <p:nvPr/>
        </p:nvSpPr>
        <p:spPr>
          <a:xfrm>
            <a:off x="548640" y="1691640"/>
            <a:ext cx="2468880" cy="731520"/>
          </a:xfrm>
          <a:prstGeom prst="roundRect">
            <a:avLst>
              <a:gd name="adj" fmla="val 10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b="1" dirty="0">
                <a:solidFill>
                  <a:schemeClr val="bg1"/>
                </a:solidFill>
              </a:rPr>
              <a:t>PENDING_DISBURSEMENT</a:t>
            </a:r>
            <a:endParaRPr lang="en-US" sz="1200" dirty="0"/>
          </a:p>
        </p:txBody>
      </p:sp>
      <p:sp>
        <p:nvSpPr>
          <p:cNvPr id="6" name="Text 3"/>
          <p:cNvSpPr txBox="1"/>
          <p:nvPr/>
        </p:nvSpPr>
        <p:spPr>
          <a:xfrm>
            <a:off x="3931920" y="1691640"/>
            <a:ext cx="2103120" cy="731520"/>
          </a:xfrm>
          <a:prstGeom prst="roundRect">
            <a:avLst>
              <a:gd name="adj" fmla="val 10000"/>
            </a:avLst>
          </a:prstGeom>
          <a:solidFill>
            <a:schemeClr val="accent5"/>
          </a:solidFill>
          <a:ln w="12700">
            <a:solidFill>
              <a:schemeClr val="accent5"/>
            </a:solidFill>
          </a:ln>
        </p:spPr>
        <p:txBody>
          <a:bodyPr wrap="square" lIns="50800" tIns="50800" rIns="50800" bIns="50800" rtlCol="0" anchor="ctr"/>
          <a:lstStyle/>
          <a:p>
            <a:pPr algn="ctr" indent="0" marL="0">
              <a:buNone/>
            </a:pPr>
            <a:r>
              <a:rPr lang="en-US" sz="1400" b="1" dirty="0">
                <a:solidFill>
                  <a:schemeClr val="bg1"/>
                </a:solidFill>
              </a:rPr>
              <a:t>ACTIVE</a:t>
            </a:r>
            <a:endParaRPr lang="en-US" sz="1400" dirty="0"/>
          </a:p>
        </p:txBody>
      </p:sp>
      <p:sp>
        <p:nvSpPr>
          <p:cNvPr id="7" name="Text 4"/>
          <p:cNvSpPr txBox="1"/>
          <p:nvPr/>
        </p:nvSpPr>
        <p:spPr>
          <a:xfrm>
            <a:off x="7589520" y="169164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CLOSED</a:t>
            </a:r>
            <a:endParaRPr lang="en-US" sz="1300" dirty="0"/>
          </a:p>
        </p:txBody>
      </p:sp>
      <p:sp>
        <p:nvSpPr>
          <p:cNvPr id="8" name="Text 5"/>
          <p:cNvSpPr txBox="1"/>
          <p:nvPr/>
        </p:nvSpPr>
        <p:spPr>
          <a:xfrm>
            <a:off x="7589520" y="2743200"/>
            <a:ext cx="2011680" cy="731520"/>
          </a:xfrm>
          <a:prstGeom prst="roundRect">
            <a:avLst>
              <a:gd name="adj" fmla="val 10000"/>
            </a:avLst>
          </a:prstGeom>
          <a:solidFill>
            <a:schemeClr val="tx2"/>
          </a:solidFill>
          <a:ln w="12700">
            <a:solidFill>
              <a:schemeClr val="tx2"/>
            </a:solidFill>
          </a:ln>
        </p:spPr>
        <p:txBody>
          <a:bodyPr wrap="square" lIns="50800" tIns="50800" rIns="50800" bIns="50800" rtlCol="0" anchor="ctr"/>
          <a:lstStyle/>
          <a:p>
            <a:pPr algn="ctr" indent="0" marL="0">
              <a:buNone/>
            </a:pPr>
            <a:r>
              <a:rPr lang="en-US" sz="1300" b="1" dirty="0">
                <a:solidFill>
                  <a:schemeClr val="bg1"/>
                </a:solidFill>
              </a:rPr>
              <a:t>FORECLOSED</a:t>
            </a:r>
            <a:endParaRPr lang="en-US" sz="1300" dirty="0"/>
          </a:p>
        </p:txBody>
      </p:sp>
      <p:sp>
        <p:nvSpPr>
          <p:cNvPr id="9" name="Shape 6"/>
          <p:cNvSpPr/>
          <p:nvPr/>
        </p:nvSpPr>
        <p:spPr>
          <a:xfrm>
            <a:off x="3017520" y="2057400"/>
            <a:ext cx="914400" cy="0"/>
          </a:xfrm>
          <a:prstGeom prst="line">
            <a:avLst/>
          </a:prstGeom>
          <a:noFill/>
          <a:ln w="22225">
            <a:solidFill>
              <a:schemeClr val="tx2"/>
            </a:solidFill>
            <a:prstDash val="solid"/>
            <a:tailEnd type="triangle"/>
          </a:ln>
        </p:spPr>
      </p:sp>
      <p:sp>
        <p:nvSpPr>
          <p:cNvPr id="10" name="Text 7"/>
          <p:cNvSpPr txBox="1"/>
          <p:nvPr/>
        </p:nvSpPr>
        <p:spPr>
          <a:xfrm>
            <a:off x="3017520" y="178308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disburse</a:t>
            </a:r>
            <a:endParaRPr lang="en-US" sz="1000" dirty="0"/>
          </a:p>
        </p:txBody>
      </p:sp>
      <p:sp>
        <p:nvSpPr>
          <p:cNvPr id="11" name="Shape 8"/>
          <p:cNvSpPr/>
          <p:nvPr/>
        </p:nvSpPr>
        <p:spPr>
          <a:xfrm>
            <a:off x="6035040" y="2057400"/>
            <a:ext cx="1554480" cy="0"/>
          </a:xfrm>
          <a:prstGeom prst="line">
            <a:avLst/>
          </a:prstGeom>
          <a:noFill/>
          <a:ln w="22225">
            <a:solidFill>
              <a:schemeClr val="tx2"/>
            </a:solidFill>
            <a:prstDash val="solid"/>
            <a:tailEnd type="triangle"/>
          </a:ln>
        </p:spPr>
      </p:sp>
      <p:sp>
        <p:nvSpPr>
          <p:cNvPr id="12" name="Text 9"/>
          <p:cNvSpPr txBox="1"/>
          <p:nvPr/>
        </p:nvSpPr>
        <p:spPr>
          <a:xfrm>
            <a:off x="6080760" y="1417320"/>
            <a:ext cx="1463040" cy="502920"/>
          </a:xfrm>
          <a:prstGeom prst="rect">
            <a:avLst/>
          </a:prstGeom>
          <a:noFill/>
          <a:ln/>
        </p:spPr>
        <p:txBody>
          <a:bodyPr wrap="square" lIns="0" tIns="0" rIns="0" bIns="0" rtlCol="0" anchor="ctr"/>
          <a:lstStyle/>
          <a:p>
            <a:pPr algn="ctr" indent="0" marL="0">
              <a:buNone/>
            </a:pPr>
            <a:r>
              <a:rPr lang="en-US" sz="1000" i="1" dirty="0">
                <a:solidFill>
                  <a:schemeClr val="accent4"/>
                </a:solidFill>
              </a:rPr>
              <a:t>last EMI paid or balance cleared</a:t>
            </a:r>
            <a:endParaRPr lang="en-US" sz="1000" dirty="0"/>
          </a:p>
        </p:txBody>
      </p:sp>
      <p:sp>
        <p:nvSpPr>
          <p:cNvPr id="13" name="Shape 10"/>
          <p:cNvSpPr/>
          <p:nvPr/>
        </p:nvSpPr>
        <p:spPr>
          <a:xfrm>
            <a:off x="6035040" y="2331720"/>
            <a:ext cx="1554480" cy="777240"/>
          </a:xfrm>
          <a:prstGeom prst="line">
            <a:avLst/>
          </a:prstGeom>
          <a:noFill/>
          <a:ln w="22225">
            <a:solidFill>
              <a:schemeClr val="tx2"/>
            </a:solidFill>
            <a:prstDash val="solid"/>
            <a:tailEnd type="triangle"/>
          </a:ln>
        </p:spPr>
      </p:sp>
      <p:sp>
        <p:nvSpPr>
          <p:cNvPr id="14" name="Text 11"/>
          <p:cNvSpPr txBox="1"/>
          <p:nvPr/>
        </p:nvSpPr>
        <p:spPr>
          <a:xfrm>
            <a:off x="6355080" y="2971800"/>
            <a:ext cx="1188720" cy="228600"/>
          </a:xfrm>
          <a:prstGeom prst="rect">
            <a:avLst/>
          </a:prstGeom>
          <a:noFill/>
          <a:ln/>
        </p:spPr>
        <p:txBody>
          <a:bodyPr wrap="square" lIns="0" tIns="0" rIns="0" bIns="0" rtlCol="0" anchor="ctr"/>
          <a:lstStyle/>
          <a:p>
            <a:pPr algn="ctr" indent="0" marL="0">
              <a:buNone/>
            </a:pPr>
            <a:r>
              <a:rPr lang="en-US" sz="1000" i="1" dirty="0">
                <a:solidFill>
                  <a:schemeClr val="accent4"/>
                </a:solidFill>
              </a:rPr>
              <a:t>foreclosure payoff</a:t>
            </a:r>
            <a:endParaRPr lang="en-US" sz="1000" dirty="0"/>
          </a:p>
        </p:txBody>
      </p:sp>
      <p:sp>
        <p:nvSpPr>
          <p:cNvPr id="15" name="Text 12"/>
          <p:cNvSpPr txBox="1"/>
          <p:nvPr/>
        </p:nvSpPr>
        <p:spPr>
          <a:xfrm>
            <a:off x="5486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SMA0</a:t>
            </a:r>
            <a:endParaRPr lang="en-US" sz="1200" dirty="0"/>
          </a:p>
          <a:p>
            <a:pPr algn="ctr" indent="0" marL="0">
              <a:buNone/>
            </a:pPr>
            <a:r>
              <a:rPr lang="en-US" sz="1100" dirty="0">
                <a:solidFill>
                  <a:schemeClr val="tx1"/>
                </a:solidFill>
              </a:rPr>
              <a:t>1 to 30 days</a:t>
            </a:r>
            <a:endParaRPr lang="en-US" sz="1200" dirty="0"/>
          </a:p>
        </p:txBody>
      </p:sp>
      <p:sp>
        <p:nvSpPr>
          <p:cNvPr id="16" name="Shape 13"/>
          <p:cNvSpPr/>
          <p:nvPr/>
        </p:nvSpPr>
        <p:spPr>
          <a:xfrm>
            <a:off x="2011680" y="4343400"/>
            <a:ext cx="137160" cy="0"/>
          </a:xfrm>
          <a:prstGeom prst="line">
            <a:avLst/>
          </a:prstGeom>
          <a:noFill/>
          <a:ln w="15875">
            <a:solidFill>
              <a:schemeClr val="tx2"/>
            </a:solidFill>
            <a:prstDash val="solid"/>
            <a:tailEnd type="triangle"/>
          </a:ln>
        </p:spPr>
      </p:sp>
      <p:sp>
        <p:nvSpPr>
          <p:cNvPr id="17" name="Text 14"/>
          <p:cNvSpPr txBox="1"/>
          <p:nvPr/>
        </p:nvSpPr>
        <p:spPr>
          <a:xfrm>
            <a:off x="21488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SMA1</a:t>
            </a:r>
            <a:endParaRPr lang="en-US" sz="1200" dirty="0"/>
          </a:p>
          <a:p>
            <a:pPr algn="ctr" indent="0" marL="0">
              <a:buNone/>
            </a:pPr>
            <a:r>
              <a:rPr lang="en-US" sz="1100" dirty="0">
                <a:solidFill>
                  <a:schemeClr val="tx1"/>
                </a:solidFill>
              </a:rPr>
              <a:t>31 to 60</a:t>
            </a:r>
            <a:endParaRPr lang="en-US" sz="1200" dirty="0"/>
          </a:p>
        </p:txBody>
      </p:sp>
      <p:sp>
        <p:nvSpPr>
          <p:cNvPr id="18" name="Shape 15"/>
          <p:cNvSpPr/>
          <p:nvPr/>
        </p:nvSpPr>
        <p:spPr>
          <a:xfrm>
            <a:off x="3611880" y="4343400"/>
            <a:ext cx="137160" cy="0"/>
          </a:xfrm>
          <a:prstGeom prst="line">
            <a:avLst/>
          </a:prstGeom>
          <a:noFill/>
          <a:ln w="15875">
            <a:solidFill>
              <a:schemeClr val="tx2"/>
            </a:solidFill>
            <a:prstDash val="solid"/>
            <a:tailEnd type="triangle"/>
          </a:ln>
        </p:spPr>
      </p:sp>
      <p:sp>
        <p:nvSpPr>
          <p:cNvPr id="19" name="Text 16"/>
          <p:cNvSpPr txBox="1"/>
          <p:nvPr/>
        </p:nvSpPr>
        <p:spPr>
          <a:xfrm>
            <a:off x="3749040" y="3931920"/>
            <a:ext cx="1463040" cy="822960"/>
          </a:xfrm>
          <a:prstGeom prst="roundRect">
            <a:avLst>
              <a:gd name="adj" fmla="val 8889"/>
            </a:avLst>
          </a:prstGeom>
          <a:solidFill>
            <a:schemeClr val="accent2"/>
          </a:solidFill>
          <a:ln w="12700">
            <a:solidFill>
              <a:schemeClr val="accent2"/>
            </a:solidFill>
          </a:ln>
        </p:spPr>
        <p:txBody>
          <a:bodyPr wrap="square" lIns="25400" tIns="25400" rIns="25400" bIns="25400" rtlCol="0" anchor="ctr"/>
          <a:lstStyle/>
          <a:p>
            <a:pPr algn="ctr" indent="0" marL="0">
              <a:buNone/>
            </a:pPr>
            <a:r>
              <a:rPr lang="en-US" sz="1100" b="1" dirty="0">
                <a:solidFill>
                  <a:schemeClr val="tx1"/>
                </a:solidFill>
              </a:rPr>
              <a:t>SMA2</a:t>
            </a:r>
            <a:endParaRPr lang="en-US" sz="1200" dirty="0"/>
          </a:p>
          <a:p>
            <a:pPr algn="ctr" indent="0" marL="0">
              <a:buNone/>
            </a:pPr>
            <a:r>
              <a:rPr lang="en-US" sz="1100" dirty="0">
                <a:solidFill>
                  <a:schemeClr val="tx1"/>
                </a:solidFill>
              </a:rPr>
              <a:t>61 to 90</a:t>
            </a:r>
            <a:endParaRPr lang="en-US" sz="1200" dirty="0"/>
          </a:p>
        </p:txBody>
      </p:sp>
      <p:sp>
        <p:nvSpPr>
          <p:cNvPr id="20" name="Shape 17"/>
          <p:cNvSpPr/>
          <p:nvPr/>
        </p:nvSpPr>
        <p:spPr>
          <a:xfrm>
            <a:off x="5212080" y="4343400"/>
            <a:ext cx="137160" cy="0"/>
          </a:xfrm>
          <a:prstGeom prst="line">
            <a:avLst/>
          </a:prstGeom>
          <a:noFill/>
          <a:ln w="15875">
            <a:solidFill>
              <a:schemeClr val="tx2"/>
            </a:solidFill>
            <a:prstDash val="solid"/>
            <a:tailEnd type="triangle"/>
          </a:ln>
        </p:spPr>
      </p:sp>
      <p:sp>
        <p:nvSpPr>
          <p:cNvPr id="21" name="Text 18"/>
          <p:cNvSpPr txBox="1"/>
          <p:nvPr/>
        </p:nvSpPr>
        <p:spPr>
          <a:xfrm>
            <a:off x="53492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SUBSTANDARD</a:t>
            </a:r>
            <a:endParaRPr lang="en-US" sz="1200" dirty="0"/>
          </a:p>
          <a:p>
            <a:pPr algn="ctr" indent="0" marL="0">
              <a:buNone/>
            </a:pPr>
            <a:r>
              <a:rPr lang="en-US" sz="1100" dirty="0">
                <a:solidFill>
                  <a:schemeClr val="bg1"/>
                </a:solidFill>
              </a:rPr>
              <a:t>91 to 365</a:t>
            </a:r>
            <a:endParaRPr lang="en-US" sz="1200" dirty="0"/>
          </a:p>
        </p:txBody>
      </p:sp>
      <p:sp>
        <p:nvSpPr>
          <p:cNvPr id="22" name="Shape 19"/>
          <p:cNvSpPr/>
          <p:nvPr/>
        </p:nvSpPr>
        <p:spPr>
          <a:xfrm>
            <a:off x="6812280" y="4343400"/>
            <a:ext cx="137160" cy="0"/>
          </a:xfrm>
          <a:prstGeom prst="line">
            <a:avLst/>
          </a:prstGeom>
          <a:noFill/>
          <a:ln w="15875">
            <a:solidFill>
              <a:schemeClr val="tx2"/>
            </a:solidFill>
            <a:prstDash val="solid"/>
            <a:tailEnd type="triangle"/>
          </a:ln>
        </p:spPr>
      </p:sp>
      <p:sp>
        <p:nvSpPr>
          <p:cNvPr id="23" name="Text 20"/>
          <p:cNvSpPr txBox="1"/>
          <p:nvPr/>
        </p:nvSpPr>
        <p:spPr>
          <a:xfrm>
            <a:off x="69494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DOUBTFUL</a:t>
            </a:r>
            <a:endParaRPr lang="en-US" sz="1200" dirty="0"/>
          </a:p>
          <a:p>
            <a:pPr algn="ctr" indent="0" marL="0">
              <a:buNone/>
            </a:pPr>
            <a:r>
              <a:rPr lang="en-US" sz="1100" dirty="0">
                <a:solidFill>
                  <a:schemeClr val="bg1"/>
                </a:solidFill>
              </a:rPr>
              <a:t>366 to 1095</a:t>
            </a:r>
            <a:endParaRPr lang="en-US" sz="1200" dirty="0"/>
          </a:p>
        </p:txBody>
      </p:sp>
      <p:sp>
        <p:nvSpPr>
          <p:cNvPr id="24" name="Shape 21"/>
          <p:cNvSpPr/>
          <p:nvPr/>
        </p:nvSpPr>
        <p:spPr>
          <a:xfrm>
            <a:off x="8412480" y="4343400"/>
            <a:ext cx="137160" cy="0"/>
          </a:xfrm>
          <a:prstGeom prst="line">
            <a:avLst/>
          </a:prstGeom>
          <a:noFill/>
          <a:ln w="15875">
            <a:solidFill>
              <a:schemeClr val="tx2"/>
            </a:solidFill>
            <a:prstDash val="solid"/>
            <a:tailEnd type="triangle"/>
          </a:ln>
        </p:spPr>
      </p:sp>
      <p:sp>
        <p:nvSpPr>
          <p:cNvPr id="25" name="Text 22"/>
          <p:cNvSpPr txBox="1"/>
          <p:nvPr/>
        </p:nvSpPr>
        <p:spPr>
          <a:xfrm>
            <a:off x="8549640" y="3931920"/>
            <a:ext cx="1463040" cy="822960"/>
          </a:xfrm>
          <a:prstGeom prst="roundRect">
            <a:avLst>
              <a:gd name="adj" fmla="val 8889"/>
            </a:avLst>
          </a:prstGeom>
          <a:solidFill>
            <a:schemeClr val="accent3"/>
          </a:solidFill>
          <a:ln w="12700">
            <a:solidFill>
              <a:schemeClr val="accent3"/>
            </a:solidFill>
          </a:ln>
        </p:spPr>
        <p:txBody>
          <a:bodyPr wrap="square" lIns="25400" tIns="25400" rIns="25400" bIns="25400" rtlCol="0" anchor="ctr"/>
          <a:lstStyle/>
          <a:p>
            <a:pPr algn="ctr" indent="0" marL="0">
              <a:buNone/>
            </a:pPr>
            <a:r>
              <a:rPr lang="en-US" sz="1100" b="1" dirty="0">
                <a:solidFill>
                  <a:schemeClr val="bg1"/>
                </a:solidFill>
              </a:rPr>
              <a:t>LOSS</a:t>
            </a:r>
            <a:endParaRPr lang="en-US" sz="1200" dirty="0"/>
          </a:p>
          <a:p>
            <a:pPr algn="ctr" indent="0" marL="0">
              <a:buNone/>
            </a:pPr>
            <a:r>
              <a:rPr lang="en-US" sz="1100" dirty="0">
                <a:solidFill>
                  <a:schemeClr val="bg1"/>
                </a:solidFill>
              </a:rPr>
              <a:t>over 1095</a:t>
            </a:r>
            <a:endParaRPr lang="en-US" sz="1200" dirty="0"/>
          </a:p>
        </p:txBody>
      </p:sp>
      <p:sp>
        <p:nvSpPr>
          <p:cNvPr id="26" name="Shape 23"/>
          <p:cNvSpPr/>
          <p:nvPr/>
        </p:nvSpPr>
        <p:spPr>
          <a:xfrm>
            <a:off x="10012680" y="4343400"/>
            <a:ext cx="137160" cy="0"/>
          </a:xfrm>
          <a:prstGeom prst="line">
            <a:avLst/>
          </a:prstGeom>
          <a:noFill/>
          <a:ln w="15875">
            <a:solidFill>
              <a:schemeClr val="tx2"/>
            </a:solidFill>
            <a:prstDash val="solid"/>
            <a:tailEnd type="triangle"/>
          </a:ln>
        </p:spPr>
      </p:sp>
      <p:sp>
        <p:nvSpPr>
          <p:cNvPr id="27" name="Text 24"/>
          <p:cNvSpPr txBox="1"/>
          <p:nvPr/>
        </p:nvSpPr>
        <p:spPr>
          <a:xfrm>
            <a:off x="10149840" y="3931920"/>
            <a:ext cx="1463040" cy="822960"/>
          </a:xfrm>
          <a:prstGeom prst="roundRect">
            <a:avLst>
              <a:gd name="adj" fmla="val 8889"/>
            </a:avLst>
          </a:prstGeom>
          <a:solidFill>
            <a:schemeClr val="tx2"/>
          </a:solidFill>
          <a:ln w="12700">
            <a:solidFill>
              <a:schemeClr val="tx2"/>
            </a:solidFill>
          </a:ln>
        </p:spPr>
        <p:txBody>
          <a:bodyPr wrap="square" lIns="25400" tIns="25400" rIns="25400" bIns="25400" rtlCol="0" anchor="ctr"/>
          <a:lstStyle/>
          <a:p>
            <a:pPr algn="ctr" indent="0" marL="0">
              <a:buNone/>
            </a:pPr>
            <a:r>
              <a:rPr lang="en-US" sz="1100" b="1" dirty="0">
                <a:solidFill>
                  <a:schemeClr val="bg1"/>
                </a:solidFill>
              </a:rPr>
              <a:t>WRITTEN_OFF</a:t>
            </a:r>
            <a:endParaRPr lang="en-US" sz="1200" dirty="0"/>
          </a:p>
          <a:p>
            <a:pPr algn="ctr" indent="0" marL="0">
              <a:buNone/>
            </a:pPr>
            <a:r>
              <a:rPr lang="en-US" sz="1100" dirty="0">
                <a:solidFill>
                  <a:schemeClr val="bg1"/>
                </a:solidFill>
              </a:rPr>
              <a:t>not automated</a:t>
            </a:r>
            <a:endParaRPr lang="en-US" sz="1200" dirty="0"/>
          </a:p>
        </p:txBody>
      </p:sp>
      <p:sp>
        <p:nvSpPr>
          <p:cNvPr id="28" name="Shape 25"/>
          <p:cNvSpPr/>
          <p:nvPr/>
        </p:nvSpPr>
        <p:spPr>
          <a:xfrm flipH="1">
            <a:off x="1280160" y="2423160"/>
            <a:ext cx="3017520" cy="1508760"/>
          </a:xfrm>
          <a:prstGeom prst="line">
            <a:avLst/>
          </a:prstGeom>
          <a:noFill/>
          <a:ln w="22225">
            <a:solidFill>
              <a:schemeClr val="tx2"/>
            </a:solidFill>
            <a:prstDash val="solid"/>
            <a:tailEnd type="triangle"/>
          </a:ln>
        </p:spPr>
      </p:sp>
      <p:sp>
        <p:nvSpPr>
          <p:cNvPr id="29" name="Text 26"/>
          <p:cNvSpPr txBox="1"/>
          <p:nvPr/>
        </p:nvSpPr>
        <p:spPr>
          <a:xfrm>
            <a:off x="1371600" y="2971800"/>
            <a:ext cx="1097280" cy="228600"/>
          </a:xfrm>
          <a:prstGeom prst="rect">
            <a:avLst/>
          </a:prstGeom>
          <a:noFill/>
          <a:ln/>
        </p:spPr>
        <p:txBody>
          <a:bodyPr wrap="square" lIns="0" tIns="0" rIns="0" bIns="0" rtlCol="0" anchor="ctr"/>
          <a:lstStyle/>
          <a:p>
            <a:pPr algn="ctr" indent="0" marL="0">
              <a:buNone/>
            </a:pPr>
            <a:r>
              <a:rPr lang="en-US" sz="1000" i="1" dirty="0">
                <a:solidFill>
                  <a:schemeClr val="accent4"/>
                </a:solidFill>
              </a:rPr>
              <a:t>EMI missed</a:t>
            </a:r>
            <a:endParaRPr lang="en-US" sz="1000" dirty="0"/>
          </a:p>
        </p:txBody>
      </p:sp>
      <p:sp>
        <p:nvSpPr>
          <p:cNvPr id="30" name="Shape 27"/>
          <p:cNvSpPr/>
          <p:nvPr/>
        </p:nvSpPr>
        <p:spPr>
          <a:xfrm flipV="1">
            <a:off x="4663440" y="2423160"/>
            <a:ext cx="274320" cy="1508760"/>
          </a:xfrm>
          <a:prstGeom prst="line">
            <a:avLst/>
          </a:prstGeom>
          <a:noFill/>
          <a:ln w="22225">
            <a:solidFill>
              <a:schemeClr val="tx2"/>
            </a:solidFill>
            <a:prstDash val="dash"/>
            <a:tailEnd type="triangle"/>
          </a:ln>
        </p:spPr>
      </p:sp>
      <p:sp>
        <p:nvSpPr>
          <p:cNvPr id="31" name="Text 28"/>
          <p:cNvSpPr txBox="1"/>
          <p:nvPr/>
        </p:nvSpPr>
        <p:spPr>
          <a:xfrm>
            <a:off x="5029200" y="320040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all dues paid</a:t>
            </a:r>
            <a:endParaRPr lang="en-US" sz="1000" dirty="0"/>
          </a:p>
        </p:txBody>
      </p:sp>
      <p:sp>
        <p:nvSpPr>
          <p:cNvPr id="32" name="Text 29"/>
          <p:cNvSpPr txBox="1"/>
          <p:nvPr/>
        </p:nvSpPr>
        <p:spPr>
          <a:xfrm>
            <a:off x="6126480" y="3611880"/>
            <a:ext cx="5486400" cy="274320"/>
          </a:xfrm>
          <a:prstGeom prst="rect">
            <a:avLst/>
          </a:prstGeom>
          <a:noFill/>
          <a:ln/>
        </p:spPr>
        <p:txBody>
          <a:bodyPr wrap="square" lIns="0" tIns="0" rIns="0" bIns="0" rtlCol="0" anchor="t"/>
          <a:lstStyle/>
          <a:p>
            <a:pPr algn="r" indent="0" marL="0">
              <a:buNone/>
            </a:pPr>
            <a:r>
              <a:rPr lang="en-US" sz="1200" b="1" dirty="0">
                <a:solidFill>
                  <a:schemeClr val="accent4"/>
                </a:solidFill>
              </a:rPr>
              <a:t>Days past due on the oldest unpaid demand or instalment</a:t>
            </a:r>
            <a:endParaRPr lang="en-US" sz="1200" dirty="0"/>
          </a:p>
        </p:txBody>
      </p:sp>
      <p:sp>
        <p:nvSpPr>
          <p:cNvPr id="33" name="Text 30"/>
          <p:cNvSpPr txBox="1"/>
          <p:nvPr/>
        </p:nvSpPr>
        <p:spPr>
          <a:xfrm>
            <a:off x="54864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How it runs</a:t>
            </a:r>
            <a:endParaRPr lang="en-US" sz="1200" dirty="0"/>
          </a:p>
          <a:p>
            <a:pPr algn="l" indent="0" marL="0">
              <a:buNone/>
            </a:pPr>
            <a:r>
              <a:rPr lang="en-US" sz="1200" dirty="0">
                <a:solidFill>
                  <a:schemeClr val="tx1"/>
                </a:solidFill>
              </a:rPr>
              <a:t>POST /loan-accounts/delinquency-classifications with an as-of date recomputes every tracked account and marks the oldest late instalment OVERDUE.</a:t>
            </a:r>
            <a:endParaRPr lang="en-US" sz="1200" dirty="0"/>
          </a:p>
        </p:txBody>
      </p:sp>
      <p:sp>
        <p:nvSpPr>
          <p:cNvPr id="34" name="Text 31"/>
          <p:cNvSpPr txBox="1"/>
          <p:nvPr/>
        </p:nvSpPr>
        <p:spPr>
          <a:xfrm>
            <a:off x="429768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Payments blocked in</a:t>
            </a:r>
            <a:endParaRPr lang="en-US" sz="1200" dirty="0"/>
          </a:p>
          <a:p>
            <a:pPr algn="l" indent="0" marL="0">
              <a:buNone/>
            </a:pPr>
            <a:r>
              <a:rPr lang="en-US" sz="1200" dirty="0">
                <a:solidFill>
                  <a:schemeClr val="tx1"/>
                </a:solidFill>
              </a:rPr>
              <a:t>PENDING_DISBURSEMENT, CLOSED, FORECLOSED and WRITTEN_OFF accounts reject EMI, part-payment and foreclosure postings.</a:t>
            </a:r>
            <a:endParaRPr lang="en-US" sz="1200" dirty="0"/>
          </a:p>
        </p:txBody>
      </p:sp>
      <p:sp>
        <p:nvSpPr>
          <p:cNvPr id="35" name="Text 32"/>
          <p:cNvSpPr txBox="1"/>
          <p:nvPr/>
        </p:nvSpPr>
        <p:spPr>
          <a:xfrm>
            <a:off x="8046720" y="5029200"/>
            <a:ext cx="3566160" cy="1188720"/>
          </a:xfrm>
          <a:prstGeom prst="roundRect">
            <a:avLst>
              <a:gd name="adj" fmla="val 6154"/>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Customer view</a:t>
            </a:r>
            <a:endParaRPr lang="en-US" sz="1200" dirty="0"/>
          </a:p>
          <a:p>
            <a:pPr algn="l" indent="0" marL="0">
              <a:buNone/>
            </a:pPr>
            <a:r>
              <a:rPr lang="en-US" sz="1200" dirty="0">
                <a:solidFill>
                  <a:schemeClr val="tx1"/>
                </a:solidFill>
              </a:rPr>
              <a:t>The PDF statement shows plain wording, never NPA codes: for example "Payment overdue" instead of SMA1.</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 separate 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lending-admin-service only reads the Lending database; the few edits go through the owning service's own API</a:t>
            </a:r>
            <a:endParaRPr lang="en-US" sz="1400" dirty="0"/>
          </a:p>
        </p:txBody>
      </p:sp>
      <p:sp>
        <p:nvSpPr>
          <p:cNvPr id="5" name="Text 2"/>
          <p:cNvSpPr txBox="1"/>
          <p:nvPr/>
        </p:nvSpPr>
        <p:spPr>
          <a:xfrm>
            <a:off x="548640" y="2011680"/>
            <a:ext cx="2011680" cy="914400"/>
          </a:xfrm>
          <a:prstGeom prst="roundRect">
            <a:avLst>
              <a:gd name="adj" fmla="val 8000"/>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Operations user</a:t>
            </a:r>
            <a:endParaRPr lang="en-US" sz="1200" dirty="0"/>
          </a:p>
          <a:p>
            <a:pPr algn="ctr" indent="0" marL="0">
              <a:buNone/>
            </a:pPr>
            <a:r>
              <a:rPr lang="en-US" sz="1200" dirty="0">
                <a:solidFill>
                  <a:schemeClr val="bg1"/>
                </a:solidFill>
              </a:rPr>
              <a:t>Browser</a:t>
            </a:r>
            <a:endParaRPr lang="en-US" sz="1200" dirty="0"/>
          </a:p>
        </p:txBody>
      </p:sp>
      <p:sp>
        <p:nvSpPr>
          <p:cNvPr id="6" name="Text 3"/>
          <p:cNvSpPr txBox="1"/>
          <p:nvPr/>
        </p:nvSpPr>
        <p:spPr>
          <a:xfrm>
            <a:off x="3291840" y="1828800"/>
            <a:ext cx="3108960" cy="1280160"/>
          </a:xfrm>
          <a:prstGeom prst="roundRect">
            <a:avLst>
              <a:gd name="adj" fmla="val 5714"/>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400" b="1" dirty="0">
                <a:solidFill>
                  <a:schemeClr val="bg1"/>
                </a:solidFill>
              </a:rPr>
              <a:t>lending-admin-service</a:t>
            </a:r>
            <a:endParaRPr lang="en-US" sz="1200" dirty="0"/>
          </a:p>
          <a:p>
            <a:pPr algn="ctr" indent="0" marL="0">
              <a:buNone/>
            </a:pPr>
            <a:r>
              <a:rPr lang="en-US" sz="1200" dirty="0">
                <a:solidFill>
                  <a:schemeClr val="bg1"/>
                </a:solidFill>
              </a:rPr>
              <a:t>React UI + Spring Boot API</a:t>
            </a:r>
            <a:endParaRPr lang="en-US" sz="1200" dirty="0"/>
          </a:p>
          <a:p>
            <a:pPr algn="ctr" indent="0" marL="0">
              <a:buNone/>
            </a:pPr>
            <a:r>
              <a:rPr lang="en-US" sz="1100" dirty="0">
                <a:solidFill>
                  <a:schemeClr val="bg1"/>
                </a:solidFill>
              </a:rPr>
              <a:t>port 8082  |  HTTP Basic login</a:t>
            </a:r>
            <a:endParaRPr lang="en-US" sz="1200" dirty="0"/>
          </a:p>
        </p:txBody>
      </p:sp>
      <p:sp>
        <p:nvSpPr>
          <p:cNvPr id="7" name="Text 4"/>
          <p:cNvSpPr txBox="1"/>
          <p:nvPr/>
        </p:nvSpPr>
        <p:spPr>
          <a:xfrm>
            <a:off x="7223760" y="1828800"/>
            <a:ext cx="2377440" cy="1280160"/>
          </a:xfrm>
          <a:prstGeom prst="roundRect">
            <a:avLst>
              <a:gd name="adj" fmla="val 5714"/>
            </a:avLst>
          </a:prstGeom>
          <a:solidFill>
            <a:schemeClr val="accent2"/>
          </a:solidFill>
          <a:ln w="12700">
            <a:solidFill>
              <a:schemeClr val="accent2"/>
            </a:solidFill>
          </a:ln>
        </p:spPr>
        <p:txBody>
          <a:bodyPr wrap="square" lIns="50800" tIns="50800" rIns="50800" bIns="50800" rtlCol="0" anchor="ctr"/>
          <a:lstStyle/>
          <a:p>
            <a:pPr algn="ctr" indent="0" marL="0">
              <a:buNone/>
            </a:pPr>
            <a:r>
              <a:rPr lang="en-US" sz="1400" b="1" dirty="0">
                <a:solidFill>
                  <a:schemeClr val="tx1"/>
                </a:solidFill>
              </a:rPr>
              <a:t>PostgreSQL "lending"</a:t>
            </a:r>
            <a:endParaRPr lang="en-US" sz="1200" dirty="0"/>
          </a:p>
          <a:p>
            <a:pPr algn="ctr" indent="0" marL="0">
              <a:buNone/>
            </a:pPr>
            <a:r>
              <a:rPr lang="en-US" sz="1200" dirty="0">
                <a:solidFill>
                  <a:schemeClr val="tx1"/>
                </a:solidFill>
              </a:rPr>
              <a:t>public + batch schemas</a:t>
            </a:r>
            <a:endParaRPr lang="en-US" sz="1200" dirty="0"/>
          </a:p>
        </p:txBody>
      </p:sp>
      <p:sp>
        <p:nvSpPr>
          <p:cNvPr id="8" name="Text 5"/>
          <p:cNvSpPr txBox="1"/>
          <p:nvPr/>
        </p:nvSpPr>
        <p:spPr>
          <a:xfrm>
            <a:off x="3291840" y="3749040"/>
            <a:ext cx="3108960" cy="822960"/>
          </a:xfrm>
          <a:prstGeom prst="roundRect">
            <a:avLst>
              <a:gd name="adj" fmla="val 8889"/>
            </a:avLst>
          </a:prstGeom>
          <a:solidFill>
            <a:schemeClr val="accent4"/>
          </a:solidFill>
          <a:ln w="12700">
            <a:solidFill>
              <a:schemeClr val="accent4"/>
            </a:solidFill>
          </a:ln>
        </p:spPr>
        <p:txBody>
          <a:bodyPr wrap="square" lIns="50800" tIns="50800" rIns="50800" bIns="50800" rtlCol="0" anchor="ctr"/>
          <a:lstStyle/>
          <a:p>
            <a:pPr algn="ctr" indent="0" marL="0">
              <a:buNone/>
            </a:pPr>
            <a:r>
              <a:rPr lang="en-US" sz="1200" dirty="0">
                <a:solidFill>
                  <a:schemeClr val="bg1"/>
                </a:solidFill>
              </a:rPr>
              <a:t>lending-service</a:t>
            </a:r>
            <a:endParaRPr lang="en-US" sz="1200" dirty="0"/>
          </a:p>
          <a:p>
            <a:pPr algn="ctr" indent="0" marL="0">
              <a:buNone/>
            </a:pPr>
            <a:r>
              <a:rPr lang="en-US" sz="1200" dirty="0">
                <a:solidFill>
                  <a:schemeClr val="bg1"/>
                </a:solidFill>
              </a:rPr>
              <a:t>(statement PDF only)</a:t>
            </a:r>
            <a:endParaRPr lang="en-US" sz="1200" dirty="0"/>
          </a:p>
        </p:txBody>
      </p:sp>
      <p:sp>
        <p:nvSpPr>
          <p:cNvPr id="9" name="Shape 6"/>
          <p:cNvSpPr/>
          <p:nvPr/>
        </p:nvSpPr>
        <p:spPr>
          <a:xfrm>
            <a:off x="2560320" y="2468880"/>
            <a:ext cx="731520" cy="0"/>
          </a:xfrm>
          <a:prstGeom prst="line">
            <a:avLst/>
          </a:prstGeom>
          <a:noFill/>
          <a:ln w="22225">
            <a:solidFill>
              <a:schemeClr val="tx2"/>
            </a:solidFill>
            <a:prstDash val="solid"/>
            <a:tailEnd type="triangle"/>
          </a:ln>
        </p:spPr>
      </p:sp>
      <p:sp>
        <p:nvSpPr>
          <p:cNvPr id="10" name="Text 7"/>
          <p:cNvSpPr txBox="1"/>
          <p:nvPr/>
        </p:nvSpPr>
        <p:spPr>
          <a:xfrm>
            <a:off x="2560320" y="2194560"/>
            <a:ext cx="731520" cy="228600"/>
          </a:xfrm>
          <a:prstGeom prst="rect">
            <a:avLst/>
          </a:prstGeom>
          <a:noFill/>
          <a:ln/>
        </p:spPr>
        <p:txBody>
          <a:bodyPr wrap="square" lIns="0" tIns="0" rIns="0" bIns="0" rtlCol="0" anchor="ctr"/>
          <a:lstStyle/>
          <a:p>
            <a:pPr algn="ctr" indent="0" marL="0">
              <a:buNone/>
            </a:pPr>
            <a:r>
              <a:rPr lang="en-US" sz="1000" i="1" dirty="0">
                <a:solidFill>
                  <a:schemeClr val="accent4"/>
                </a:solidFill>
              </a:rPr>
              <a:t>HTTPS</a:t>
            </a:r>
            <a:endParaRPr lang="en-US" sz="1000" dirty="0"/>
          </a:p>
        </p:txBody>
      </p:sp>
      <p:sp>
        <p:nvSpPr>
          <p:cNvPr id="11" name="Shape 8"/>
          <p:cNvSpPr/>
          <p:nvPr/>
        </p:nvSpPr>
        <p:spPr>
          <a:xfrm>
            <a:off x="6400800" y="2468880"/>
            <a:ext cx="822960" cy="0"/>
          </a:xfrm>
          <a:prstGeom prst="line">
            <a:avLst/>
          </a:prstGeom>
          <a:noFill/>
          <a:ln w="22225">
            <a:solidFill>
              <a:schemeClr val="tx2"/>
            </a:solidFill>
            <a:prstDash val="solid"/>
            <a:tailEnd type="triangle"/>
          </a:ln>
        </p:spPr>
      </p:sp>
      <p:sp>
        <p:nvSpPr>
          <p:cNvPr id="12" name="Text 9"/>
          <p:cNvSpPr txBox="1"/>
          <p:nvPr/>
        </p:nvSpPr>
        <p:spPr>
          <a:xfrm>
            <a:off x="6355080" y="2194560"/>
            <a:ext cx="914400" cy="228600"/>
          </a:xfrm>
          <a:prstGeom prst="rect">
            <a:avLst/>
          </a:prstGeom>
          <a:noFill/>
          <a:ln/>
        </p:spPr>
        <p:txBody>
          <a:bodyPr wrap="square" lIns="0" tIns="0" rIns="0" bIns="0" rtlCol="0" anchor="ctr"/>
          <a:lstStyle/>
          <a:p>
            <a:pPr algn="ctr" indent="0" marL="0">
              <a:buNone/>
            </a:pPr>
            <a:r>
              <a:rPr lang="en-US" sz="1000" i="1" dirty="0">
                <a:solidFill>
                  <a:schemeClr val="accent4"/>
                </a:solidFill>
              </a:rPr>
              <a:t>SELECT only</a:t>
            </a:r>
            <a:endParaRPr lang="en-US" sz="1000" dirty="0"/>
          </a:p>
        </p:txBody>
      </p:sp>
      <p:sp>
        <p:nvSpPr>
          <p:cNvPr id="13" name="Shape 10"/>
          <p:cNvSpPr/>
          <p:nvPr/>
        </p:nvSpPr>
        <p:spPr>
          <a:xfrm>
            <a:off x="4846320" y="3108960"/>
            <a:ext cx="0" cy="640080"/>
          </a:xfrm>
          <a:prstGeom prst="line">
            <a:avLst/>
          </a:prstGeom>
          <a:noFill/>
          <a:ln w="22225">
            <a:solidFill>
              <a:schemeClr val="tx2"/>
            </a:solidFill>
            <a:prstDash val="dash"/>
            <a:tailEnd type="triangle"/>
          </a:ln>
        </p:spPr>
      </p:sp>
      <p:sp>
        <p:nvSpPr>
          <p:cNvPr id="14" name="Text 11"/>
          <p:cNvSpPr txBox="1"/>
          <p:nvPr/>
        </p:nvSpPr>
        <p:spPr>
          <a:xfrm>
            <a:off x="4937760" y="3291840"/>
            <a:ext cx="1097280" cy="228600"/>
          </a:xfrm>
          <a:prstGeom prst="rect">
            <a:avLst/>
          </a:prstGeom>
          <a:noFill/>
          <a:ln/>
        </p:spPr>
        <p:txBody>
          <a:bodyPr wrap="square" lIns="0" tIns="0" rIns="0" bIns="0" rtlCol="0" anchor="ctr"/>
          <a:lstStyle/>
          <a:p>
            <a:pPr algn="l" indent="0" marL="0">
              <a:buNone/>
            </a:pPr>
            <a:r>
              <a:rPr lang="en-US" sz="1000" i="1" dirty="0">
                <a:solidFill>
                  <a:schemeClr val="accent4"/>
                </a:solidFill>
              </a:rPr>
              <a:t>PDF proxy</a:t>
            </a:r>
            <a:endParaRPr lang="en-US" sz="1000" dirty="0"/>
          </a:p>
        </p:txBody>
      </p:sp>
      <p:sp>
        <p:nvSpPr>
          <p:cNvPr id="15" name="Text 12"/>
          <p:cNvSpPr txBox="1"/>
          <p:nvPr/>
        </p:nvSpPr>
        <p:spPr>
          <a:xfrm>
            <a:off x="9875520" y="1783080"/>
            <a:ext cx="1828800" cy="457200"/>
          </a:xfrm>
          <a:prstGeom prst="rect">
            <a:avLst/>
          </a:prstGeom>
          <a:noFill/>
          <a:ln/>
        </p:spPr>
        <p:txBody>
          <a:bodyPr wrap="square" lIns="0" tIns="0" rIns="0" bIns="0" rtlCol="0" anchor="t"/>
          <a:lstStyle/>
          <a:p>
            <a:pPr indent="0" marL="0">
              <a:buNone/>
            </a:pPr>
            <a:r>
              <a:rPr lang="en-US" sz="1200" b="1" dirty="0">
                <a:solidFill>
                  <a:schemeClr val="tx2"/>
                </a:solidFill>
              </a:rPr>
              <a:t>Why read the database directly</a:t>
            </a:r>
            <a:endParaRPr lang="en-US" sz="1200" dirty="0"/>
          </a:p>
        </p:txBody>
      </p:sp>
      <p:sp>
        <p:nvSpPr>
          <p:cNvPr id="16" name="Text 13"/>
          <p:cNvSpPr txBox="1"/>
          <p:nvPr/>
        </p:nvSpPr>
        <p:spPr>
          <a:xfrm>
            <a:off x="9875520" y="2286000"/>
            <a:ext cx="1737360" cy="1463040"/>
          </a:xfrm>
          <a:prstGeom prst="rect">
            <a:avLst/>
          </a:prstGeom>
          <a:noFill/>
          <a:ln/>
        </p:spPr>
        <p:txBody>
          <a:bodyPr wrap="square" lIns="0" tIns="0" rIns="0" bIns="0" rtlCol="0" anchor="t"/>
          <a:lstStyle/>
          <a:p>
            <a:pPr indent="0" marL="0">
              <a:buNone/>
            </a:pPr>
            <a:r>
              <a:rPr lang="en-US" sz="1100" dirty="0">
                <a:solidFill>
                  <a:schemeClr val="tx1"/>
                </a:solidFill>
              </a:rPr>
              <a:t>The REST API cannot list, search or total up the book. Adding that would change the core service.</a:t>
            </a:r>
            <a:endParaRPr lang="en-US" sz="1100" dirty="0"/>
          </a:p>
        </p:txBody>
      </p:sp>
      <p:sp>
        <p:nvSpPr>
          <p:cNvPr id="17" name="Text 14"/>
          <p:cNvSpPr txBox="1"/>
          <p:nvPr/>
        </p:nvSpPr>
        <p:spPr>
          <a:xfrm>
            <a:off x="54864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Read-only by construction</a:t>
            </a:r>
            <a:endParaRPr lang="en-US" sz="1200" dirty="0"/>
          </a:p>
          <a:p>
            <a:pPr algn="l" indent="0" marL="0">
              <a:buNone/>
            </a:pPr>
            <a:r>
              <a:rPr lang="en-US" sz="1200" dirty="0">
                <a:solidFill>
                  <a:schemeClr val="tx1"/>
                </a:solidFill>
              </a:rPr>
              <a:t>Hikari read-only pool and SET SESSION ... READ ONLY on every connection. An optional SELECT-only DB role adds a second lock.</a:t>
            </a:r>
            <a:endParaRPr lang="en-US" sz="1200" dirty="0"/>
          </a:p>
        </p:txBody>
      </p:sp>
      <p:sp>
        <p:nvSpPr>
          <p:cNvPr id="18" name="Text 15"/>
          <p:cNvSpPr txBox="1"/>
          <p:nvPr/>
        </p:nvSpPr>
        <p:spPr>
          <a:xfrm>
            <a:off x="429768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Current schedule rule</a:t>
            </a:r>
            <a:endParaRPr lang="en-US" sz="1200" dirty="0"/>
          </a:p>
          <a:p>
            <a:pPr algn="l" indent="0" marL="0">
              <a:buNone/>
            </a:pPr>
            <a:r>
              <a:rPr lang="en-US" sz="1200" dirty="0">
                <a:solidFill>
                  <a:schemeClr val="tx1"/>
                </a:solidFill>
              </a:rPr>
              <a:t>A part-payment or rate reset creates a new schedule version; the portal shows the latest per instalment and keeps older versions viewable.</a:t>
            </a:r>
            <a:endParaRPr lang="en-US" sz="1200" dirty="0"/>
          </a:p>
        </p:txBody>
      </p:sp>
      <p:sp>
        <p:nvSpPr>
          <p:cNvPr id="19" name="Text 16"/>
          <p:cNvSpPr txBox="1"/>
          <p:nvPr/>
        </p:nvSpPr>
        <p:spPr>
          <a:xfrm>
            <a:off x="8046720" y="4892040"/>
            <a:ext cx="3566160" cy="1371600"/>
          </a:xfrm>
          <a:prstGeom prst="roundRect">
            <a:avLst>
              <a:gd name="adj" fmla="val 5333"/>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One image, one service</a:t>
            </a:r>
            <a:endParaRPr lang="en-US" sz="1200" dirty="0"/>
          </a:p>
          <a:p>
            <a:pPr algn="l" indent="0" marL="0">
              <a:buNone/>
            </a:pPr>
            <a:r>
              <a:rPr lang="en-US" sz="1200" dirty="0">
                <a:solidFill>
                  <a:schemeClr val="tx1"/>
                </a:solidFill>
              </a:rPr>
              <a:t>Node builds the UI, Maven bundles it into the jar, a JRE image runs it. Registered in the root pom, render.yaml and docker-compose.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the portal shows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Inquiry on accounts, schedules, accruals, payments and the book as a whole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2103120"/>
                <a:gridCol w="5212080"/>
              </a:tblGrid>
              <a:tr h="475488">
                <a:tc>
                  <a:txBody>
                    <a:bodyPr/>
                    <a:lstStyle/>
                    <a:p>
                      <a:pPr indent="0" marL="0">
                        <a:buNone/>
                      </a:pPr>
                      <a:r>
                        <a:rPr lang="en-US" sz="1200" b="1" dirty="0">
                          <a:solidFill>
                            <a:schemeClr val="bg1"/>
                          </a:solidFill>
                        </a:rPr>
                        <a:t>Screen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gives you</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75488">
                <a:tc>
                  <a:txBody>
                    <a:bodyPr/>
                    <a:lstStyle/>
                    <a:p>
                      <a:pPr indent="0" marL="0">
                        <a:buNone/>
                      </a:pPr>
                      <a:r>
                        <a:rPr lang="en-US" sz="1300" b="1" dirty="0">
                          <a:solidFill>
                            <a:schemeClr val="tx2"/>
                          </a:solidFill>
                        </a:rPr>
                        <a:t>Dashboard</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Accounts, outstanding principal, overdue, due in 7 days, collections month to date, status mix, trends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Accounts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Search by number or customer; filter by status, type, product; sort and page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Account detail</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Overview, Amortization (all versions, CSV), Accruals (range and chart), Payments (CSV), Mortgage, Statement PDF</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Upcoming payments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Due in 7, 15, 30, 60 or 90 days, by product, with totals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Overdue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Unpaid past due, days past due, buckets 1-30, 31-60, 61-90, 90+</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Payments and Accruals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Book-wide EMI transactions with filters; daily accrual totals with drill-down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Ledger outbox and Batch</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Posting status and retries; 36 job slots and recent executions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2"/>
                          </a:solidFill>
                        </a:rPr>
                        <a:t>Products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300" dirty="0">
                          <a:solidFill>
                            <a:srgbClr val="000000"/>
                          </a:solidFill>
                        </a:rPr>
                        <a:t>Loan products: default terms, rate, spread, amount and tenure limits; create and edit (saved through lending-service)</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2"/>
                          </a:solidFill>
                        </a:rPr>
                        <a:t>Configuration</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300" dirty="0">
                          <a:solidFill>
                            <a:srgbClr val="000000"/>
                          </a:solidFill>
                        </a:rPr>
                        <a:t>Edit batch job settings; view every service's settings and the fixed business rules</a:t>
                      </a:r>
                      <a:endParaRPr lang="en-US" sz="13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8229600" y="1463040"/>
            <a:ext cx="3383280" cy="2377440"/>
          </a:xfrm>
          <a:prstGeom prst="roundRect">
            <a:avLst>
              <a:gd name="adj" fmla="val 3077"/>
            </a:avLst>
          </a:prstGeom>
          <a:solidFill>
            <a:schemeClr val="accent1">
              <a:alpha val="10000"/>
            </a:schemeClr>
          </a:solidFill>
          <a:ln w="12700">
            <a:solidFill>
              <a:schemeClr val="accent1"/>
            </a:solidFill>
          </a:ln>
        </p:spPr>
        <p:txBody>
          <a:bodyPr wrap="square" lIns="152400" tIns="152400" rIns="152400" bIns="152400" rtlCol="0" anchor="t"/>
          <a:lstStyle/>
          <a:p>
            <a:pPr algn="l" indent="0" marL="0">
              <a:buNone/>
            </a:pPr>
            <a:r>
              <a:rPr lang="en-US" sz="1600" b="1" dirty="0">
                <a:solidFill>
                  <a:schemeClr val="tx2"/>
                </a:solidFill>
              </a:rPr>
              <a:t>Sign in</a:t>
            </a:r>
            <a:endParaRPr lang="en-US" sz="1200" dirty="0"/>
          </a:p>
          <a:p>
            <a:pPr algn="l" indent="0" marL="0">
              <a:buNone/>
            </a:pPr>
            <a:r>
              <a:rPr lang="en-US" sz="1400" dirty="0">
                <a:solidFill>
                  <a:schemeClr val="tx1"/>
                </a:solidFill>
              </a:rPr>
              <a:t>User id: admin</a:t>
            </a:r>
            <a:endParaRPr lang="en-US" sz="1200" dirty="0"/>
          </a:p>
          <a:p>
            <a:pPr algn="l" indent="0" marL="0">
              <a:buNone/>
            </a:pPr>
            <a:r>
              <a:rPr lang="en-US" sz="1200" dirty="0">
                <a:solidFill>
                  <a:schemeClr val="tx1"/>
                </a:solidFill>
              </a:rPr>
              <a:t>Password: ADMIN_PASSWORD from the Render dashboard (Environment tab). Local default: changeme</a:t>
            </a:r>
            <a:endParaRPr lang="en-US" sz="1200" dirty="0"/>
          </a:p>
          <a:p>
            <a:pPr algn="l" indent="0" marL="0">
              <a:buNone/>
            </a:pPr>
            <a:r>
              <a:rPr lang="en-US" sz="600" dirty="0">
                <a:solidFill>
                  <a:schemeClr val="tx1"/>
                </a:solidFill>
              </a:rPr>
              <a:t> </a:t>
            </a:r>
            <a:endParaRPr lang="en-US" sz="1200" dirty="0"/>
          </a:p>
          <a:p>
            <a:pPr algn="l" indent="0" marL="0">
              <a:buNone/>
            </a:pPr>
            <a:r>
              <a:rPr lang="en-US" sz="1600" b="1" dirty="0">
                <a:solidFill>
                  <a:schemeClr val="tx2"/>
                </a:solidFill>
              </a:rPr>
              <a:t>Limits</a:t>
            </a:r>
            <a:endParaRPr lang="en-US" sz="1200" dirty="0"/>
          </a:p>
          <a:p>
            <a:pPr algn="l" indent="0" marL="0">
              <a:buNone/>
            </a:pPr>
            <a:r>
              <a:rPr lang="en-US" sz="1200" dirty="0">
                <a:solidFill>
                  <a:schemeClr val="tx1"/>
                </a:solidFill>
              </a:rPr>
              <a:t>Read-only except batch job settings and loan products, saved through the batch service and lending-service. One shared login, no roles or audit trail yet.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Configuration: what can be changed, and where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Batch job settings are editable here (loan products on the Products screen); everything else needs a redeploy or a code change</a:t>
            </a:r>
            <a:endParaRPr lang="en-US" sz="1400" dirty="0"/>
          </a:p>
        </p:txBody>
      </p:sp>
      <p:sp>
        <p:nvSpPr>
          <p:cNvPr id="5" name="Text 2"/>
          <p:cNvSpPr txBox="1"/>
          <p:nvPr/>
        </p:nvSpPr>
        <p:spPr>
          <a:xfrm>
            <a:off x="548640" y="1463040"/>
            <a:ext cx="3566160" cy="4023360"/>
          </a:xfrm>
          <a:prstGeom prst="roundRect">
            <a:avLst>
              <a:gd name="adj" fmla="val 2051"/>
            </a:avLst>
          </a:prstGeom>
          <a:solidFill>
            <a:schemeClr val="accent1">
              <a:alpha val="12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73152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Editable now</a:t>
            </a:r>
            <a:endParaRPr lang="en-US" sz="1800" dirty="0"/>
          </a:p>
        </p:txBody>
      </p:sp>
      <p:sp>
        <p:nvSpPr>
          <p:cNvPr id="7" name="Text 4"/>
          <p:cNvSpPr txBox="1"/>
          <p:nvPr/>
        </p:nvSpPr>
        <p:spPr>
          <a:xfrm>
            <a:off x="73152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Configuration screen &gt; Batch jobs</a:t>
            </a:r>
            <a:endParaRPr lang="en-US" sz="1100" dirty="0"/>
          </a:p>
        </p:txBody>
      </p:sp>
      <p:sp>
        <p:nvSpPr>
          <p:cNvPr id="8" name="Text 5"/>
          <p:cNvSpPr txBox="1"/>
          <p:nvPr/>
        </p:nvSpPr>
        <p:spPr>
          <a:xfrm>
            <a:off x="73152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Per job, 37 jobs: enabled, schedule (cron), restartable</a:t>
            </a:r>
            <a:endParaRPr lang="en-US" sz="1400" dirty="0"/>
          </a:p>
          <a:p>
            <a:pPr marL="342900" indent="-342900">
              <a:spcAft>
                <a:spcPts val="800"/>
              </a:spcAft>
              <a:buSzPct val="100000"/>
              <a:buChar char="•"/>
            </a:pPr>
            <a:r>
              <a:rPr lang="en-US" sz="1400" dirty="0">
                <a:solidFill>
                  <a:schemeClr val="tx1"/>
                </a:solidFill>
              </a:rPr>
              <a:t>Chunk size, concurrency, thread limit (chunk jobs)</a:t>
            </a:r>
            <a:endParaRPr lang="en-US" sz="1400" dirty="0"/>
          </a:p>
          <a:p>
            <a:pPr marL="342900" indent="-342900">
              <a:spcAft>
                <a:spcPts val="800"/>
              </a:spcAft>
              <a:buSzPct val="100000"/>
              <a:buChar char="•"/>
            </a:pPr>
            <a:r>
              <a:rPr lang="en-US" sz="1400" dirty="0">
                <a:solidFill>
                  <a:schemeClr val="tx1"/>
                </a:solidFill>
              </a:rPr>
              <a:t>Retry limit, skip limit, timeout, run order</a:t>
            </a:r>
            <a:endParaRPr lang="en-US" sz="1400" dirty="0"/>
          </a:p>
          <a:p>
            <a:pPr marL="342900" indent="-342900">
              <a:spcAft>
                <a:spcPts val="800"/>
              </a:spcAft>
              <a:buSzPct val="100000"/>
              <a:buChar char="•"/>
            </a:pPr>
            <a:r>
              <a:rPr lang="en-US" sz="1400" dirty="0">
                <a:solidFill>
                  <a:schemeClr val="tx1"/>
                </a:solidFill>
              </a:rPr>
              <a:t>Saved through the batch service (validated, version-checked), then Apply = reload; no restart</a:t>
            </a:r>
            <a:endParaRPr lang="en-US" sz="1400" dirty="0"/>
          </a:p>
        </p:txBody>
      </p:sp>
      <p:sp>
        <p:nvSpPr>
          <p:cNvPr id="9" name="Text 6"/>
          <p:cNvSpPr txBox="1"/>
          <p:nvPr/>
        </p:nvSpPr>
        <p:spPr>
          <a:xfrm>
            <a:off x="4297680" y="1463040"/>
            <a:ext cx="3566160" cy="4023360"/>
          </a:xfrm>
          <a:prstGeom prst="roundRect">
            <a:avLst>
              <a:gd name="adj" fmla="val 2051"/>
            </a:avLst>
          </a:prstGeom>
          <a:solidFill>
            <a:schemeClr val="accent4">
              <a:alpha val="12000"/>
            </a:schemeClr>
          </a:solidFill>
          <a:ln w="19050">
            <a:solidFill>
              <a:schemeClr val="accent4"/>
            </a:solidFill>
          </a:ln>
        </p:spPr>
        <p:txBody>
          <a:bodyPr wrap="square" lIns="50800" tIns="50800" rIns="50800" bIns="50800" rtlCol="0" anchor="ctr"/>
          <a:lstStyle/>
          <a:p>
            <a:pPr algn="ctr" indent="0" marL="0">
              <a:buNone/>
            </a:pPr>
            <a:endParaRPr lang="en-US" sz="1200" dirty="0"/>
          </a:p>
        </p:txBody>
      </p:sp>
      <p:sp>
        <p:nvSpPr>
          <p:cNvPr id="10" name="Text 7"/>
          <p:cNvSpPr txBox="1"/>
          <p:nvPr/>
        </p:nvSpPr>
        <p:spPr>
          <a:xfrm>
            <a:off x="448056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Environment variables</a:t>
            </a:r>
            <a:endParaRPr lang="en-US" sz="1800" dirty="0"/>
          </a:p>
        </p:txBody>
      </p:sp>
      <p:sp>
        <p:nvSpPr>
          <p:cNvPr id="11" name="Text 8"/>
          <p:cNvSpPr txBox="1"/>
          <p:nvPr/>
        </p:nvSpPr>
        <p:spPr>
          <a:xfrm>
            <a:off x="448056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Service settings tab (view); change in Render or compose</a:t>
            </a:r>
            <a:endParaRPr lang="en-US" sz="1100" dirty="0"/>
          </a:p>
        </p:txBody>
      </p:sp>
      <p:sp>
        <p:nvSpPr>
          <p:cNvPr id="12" name="Text 9"/>
          <p:cNvSpPr txBox="1"/>
          <p:nvPr/>
        </p:nvSpPr>
        <p:spPr>
          <a:xfrm>
            <a:off x="448056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Database host, user, password, pool size (all three)</a:t>
            </a:r>
            <a:endParaRPr lang="en-US" sz="1400" dirty="0"/>
          </a:p>
          <a:p>
            <a:pPr marL="342900" indent="-342900">
              <a:spcAft>
                <a:spcPts val="800"/>
              </a:spcAft>
              <a:buSzPct val="100000"/>
              <a:buChar char="•"/>
            </a:pPr>
            <a:r>
              <a:rPr lang="en-US" sz="1400" dirty="0">
                <a:solidFill>
                  <a:schemeClr val="tx1"/>
                </a:solidFill>
              </a:rPr>
              <a:t>Ports, JVM heap, profile; BUSINESS_DATE_*, BATCH_EOD_*</a:t>
            </a:r>
            <a:endParaRPr lang="en-US" sz="1400" dirty="0"/>
          </a:p>
          <a:p>
            <a:pPr marL="342900" indent="-342900">
              <a:spcAft>
                <a:spcPts val="800"/>
              </a:spcAft>
              <a:buSzPct val="100000"/>
              <a:buChar char="•"/>
            </a:pPr>
            <a:r>
              <a:rPr lang="en-US" sz="1400" dirty="0">
                <a:solidFill>
                  <a:schemeClr val="tx1"/>
                </a:solidFill>
              </a:rPr>
              <a:t>Logins: ADMIN_*, BATCH_ADMIN_*; links: LENDING_SERVICE_URL, BATCH_SERVICE_URL</a:t>
            </a:r>
            <a:endParaRPr lang="en-US" sz="1400" dirty="0"/>
          </a:p>
          <a:p>
            <a:pPr marL="342900" indent="-342900">
              <a:spcAft>
                <a:spcPts val="800"/>
              </a:spcAft>
              <a:buSzPct val="100000"/>
              <a:buChar char="•"/>
            </a:pPr>
            <a:r>
              <a:rPr lang="en-US" sz="1400" dirty="0">
                <a:solidFill>
                  <a:schemeClr val="tx1"/>
                </a:solidFill>
              </a:rPr>
              <a:t>Statement text and timezone; Kafka address and timeout</a:t>
            </a:r>
            <a:endParaRPr lang="en-US" sz="1400" dirty="0"/>
          </a:p>
          <a:p>
            <a:pPr marL="342900" indent="-342900">
              <a:spcAft>
                <a:spcPts val="800"/>
              </a:spcAft>
              <a:buSzPct val="100000"/>
              <a:buChar char="•"/>
            </a:pPr>
            <a:r>
              <a:rPr lang="en-US" sz="1400" dirty="0">
                <a:solidFill>
                  <a:schemeClr val="tx1"/>
                </a:solidFill>
              </a:rPr>
              <a:t>Takes effect after a restart of that service</a:t>
            </a:r>
            <a:endParaRPr lang="en-US" sz="1400" dirty="0"/>
          </a:p>
        </p:txBody>
      </p:sp>
      <p:sp>
        <p:nvSpPr>
          <p:cNvPr id="13" name="Text 10"/>
          <p:cNvSpPr txBox="1"/>
          <p:nvPr/>
        </p:nvSpPr>
        <p:spPr>
          <a:xfrm>
            <a:off x="8046720" y="1463040"/>
            <a:ext cx="3566160" cy="4023360"/>
          </a:xfrm>
          <a:prstGeom prst="roundRect">
            <a:avLst>
              <a:gd name="adj" fmla="val 2051"/>
            </a:avLst>
          </a:prstGeom>
          <a:solidFill>
            <a:schemeClr val="accent2">
              <a:alpha val="12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14" name="Text 11"/>
          <p:cNvSpPr txBox="1"/>
          <p:nvPr/>
        </p:nvSpPr>
        <p:spPr>
          <a:xfrm>
            <a:off x="8229600" y="1572768"/>
            <a:ext cx="3200400" cy="365760"/>
          </a:xfrm>
          <a:prstGeom prst="rect">
            <a:avLst/>
          </a:prstGeom>
          <a:noFill/>
          <a:ln/>
        </p:spPr>
        <p:txBody>
          <a:bodyPr wrap="square" lIns="0" tIns="0" rIns="0" bIns="0" rtlCol="0" anchor="t"/>
          <a:lstStyle/>
          <a:p>
            <a:pPr indent="0" marL="0">
              <a:buNone/>
            </a:pPr>
            <a:r>
              <a:rPr lang="en-US" sz="1800" b="1" dirty="0">
                <a:solidFill>
                  <a:schemeClr val="tx2"/>
                </a:solidFill>
              </a:rPr>
              <a:t>Fixed in code</a:t>
            </a:r>
            <a:endParaRPr lang="en-US" sz="1800" dirty="0"/>
          </a:p>
        </p:txBody>
      </p:sp>
      <p:sp>
        <p:nvSpPr>
          <p:cNvPr id="15" name="Text 12"/>
          <p:cNvSpPr txBox="1"/>
          <p:nvPr/>
        </p:nvSpPr>
        <p:spPr>
          <a:xfrm>
            <a:off x="8229600" y="1965960"/>
            <a:ext cx="3246120" cy="457200"/>
          </a:xfrm>
          <a:prstGeom prst="rect">
            <a:avLst/>
          </a:prstGeom>
          <a:noFill/>
          <a:ln/>
        </p:spPr>
        <p:txBody>
          <a:bodyPr wrap="square" lIns="0" tIns="0" rIns="0" bIns="0" rtlCol="0" anchor="t"/>
          <a:lstStyle/>
          <a:p>
            <a:pPr indent="0" marL="0">
              <a:buNone/>
            </a:pPr>
            <a:r>
              <a:rPr lang="en-US" sz="1100" dirty="0">
                <a:solidFill>
                  <a:schemeClr val="accent4"/>
                </a:solidFill>
              </a:rPr>
              <a:t>Fixed business rules tab (view)</a:t>
            </a:r>
            <a:endParaRPr lang="en-US" sz="1100" dirty="0"/>
          </a:p>
        </p:txBody>
      </p:sp>
      <p:sp>
        <p:nvSpPr>
          <p:cNvPr id="16" name="Text 13"/>
          <p:cNvSpPr txBox="1"/>
          <p:nvPr/>
        </p:nvSpPr>
        <p:spPr>
          <a:xfrm>
            <a:off x="8229600" y="2514600"/>
            <a:ext cx="324612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Accrual formula and day-count conventions</a:t>
            </a:r>
            <a:endParaRPr lang="en-US" sz="1400" dirty="0"/>
          </a:p>
          <a:p>
            <a:pPr marL="342900" indent="-342900">
              <a:spcAft>
                <a:spcPts val="800"/>
              </a:spcAft>
              <a:buSzPct val="100000"/>
              <a:buChar char="•"/>
            </a:pPr>
            <a:r>
              <a:rPr lang="en-US" sz="1400" dirty="0">
                <a:solidFill>
                  <a:schemeClr val="tx1"/>
                </a:solidFill>
              </a:rPr>
              <a:t>EMI formula; delinquency / NPA bands; LTV</a:t>
            </a:r>
            <a:endParaRPr lang="en-US" sz="1400" dirty="0"/>
          </a:p>
          <a:p>
            <a:pPr marL="342900" indent="-342900">
              <a:spcAft>
                <a:spcPts val="800"/>
              </a:spcAft>
              <a:buSzPct val="100000"/>
              <a:buChar char="•"/>
            </a:pPr>
            <a:r>
              <a:rPr lang="en-US" sz="1400" dirty="0">
                <a:solidFill>
                  <a:schemeClr val="tx1"/>
                </a:solidFill>
              </a:rPr>
              <a:t>Idempotency keys; bulk limit of 200</a:t>
            </a:r>
            <a:endParaRPr lang="en-US" sz="1400" dirty="0"/>
          </a:p>
          <a:p>
            <a:pPr marL="342900" indent="-342900">
              <a:spcAft>
                <a:spcPts val="800"/>
              </a:spcAft>
              <a:buSzPct val="100000"/>
              <a:buChar char="•"/>
            </a:pPr>
            <a:r>
              <a:rPr lang="en-US" sz="1400" dirty="0">
                <a:solidFill>
                  <a:schemeClr val="tx1"/>
                </a:solidFill>
              </a:rPr>
              <a:t>Monthly partitions: current + 6 ahead</a:t>
            </a:r>
            <a:endParaRPr lang="en-US" sz="1400" dirty="0"/>
          </a:p>
          <a:p>
            <a:pPr marL="342900" indent="-342900">
              <a:spcAft>
                <a:spcPts val="800"/>
              </a:spcAft>
              <a:buSzPct val="100000"/>
              <a:buChar char="•"/>
            </a:pPr>
            <a:r>
              <a:rPr lang="en-US" sz="1400" dirty="0">
                <a:solidFill>
                  <a:schemeClr val="tx1"/>
                </a:solidFill>
              </a:rPr>
              <a:t>A change here is a code change and a release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Sandbox URLs and changes since v1.0</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Render free tier: services sleep when idle, so the first request takes about a minute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9052560"/>
              </a:tblGrid>
              <a:tr h="384048">
                <a:tc>
                  <a:txBody>
                    <a:bodyPr/>
                    <a:lstStyle/>
                    <a:p>
                      <a:pPr indent="0" marL="0">
                        <a:buNone/>
                      </a:pPr>
                      <a:r>
                        <a:rPr lang="en-US" sz="1200" b="1" dirty="0">
                          <a:solidFill>
                            <a:schemeClr val="bg1"/>
                          </a:solidFill>
                        </a:rPr>
                        <a:t>Sandbox</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URL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2"/>
                          </a:solidFill>
                        </a:rPr>
                        <a:t>Lending API</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Lending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https://lending-service-5tqm.onrender.com/swagger-ui.html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2"/>
                          </a:solidFill>
                        </a:rPr>
                        <a:t>Admin portal</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2"/>
                          </a:solidFill>
                        </a:rPr>
                        <a:t>Admin Swagger</a:t>
                      </a:r>
                      <a:endParaRPr lang="en-US" sz="1200" dirty="0"/>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https://lending-admin-service-&lt;suffix&gt;.onrender.com/swagger-ui.html</a:t>
                      </a:r>
                      <a:endParaRPr lang="en-US" sz="1100" dirty="0">
                        <a:latin typeface="Courier New" charset="0"/>
                        <a:ea typeface="Courier New" charset="0"/>
                        <a:cs typeface="Courier New" charset="0"/>
                      </a:endParaRPr>
                    </a:p>
                  </a:txBody>
                  <a:tcPr marL="91440" marR="91440"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3611880"/>
            <a:ext cx="10972800" cy="320040"/>
          </a:xfrm>
          <a:prstGeom prst="rect">
            <a:avLst/>
          </a:prstGeom>
          <a:noFill/>
          <a:ln/>
        </p:spPr>
        <p:txBody>
          <a:bodyPr wrap="square" lIns="0" tIns="0" rIns="0" bIns="0" rtlCol="0" anchor="t"/>
          <a:lstStyle/>
          <a:p>
            <a:pPr indent="0" marL="0">
              <a:buNone/>
            </a:pPr>
            <a:r>
              <a:rPr lang="en-US" sz="1600" b="1" dirty="0">
                <a:solidFill>
                  <a:schemeClr val="tx2"/>
                </a:solidFill>
              </a:rPr>
              <a:t>Added since the first documents (2 September)</a:t>
            </a:r>
            <a:endParaRPr lang="en-US" sz="1600" dirty="0"/>
          </a:p>
        </p:txBody>
      </p:sp>
      <p:sp>
        <p:nvSpPr>
          <p:cNvPr id="7" name="Text 3"/>
          <p:cNvSpPr txBox="1"/>
          <p:nvPr/>
        </p:nvSpPr>
        <p:spPr>
          <a:xfrm>
            <a:off x="54864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Admin portal</a:t>
            </a:r>
            <a:endParaRPr lang="en-US" sz="1200" dirty="0"/>
          </a:p>
          <a:p>
            <a:pPr algn="l" indent="0" marL="0">
              <a:buNone/>
            </a:pPr>
            <a:r>
              <a:rPr lang="en-US" sz="1200" dirty="0">
                <a:solidFill>
                  <a:schemeClr val="tx1"/>
                </a:solidFill>
              </a:rPr>
              <a:t>New React + Spring Boot service; edits batch jobs and loan products through the owning services</a:t>
            </a:r>
            <a:endParaRPr lang="en-US" sz="1200" dirty="0"/>
          </a:p>
        </p:txBody>
      </p:sp>
      <p:sp>
        <p:nvSpPr>
          <p:cNvPr id="8" name="Text 4"/>
          <p:cNvSpPr txBox="1"/>
          <p:nvPr/>
        </p:nvSpPr>
        <p:spPr>
          <a:xfrm>
            <a:off x="429768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Loan products (V10)</a:t>
            </a:r>
            <a:endParaRPr lang="en-US" sz="1200" dirty="0"/>
          </a:p>
          <a:p>
            <a:pPr algn="l" indent="0" marL="0">
              <a:buNone/>
            </a:pPr>
            <a:r>
              <a:rPr lang="en-US" sz="1200" dirty="0">
                <a:solidFill>
                  <a:schemeClr val="tx1"/>
                </a:solidFill>
              </a:rPr>
              <a:t>Product master; accounts take default terms from it and stay inside its limits</a:t>
            </a:r>
            <a:endParaRPr lang="en-US" sz="1200" dirty="0"/>
          </a:p>
        </p:txBody>
      </p:sp>
      <p:sp>
        <p:nvSpPr>
          <p:cNvPr id="9" name="Text 5"/>
          <p:cNvSpPr txBox="1"/>
          <p:nvPr/>
        </p:nvSpPr>
        <p:spPr>
          <a:xfrm>
            <a:off x="8046720" y="406908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Statement and bulk</a:t>
            </a:r>
            <a:endParaRPr lang="en-US" sz="1200" dirty="0"/>
          </a:p>
          <a:p>
            <a:pPr algn="l" indent="0" marL="0">
              <a:buNone/>
            </a:pPr>
            <a:r>
              <a:rPr lang="en-US" sz="1200" dirty="0">
                <a:solidFill>
                  <a:schemeClr val="tx1"/>
                </a:solidFill>
              </a:rPr>
              <a:t>PDF statement endpoints; bulk create and disburse, up to 200 per call</a:t>
            </a:r>
            <a:endParaRPr lang="en-US" sz="1200" dirty="0"/>
          </a:p>
        </p:txBody>
      </p:sp>
      <p:sp>
        <p:nvSpPr>
          <p:cNvPr id="10" name="Text 6"/>
          <p:cNvSpPr txBox="1"/>
          <p:nvPr/>
        </p:nvSpPr>
        <p:spPr>
          <a:xfrm>
            <a:off x="54864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Partition fix (V9)</a:t>
            </a:r>
            <a:endParaRPr lang="en-US" sz="1200" dirty="0"/>
          </a:p>
          <a:p>
            <a:pPr algn="l" indent="0" marL="0">
              <a:buNone/>
            </a:pPr>
            <a:r>
              <a:rPr lang="en-US" sz="1200" dirty="0">
                <a:solidFill>
                  <a:schemeClr val="tx1"/>
                </a:solidFill>
              </a:rPr>
              <a:t>Ends 409 on accrual and EMI posting; auto-creates months</a:t>
            </a:r>
            <a:endParaRPr lang="en-US" sz="1200" dirty="0"/>
          </a:p>
        </p:txBody>
      </p:sp>
      <p:sp>
        <p:nvSpPr>
          <p:cNvPr id="11" name="Text 7"/>
          <p:cNvSpPr txBox="1"/>
          <p:nvPr/>
        </p:nvSpPr>
        <p:spPr>
          <a:xfrm>
            <a:off x="429768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Scripts and Render</a:t>
            </a:r>
            <a:endParaRPr lang="en-US" sz="1200" dirty="0"/>
          </a:p>
          <a:p>
            <a:pPr algn="l" indent="0" marL="0">
              <a:buNone/>
            </a:pPr>
            <a:r>
              <a:rPr lang="en-US" sz="1200" dirty="0">
                <a:solidFill>
                  <a:schemeClr val="tx1"/>
                </a:solidFill>
              </a:rPr>
              <a:t>create-account and run-accrual scripts, bulk JSON; blueprint with Postgres plus three services</a:t>
            </a:r>
            <a:endParaRPr lang="en-US" sz="1200" dirty="0"/>
          </a:p>
        </p:txBody>
      </p:sp>
      <p:sp>
        <p:nvSpPr>
          <p:cNvPr id="12" name="Text 8"/>
          <p:cNvSpPr txBox="1"/>
          <p:nvPr/>
        </p:nvSpPr>
        <p:spPr>
          <a:xfrm>
            <a:off x="8046720" y="5166360"/>
            <a:ext cx="3566160" cy="914400"/>
          </a:xfrm>
          <a:prstGeom prst="roundRect">
            <a:avLst>
              <a:gd name="adj" fmla="val 8000"/>
            </a:avLst>
          </a:prstGeom>
          <a:solidFill>
            <a:schemeClr val="accent1">
              <a:alpha val="10000"/>
            </a:schemeClr>
          </a:solidFill>
          <a:ln w="12700">
            <a:solidFill>
              <a:schemeClr val="accent1"/>
            </a:solidFill>
          </a:ln>
        </p:spPr>
        <p:txBody>
          <a:bodyPr wrap="square" lIns="101600" tIns="101600" rIns="101600" bIns="101600" rtlCol="0" anchor="t"/>
          <a:lstStyle/>
          <a:p>
            <a:pPr algn="l" indent="0" marL="0">
              <a:buNone/>
            </a:pPr>
            <a:r>
              <a:rPr lang="en-US" sz="1400" b="1" dirty="0">
                <a:solidFill>
                  <a:schemeClr val="tx2"/>
                </a:solidFill>
              </a:rPr>
              <a:t>Batch pool fix</a:t>
            </a:r>
            <a:endParaRPr lang="en-US" sz="1200" dirty="0"/>
          </a:p>
          <a:p>
            <a:pPr algn="l" indent="0" marL="0">
              <a:buNone/>
            </a:pPr>
            <a:r>
              <a:rPr lang="en-US" sz="1200" dirty="0">
                <a:solidFill>
                  <a:schemeClr val="tx1"/>
                </a:solidFill>
              </a:rPr>
              <a:t>Batch DB pool 5 to 20 and 3 Quartz threads, ending the timeouts seen on Render</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Base path /api/v1; lending-service on port 8080, batch admin on lending-batch-service</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188720"/>
                <a:gridCol w="6858000"/>
                <a:gridCol w="3017520"/>
              </a:tblGrid>
              <a:tr h="315468">
                <a:tc>
                  <a:txBody>
                    <a:bodyPr/>
                    <a:lstStyle/>
                    <a:p>
                      <a:pPr indent="0" marL="0">
                        <a:buNone/>
                      </a:pPr>
                      <a:r>
                        <a:rPr lang="en-US" sz="1200" b="1" dirty="0">
                          <a:solidFill>
                            <a:schemeClr val="bg1"/>
                          </a:solidFill>
                        </a:rPr>
                        <a:t>Area</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15468">
                <a:tc>
                  <a:txBody>
                    <a:bodyPr/>
                    <a:lstStyle/>
                    <a:p>
                      <a:pPr indent="0" marL="0">
                        <a:buNone/>
                      </a:pPr>
                      <a:r>
                        <a:rPr lang="en-US" sz="1200" b="1" dirty="0">
                          <a:solidFill>
                            <a:schemeClr val="tx2"/>
                          </a:solidFill>
                        </a:rPr>
                        <a:t>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Create an account; idempotent on sanctionRefId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/loan-accounts/bulk/create  |  /bulk/disburse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Up to 200 items per call, per-item result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/loan-accounts/{id}/disburse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Activate and generate schedule v1</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  |  /by-account-number/{no}</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Look up an account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/loan-accounts/rate-resets  |  /delinquency-classifications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Floating rate reset; DPD and NPA classification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/loan-accounts/{id}/schedule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Current amortisation schedule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Payments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/loan-accounts/{id}/payments/emi  |  part-payment  |  foreclosure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Repayment of any amount, or an exit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Accrual</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/interest-accruals/run?businessDate=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Accrue interest for all ACTIVE accounts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/loan-accounts/{id}/interest-accruals/{date}</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One account's accrual for a date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Mortgage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/mortgages  |  /{id}/charge  |  /{id}/valuations</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Create, register charge, record valuation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/mortgages/{id}  |  /by-account/{id}  |  /due-for-revaluation</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Look up and find revaluations due</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Statement</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/loan-accounts/{id}/statement  |  by-account-number/{no}/statement</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Customer PDF download</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15468">
                <a:tc>
                  <a:txBody>
                    <a:bodyPr/>
                    <a:lstStyle/>
                    <a:p>
                      <a:pPr indent="0" marL="0">
                        <a:buNone/>
                      </a:pPr>
                      <a:r>
                        <a:rPr lang="en-US" sz="1200" b="1" dirty="0">
                          <a:solidFill>
                            <a:schemeClr val="tx2"/>
                          </a:solidFill>
                        </a:rPr>
                        <a:t>Ledger</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POST /ledger-outbox/push  |  GET /ledger-outbox/pending</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rgbClr val="000000"/>
                          </a:solidFill>
                        </a:rPr>
                        <a:t>Push or inspect pending ledger events</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15468">
                <a:tc>
                  <a:txBody>
                    <a:bodyPr/>
                    <a:lstStyle/>
                    <a:p>
                      <a:pPr indent="0" marL="0">
                        <a:buNone/>
                      </a:pPr>
                      <a:r>
                        <a:rPr lang="en-US" sz="1200" b="1" dirty="0">
                          <a:solidFill>
                            <a:schemeClr val="tx2"/>
                          </a:solidFill>
                        </a:rPr>
                        <a:t>Batch admin</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050" dirty="0">
                          <a:solidFill>
                            <a:srgbClr val="000000"/>
                          </a:solidFill>
                          <a:latin typeface="Courier New" pitchFamily="34" charset="0"/>
                          <a:ea typeface="Courier New" pitchFamily="34" charset="-122"/>
                          <a:cs typeface="Courier New" pitchFamily="34" charset="-120"/>
                        </a:rPr>
                        <a:t>GET /batch-admin/jobs  |  /status/today  |  POST /jobs/{name}/trigger</a:t>
                      </a:r>
                      <a:endParaRPr lang="en-US" sz="1050" dirty="0">
                        <a:latin typeface="Courier New" charset="0"/>
                        <a:ea typeface="Courier New" charset="0"/>
                        <a:cs typeface="Courier New" charset="0"/>
                      </a:endParaRPr>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rgbClr val="000000"/>
                          </a:solidFill>
                        </a:rPr>
                        <a:t>List, trigger or back-date jobs; status view</a:t>
                      </a:r>
                      <a:endParaRPr lang="en-US" sz="1200" dirty="0"/>
                    </a:p>
                  </a:txBody>
                  <a:tcPr marL="73152" marR="73152" marT="18288" marB="18288"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Where we are and what is next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lifecycle, business date and end of day are in; verifying them on real services, the other jobs and integrations are next</a:t>
            </a:r>
            <a:endParaRPr lang="en-US" sz="1400" dirty="0"/>
          </a:p>
        </p:txBody>
      </p:sp>
      <p:sp>
        <p:nvSpPr>
          <p:cNvPr id="5" name="Text 2"/>
          <p:cNvSpPr txBox="1"/>
          <p:nvPr/>
        </p:nvSpPr>
        <p:spPr>
          <a:xfrm>
            <a:off x="548640" y="1600200"/>
            <a:ext cx="5440680" cy="4572000"/>
          </a:xfrm>
          <a:prstGeom prst="roundRect">
            <a:avLst>
              <a:gd name="adj" fmla="val 1600"/>
            </a:avLst>
          </a:prstGeom>
          <a:solidFill>
            <a:schemeClr val="accent1">
              <a:alpha val="30000"/>
            </a:schemeClr>
          </a:solidFill>
          <a:ln w="19050">
            <a:solidFill>
              <a:schemeClr val="accent1"/>
            </a:solidFill>
          </a:ln>
        </p:spPr>
        <p:txBody>
          <a:bodyPr wrap="square" lIns="50800" tIns="50800" rIns="50800" bIns="50800" rtlCol="0" anchor="ctr"/>
          <a:lstStyle/>
          <a:p>
            <a:pPr algn="ctr" indent="0" marL="0">
              <a:buNone/>
            </a:pPr>
            <a:endParaRPr lang="en-US" sz="1200" dirty="0"/>
          </a:p>
        </p:txBody>
      </p:sp>
      <p:sp>
        <p:nvSpPr>
          <p:cNvPr id="6" name="Text 3"/>
          <p:cNvSpPr txBox="1"/>
          <p:nvPr/>
        </p:nvSpPr>
        <p:spPr>
          <a:xfrm>
            <a:off x="82296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Working today</a:t>
            </a:r>
            <a:endParaRPr lang="en-US" sz="2200" dirty="0"/>
          </a:p>
        </p:txBody>
      </p:sp>
      <p:sp>
        <p:nvSpPr>
          <p:cNvPr id="7" name="Text 4"/>
          <p:cNvSpPr txBox="1"/>
          <p:nvPr/>
        </p:nvSpPr>
        <p:spPr>
          <a:xfrm>
            <a:off x="82296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Create, bulk create and disburse accounts</a:t>
            </a:r>
            <a:endParaRPr lang="en-US" sz="1700" dirty="0"/>
          </a:p>
          <a:p>
            <a:pPr marL="342900" indent="-342900">
              <a:spcAft>
                <a:spcPts val="1000"/>
              </a:spcAft>
              <a:buSzPct val="100000"/>
              <a:buChar char="•"/>
            </a:pPr>
            <a:r>
              <a:rPr lang="en-US" sz="1700" dirty="0">
                <a:solidFill>
                  <a:schemeClr val="bg1"/>
                </a:solidFill>
              </a:rPr>
              <a:t>Schedules with part-payment and rate-reset versioning</a:t>
            </a:r>
            <a:endParaRPr lang="en-US" sz="1700" dirty="0"/>
          </a:p>
          <a:p>
            <a:pPr marL="342900" indent="-342900">
              <a:spcAft>
                <a:spcPts val="1000"/>
              </a:spcAft>
              <a:buSzPct val="100000"/>
              <a:buChar char="•"/>
            </a:pPr>
            <a:r>
              <a:rPr lang="en-US" sz="1700" dirty="0">
                <a:solidFill>
                  <a:schemeClr val="bg1"/>
                </a:solidFill>
              </a:rPr>
              <a:t>Payments of any amount with demands, waterfall and penal interest (save fix awaiting deployment)</a:t>
            </a:r>
            <a:endParaRPr lang="en-US" sz="1700" dirty="0"/>
          </a:p>
          <a:p>
            <a:pPr marL="342900" indent="-342900">
              <a:spcAft>
                <a:spcPts val="1000"/>
              </a:spcAft>
              <a:buSzPct val="100000"/>
              <a:buChar char="•"/>
            </a:pPr>
            <a:r>
              <a:rPr lang="en-US" sz="1700" dirty="0">
                <a:solidFill>
                  <a:schemeClr val="bg1"/>
                </a:solidFill>
              </a:rPr>
              <a:t>Business date, end of day, eleven batch jobs</a:t>
            </a:r>
            <a:endParaRPr lang="en-US" sz="1700" dirty="0"/>
          </a:p>
          <a:p>
            <a:pPr marL="342900" indent="-342900">
              <a:spcAft>
                <a:spcPts val="1000"/>
              </a:spcAft>
              <a:buSzPct val="100000"/>
              <a:buChar char="•"/>
            </a:pPr>
            <a:r>
              <a:rPr lang="en-US" sz="1700" dirty="0">
                <a:solidFill>
                  <a:schemeClr val="bg1"/>
                </a:solidFill>
              </a:rPr>
              <a:t>Customer PDF statement download</a:t>
            </a:r>
            <a:endParaRPr lang="en-US" sz="1700" dirty="0"/>
          </a:p>
          <a:p>
            <a:pPr marL="342900" indent="-342900">
              <a:spcAft>
                <a:spcPts val="1000"/>
              </a:spcAft>
              <a:buSzPct val="100000"/>
              <a:buChar char="•"/>
            </a:pPr>
            <a:r>
              <a:rPr lang="en-US" sz="1700" dirty="0">
                <a:solidFill>
                  <a:schemeClr val="bg1"/>
                </a:solidFill>
              </a:rPr>
              <a:t>Admin portal: inquiry and the End of day screen</a:t>
            </a:r>
            <a:endParaRPr lang="en-US" sz="1700" dirty="0"/>
          </a:p>
          <a:p>
            <a:pPr marL="342900" indent="-342900">
              <a:spcAft>
                <a:spcPts val="1000"/>
              </a:spcAft>
              <a:buSzPct val="100000"/>
              <a:buChar char="•"/>
            </a:pPr>
            <a:r>
              <a:rPr lang="en-US" sz="1700" dirty="0">
                <a:solidFill>
                  <a:schemeClr val="bg1"/>
                </a:solidFill>
              </a:rPr>
              <a:t>Monthly partitions kept ahead automatically</a:t>
            </a:r>
            <a:endParaRPr lang="en-US" sz="1700" dirty="0"/>
          </a:p>
          <a:p>
            <a:pPr marL="342900" indent="-342900">
              <a:spcAft>
                <a:spcPts val="1000"/>
              </a:spcAft>
              <a:buSzPct val="100000"/>
              <a:buChar char="•"/>
            </a:pPr>
            <a:r>
              <a:rPr lang="en-US" sz="1700" dirty="0">
                <a:solidFill>
                  <a:schemeClr val="bg1"/>
                </a:solidFill>
              </a:rPr>
              <a:t>Free sandbox on Render</a:t>
            </a:r>
            <a:endParaRPr lang="en-US" sz="1700" dirty="0"/>
          </a:p>
        </p:txBody>
      </p:sp>
      <p:sp>
        <p:nvSpPr>
          <p:cNvPr id="8" name="Text 5"/>
          <p:cNvSpPr txBox="1"/>
          <p:nvPr/>
        </p:nvSpPr>
        <p:spPr>
          <a:xfrm>
            <a:off x="6172200" y="1600200"/>
            <a:ext cx="5440680" cy="4572000"/>
          </a:xfrm>
          <a:prstGeom prst="roundRect">
            <a:avLst>
              <a:gd name="adj" fmla="val 1600"/>
            </a:avLst>
          </a:prstGeom>
          <a:solidFill>
            <a:schemeClr val="accent2">
              <a:alpha val="18000"/>
            </a:schemeClr>
          </a:solidFill>
          <a:ln w="19050">
            <a:solidFill>
              <a:schemeClr val="accent2"/>
            </a:solidFill>
          </a:ln>
        </p:spPr>
        <p:txBody>
          <a:bodyPr wrap="square" lIns="50800" tIns="50800" rIns="50800" bIns="50800" rtlCol="0" anchor="ctr"/>
          <a:lstStyle/>
          <a:p>
            <a:pPr algn="ctr" indent="0" marL="0">
              <a:buNone/>
            </a:pPr>
            <a:endParaRPr lang="en-US" sz="1200" dirty="0"/>
          </a:p>
        </p:txBody>
      </p:sp>
      <p:sp>
        <p:nvSpPr>
          <p:cNvPr id="9" name="Text 6"/>
          <p:cNvSpPr txBox="1"/>
          <p:nvPr/>
        </p:nvSpPr>
        <p:spPr>
          <a:xfrm>
            <a:off x="6446520" y="1737360"/>
            <a:ext cx="4846320" cy="41148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Next</a:t>
            </a:r>
            <a:endParaRPr lang="en-US" sz="2200" dirty="0"/>
          </a:p>
        </p:txBody>
      </p:sp>
      <p:sp>
        <p:nvSpPr>
          <p:cNvPr id="10" name="Text 7"/>
          <p:cNvSpPr txBox="1"/>
          <p:nvPr/>
        </p:nvSpPr>
        <p:spPr>
          <a:xfrm>
            <a:off x="6446520" y="2286000"/>
            <a:ext cx="4892040" cy="37490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Write the other 26 batch job bodies; penal waiver and back-dated recompute</a:t>
            </a:r>
            <a:endParaRPr lang="en-US" sz="1700" dirty="0"/>
          </a:p>
          <a:p>
            <a:pPr marL="342900" indent="-342900">
              <a:spcAft>
                <a:spcPts val="1000"/>
              </a:spcAft>
              <a:buSzPct val="100000"/>
              <a:buChar char="•"/>
            </a:pPr>
            <a:r>
              <a:rPr lang="en-US" sz="1700" dirty="0">
                <a:solidFill>
                  <a:schemeClr val="bg1"/>
                </a:solidFill>
              </a:rPr>
              <a:t>Add authentication and tie statements to the logged-in customer</a:t>
            </a:r>
            <a:endParaRPr lang="en-US" sz="1700" dirty="0"/>
          </a:p>
          <a:p>
            <a:pPr marL="342900" indent="-342900">
              <a:spcAft>
                <a:spcPts val="1000"/>
              </a:spcAft>
              <a:buSzPct val="100000"/>
              <a:buChar char="•"/>
            </a:pPr>
            <a:r>
              <a:rPr lang="en-US" sz="1700" dirty="0">
                <a:solidFill>
                  <a:schemeClr val="bg1"/>
                </a:solidFill>
              </a:rPr>
              <a:t>Replace the logging ledger stub with the real core-banking client; until then outbox entries end as FAILED</a:t>
            </a:r>
            <a:endParaRPr lang="en-US" sz="1700" dirty="0"/>
          </a:p>
          <a:p>
            <a:pPr marL="342900" indent="-342900">
              <a:spcAft>
                <a:spcPts val="1000"/>
              </a:spcAft>
              <a:buSzPct val="100000"/>
              <a:buChar char="•"/>
            </a:pPr>
            <a:r>
              <a:rPr lang="en-US" sz="1700" dirty="0">
                <a:solidFill>
                  <a:schemeClr val="bg1"/>
                </a:solidFill>
              </a:rPr>
              <a:t>Provide a Kafka broker for batch events</a:t>
            </a:r>
            <a:endParaRPr lang="en-US" sz="1700" dirty="0"/>
          </a:p>
          <a:p>
            <a:pPr marL="342900" indent="-342900">
              <a:spcAft>
                <a:spcPts val="1000"/>
              </a:spcAft>
              <a:buSzPct val="100000"/>
              <a:buChar char="•"/>
            </a:pPr>
            <a:r>
              <a:rPr lang="en-US" sz="1700" dirty="0">
                <a:solidFill>
                  <a:schemeClr val="bg1"/>
                </a:solidFill>
              </a:rPr>
              <a:t>Move off free hosting: the database expires after 30 days</a:t>
            </a:r>
            <a:endParaRPr lang="en-US" sz="1700" dirty="0"/>
          </a:p>
          <a:p>
            <a:pPr marL="342900" indent="-342900">
              <a:spcAft>
                <a:spcPts val="1000"/>
              </a:spcAft>
              <a:buSzPct val="100000"/>
              <a:buChar char="•"/>
            </a:pPr>
            <a:r>
              <a:rPr lang="en-US" sz="1700" dirty="0">
                <a:solidFill>
                  <a:schemeClr val="bg1"/>
                </a:solidFill>
              </a:rPr>
              <a:t>Chain MONTHLY and PERIODIC jobs into end of day; build with Maven and run the E2E suite in CI</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Business date: one date for the whole platform</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lending-service owns it; payments, accrual, delinquency, statements, batch jobs and the admin portal all read it</a:t>
            </a:r>
            <a:endParaRPr lang="en-US" sz="1400" dirty="0"/>
          </a:p>
        </p:txBody>
      </p:sp>
      <p:sp>
        <p:nvSpPr>
          <p:cNvPr id="11" name="Shape 11"/>
          <p:cNvSpPr txBox="1"/>
          <p:nvPr/>
        </p:nvSpPr>
        <p:spPr>
          <a:xfrm>
            <a:off x="54864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a:t>
            </a:r>
            <a:endParaRPr lang="en-US" sz="1300" dirty="0"/>
          </a:p>
        </p:txBody>
      </p:sp>
      <p:sp>
        <p:nvSpPr>
          <p:cNvPr id="12" name="Shape 12"/>
          <p:cNvSpPr txBox="1"/>
          <p:nvPr/>
        </p:nvSpPr>
        <p:spPr>
          <a:xfrm>
            <a:off x="4617720" y="1554480"/>
            <a:ext cx="2926080" cy="914400"/>
          </a:xfrm>
          <a:prstGeom prst="roundRect">
            <a:avLst>
              <a:gd name="adj" fmla="val 8000"/>
            </a:avLst>
          </a:prstGeom>
          <a:solidFill>
            <a:schemeClr val="accent2"/>
          </a:solidFill>
          <a:ln w="12700">
            <a:solidFill>
              <a:schemeClr val="accent2"/>
            </a:solidFill>
          </a:ln>
        </p:spPr>
        <p:txBody>
          <a:bodyPr wrap="square" lIns="127000" tIns="127000" rIns="127000" bIns="127000" rtlCol="0" anchor="ctr"/>
          <a:lstStyle/>
          <a:p>
            <a:pPr algn="ctr" indent="0" marL="0">
              <a:spcAft>
                <a:spcPts val="200"/>
              </a:spcAft>
              <a:buNone/>
            </a:pPr>
            <a:r>
              <a:rPr lang="en-US" sz="1600" b="1" dirty="0">
                <a:solidFill>
                  <a:schemeClr val="tx1"/>
                </a:solidFill>
              </a:rPr>
              <a:t>EOD_RUNNING</a:t>
            </a:r>
            <a:endParaRPr lang="en-US" sz="1600" dirty="0"/>
          </a:p>
          <a:p>
            <a:pPr algn="ctr" indent="0" marL="0">
              <a:buNone/>
            </a:pPr>
            <a:r>
              <a:rPr lang="en-US" sz="1300" dirty="0">
                <a:solidFill>
                  <a:schemeClr val="tx1"/>
                </a:solidFill>
              </a:rPr>
              <a:t>daily jobs run for D</a:t>
            </a:r>
            <a:endParaRPr lang="en-US" sz="1300" dirty="0"/>
          </a:p>
        </p:txBody>
      </p:sp>
      <p:sp>
        <p:nvSpPr>
          <p:cNvPr id="13" name="Shape 13"/>
          <p:cNvSpPr txBox="1"/>
          <p:nvPr/>
        </p:nvSpPr>
        <p:spPr>
          <a:xfrm>
            <a:off x="8686800" y="1554480"/>
            <a:ext cx="2926080" cy="914400"/>
          </a:xfrm>
          <a:prstGeom prst="roundRect">
            <a:avLst>
              <a:gd name="adj" fmla="val 8000"/>
            </a:avLst>
          </a:prstGeom>
          <a:solidFill>
            <a:schemeClr val="accent1"/>
          </a:solidFill>
          <a:ln w="12700">
            <a:solidFill>
              <a:schemeClr val="accent1"/>
            </a:solidFill>
          </a:ln>
        </p:spPr>
        <p:txBody>
          <a:bodyPr wrap="square" lIns="127000" tIns="127000" rIns="127000" bIns="127000" rtlCol="0" anchor="ctr"/>
          <a:lstStyle/>
          <a:p>
            <a:pPr algn="ctr" indent="0" marL="0">
              <a:spcAft>
                <a:spcPts val="200"/>
              </a:spcAft>
              <a:buNone/>
            </a:pPr>
            <a:r>
              <a:rPr lang="en-US" sz="1600" b="1" dirty="0">
                <a:solidFill>
                  <a:schemeClr val="bg1"/>
                </a:solidFill>
              </a:rPr>
              <a:t>OPEN</a:t>
            </a:r>
            <a:endParaRPr lang="en-US" sz="1600" dirty="0"/>
          </a:p>
          <a:p>
            <a:pPr algn="ctr" indent="0" marL="0">
              <a:buNone/>
            </a:pPr>
            <a:r>
              <a:rPr lang="en-US" sz="1300" dirty="0">
                <a:solidFill>
                  <a:schemeClr val="bg1"/>
                </a:solidFill>
              </a:rPr>
              <a:t>business date D + 1</a:t>
            </a:r>
            <a:endParaRPr lang="en-US" sz="1300" dirty="0"/>
          </a:p>
        </p:txBody>
      </p:sp>
      <p:sp>
        <p:nvSpPr>
          <p:cNvPr id="14" name="Shape 14"/>
          <p:cNvSpPr/>
          <p:nvPr/>
        </p:nvSpPr>
        <p:spPr>
          <a:xfrm>
            <a:off x="3520440" y="2011680"/>
            <a:ext cx="1051560" cy="0"/>
          </a:xfrm>
          <a:prstGeom prst="line">
            <a:avLst/>
          </a:prstGeom>
          <a:noFill/>
          <a:ln w="15875">
            <a:solidFill>
              <a:schemeClr val="tx2"/>
            </a:solidFill>
            <a:prstDash val="solid"/>
            <a:tailEnd type="triangle"/>
          </a:ln>
        </p:spPr>
      </p:sp>
      <p:sp>
        <p:nvSpPr>
          <p:cNvPr id="15" name="Shape 15"/>
          <p:cNvSpPr txBox="1"/>
          <p:nvPr/>
        </p:nvSpPr>
        <p:spPr>
          <a:xfrm>
            <a:off x="347472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end of day starts</a:t>
            </a:r>
            <a:endParaRPr lang="en-US" sz="1000" dirty="0"/>
          </a:p>
        </p:txBody>
      </p:sp>
      <p:sp>
        <p:nvSpPr>
          <p:cNvPr id="16" name="Shape 16"/>
          <p:cNvSpPr/>
          <p:nvPr/>
        </p:nvSpPr>
        <p:spPr>
          <a:xfrm>
            <a:off x="7589520" y="2011680"/>
            <a:ext cx="1051560" cy="0"/>
          </a:xfrm>
          <a:prstGeom prst="line">
            <a:avLst/>
          </a:prstGeom>
          <a:noFill/>
          <a:ln w="15875">
            <a:solidFill>
              <a:schemeClr val="tx2"/>
            </a:solidFill>
            <a:prstDash val="solid"/>
            <a:tailEnd type="triangle"/>
          </a:ln>
        </p:spPr>
      </p:sp>
      <p:sp>
        <p:nvSpPr>
          <p:cNvPr id="17" name="Shape 17"/>
          <p:cNvSpPr txBox="1"/>
          <p:nvPr/>
        </p:nvSpPr>
        <p:spPr>
          <a:xfrm>
            <a:off x="7543800" y="1645920"/>
            <a:ext cx="1143000" cy="320040"/>
          </a:xfrm>
          <a:prstGeom prst="rect">
            <a:avLst/>
          </a:prstGeom>
          <a:noFill/>
          <a:ln/>
        </p:spPr>
        <p:txBody>
          <a:bodyPr wrap="square" lIns="0" tIns="0" rIns="0" bIns="0" rtlCol="0" anchor="b"/>
          <a:lstStyle/>
          <a:p>
            <a:pPr algn="ctr" indent="0" marL="0">
              <a:buNone/>
            </a:pPr>
            <a:r>
              <a:rPr lang="en-US" sz="1000" i="1" dirty="0">
                <a:solidFill>
                  <a:schemeClr val="accent4"/>
                </a:solidFill>
              </a:rPr>
              <a:t>advance, one day</a:t>
            </a:r>
            <a:endParaRPr lang="en-US" sz="1000" dirty="0"/>
          </a:p>
        </p:txBody>
      </p:sp>
      <p:sp>
        <p:nvSpPr>
          <p:cNvPr id="18" name="Shape 18"/>
          <p:cNvSpPr txBox="1"/>
          <p:nvPr/>
        </p:nvSpPr>
        <p:spPr>
          <a:xfrm>
            <a:off x="548640" y="2606040"/>
            <a:ext cx="11064240" cy="300000"/>
          </a:xfrm>
          <a:prstGeom prst="rect">
            <a:avLst/>
          </a:prstGeom>
          <a:noFill/>
          <a:ln/>
        </p:spPr>
        <p:txBody>
          <a:bodyPr wrap="square" lIns="0" tIns="0" rIns="0" bIns="0" rtlCol="0" anchor="t"/>
          <a:lstStyle/>
          <a:p>
            <a:pPr algn="l" indent="0" marL="0">
              <a:buNone/>
            </a:pPr>
            <a:r>
              <a:rPr lang="en-US" sz="1100" i="1" dirty="0">
                <a:solidFill>
                  <a:schemeClr val="accent4"/>
                </a:solidFill>
              </a:rPr>
              <a:t>POST /api/v1/business-date/eod/start, then POST /api/v1/business-date/advance with expectedBusinessDate = D. Asking to advance a date that is already closed changes nothing.</a:t>
            </a:r>
            <a:endParaRPr lang="en-US" sz="1100" dirty="0"/>
          </a:p>
        </p:txBody>
      </p:sp>
      <p:sp>
        <p:nvSpPr>
          <p:cNvPr id="19" name="Shape 19"/>
          <p:cNvSpPr txBox="1"/>
          <p:nvPr/>
        </p:nvSpPr>
        <p:spPr>
          <a:xfrm>
            <a:off x="54864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Rules</a:t>
            </a:r>
            <a:endParaRPr lang="en-US" sz="1600" dirty="0"/>
          </a:p>
          <a:p>
            <a:pPr marL="228600" indent="-228600" algn="l">
              <a:spcAft>
                <a:spcPts val="400"/>
              </a:spcAft>
              <a:buSzPct val="100000"/>
              <a:buChar char="•"/>
            </a:pPr>
            <a:r>
              <a:rPr lang="en-US" sz="1300" dirty="0">
                <a:solidFill>
                  <a:schemeClr val="tx1"/>
                </a:solidFill>
              </a:rPr>
              <a:t>No payment, accrual, classification or rate-reset date after the business date: HTTP 400</a:t>
            </a:r>
            <a:endParaRPr lang="en-US" sz="1300" dirty="0"/>
          </a:p>
          <a:p>
            <a:pPr marL="228600" indent="-228600" algn="l">
              <a:spcAft>
                <a:spcPts val="400"/>
              </a:spcAft>
              <a:buSzPct val="100000"/>
              <a:buChar char="•"/>
            </a:pPr>
            <a:r>
              <a:rPr lang="en-US" sz="1300" dirty="0">
                <a:solidFill>
                  <a:schemeClr val="tx1"/>
                </a:solidFill>
              </a:rPr>
              <a:t>Earlier dates are accepted, so a late payment books to its own day</a:t>
            </a:r>
            <a:endParaRPr lang="en-US" sz="1300" dirty="0"/>
          </a:p>
          <a:p>
            <a:pPr marL="228600" indent="-228600" algn="l">
              <a:spcAft>
                <a:spcPts val="400"/>
              </a:spcAft>
              <a:buSzPct val="100000"/>
              <a:buChar char="•"/>
            </a:pPr>
            <a:r>
              <a:rPr lang="en-US" sz="1300" dirty="0">
                <a:solidFill>
                  <a:schemeClr val="tx1"/>
                </a:solidFill>
              </a:rPr>
              <a:t>Set directly only while OPEN, and only forward unless the environment allows backward</a:t>
            </a:r>
            <a:endParaRPr lang="en-US" sz="1300" dirty="0"/>
          </a:p>
          <a:p>
            <a:pPr marL="228600" indent="-228600" algn="l">
              <a:spcAft>
                <a:spcPts val="400"/>
              </a:spcAft>
              <a:buSzPct val="100000"/>
              <a:buChar char="•"/>
            </a:pPr>
            <a:r>
              <a:rPr lang="en-US" sz="1300" dirty="0">
                <a:solidFill>
                  <a:schemeClr val="tx1"/>
                </a:solidFill>
              </a:rPr>
              <a:t>Wrong state gives HTTP 409</a:t>
            </a:r>
            <a:endParaRPr lang="en-US" sz="1300" dirty="0"/>
          </a:p>
        </p:txBody>
      </p:sp>
      <p:sp>
        <p:nvSpPr>
          <p:cNvPr id="20" name="Shape 20"/>
          <p:cNvSpPr txBox="1"/>
          <p:nvPr/>
        </p:nvSpPr>
        <p:spPr>
          <a:xfrm>
            <a:off x="4297680" y="3108960"/>
            <a:ext cx="3566160" cy="29260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Who uses it</a:t>
            </a:r>
            <a:endParaRPr lang="en-US" sz="1600" dirty="0"/>
          </a:p>
          <a:p>
            <a:pPr marL="228600" indent="-228600" algn="l">
              <a:spcAft>
                <a:spcPts val="400"/>
              </a:spcAft>
              <a:buSzPct val="100000"/>
              <a:buChar char="•"/>
            </a:pPr>
            <a:r>
              <a:rPr lang="en-US" sz="1300" dirty="0">
                <a:solidFill>
                  <a:schemeClr val="tx1"/>
                </a:solidFill>
              </a:rPr>
              <a:t>EMI, part-payment and foreclosure postings (save fix awaiting deployment)</a:t>
            </a:r>
            <a:endParaRPr lang="en-US" sz="1300" dirty="0"/>
          </a:p>
          <a:p>
            <a:pPr marL="228600" indent="-228600" algn="l">
              <a:spcAft>
                <a:spcPts val="400"/>
              </a:spcAft>
              <a:buSzPct val="100000"/>
              <a:buChar char="•"/>
            </a:pPr>
            <a:r>
              <a:rPr lang="en-US" sz="1300" dirty="0">
                <a:solidFill>
                  <a:schemeClr val="tx1"/>
                </a:solidFill>
              </a:rPr>
              <a:t>Interest accrual, delinquency classification, rate reset</a:t>
            </a:r>
            <a:endParaRPr lang="en-US" sz="1300" dirty="0"/>
          </a:p>
          <a:p>
            <a:pPr marL="228600" indent="-228600" algn="l">
              <a:spcAft>
                <a:spcPts val="400"/>
              </a:spcAft>
              <a:buSzPct val="100000"/>
              <a:buChar char="•"/>
            </a:pPr>
            <a:r>
              <a:rPr lang="en-US" sz="1300" dirty="0">
                <a:solidFill>
                  <a:schemeClr val="tx1"/>
                </a:solidFill>
              </a:rPr>
              <a:t>Customer statement</a:t>
            </a:r>
            <a:endParaRPr lang="en-US" sz="1300" dirty="0"/>
          </a:p>
          <a:p>
            <a:pPr marL="228600" indent="-228600" algn="l">
              <a:spcAft>
                <a:spcPts val="400"/>
              </a:spcAft>
              <a:buSzPct val="100000"/>
              <a:buChar char="•"/>
            </a:pPr>
            <a:r>
              <a:rPr lang="en-US" sz="1300" dirty="0">
                <a:solidFill>
                  <a:schemeClr val="tx1"/>
                </a:solidFill>
              </a:rPr>
              <a:t>Batch jobs: the date comes from lending-service</a:t>
            </a:r>
            <a:endParaRPr lang="en-US" sz="1300" dirty="0"/>
          </a:p>
          <a:p>
            <a:pPr marL="228600" indent="-228600" algn="l">
              <a:spcAft>
                <a:spcPts val="400"/>
              </a:spcAft>
              <a:buSzPct val="100000"/>
              <a:buChar char="•"/>
            </a:pPr>
            <a:r>
              <a:rPr lang="en-US" sz="1300" dirty="0">
                <a:solidFill>
                  <a:schemeClr val="tx1"/>
                </a:solidFill>
              </a:rPr>
              <a:t>Admin portal: dashboard, overdue, upcoming, days past due</a:t>
            </a:r>
            <a:endParaRPr lang="en-US" sz="1300" dirty="0"/>
          </a:p>
        </p:txBody>
      </p:sp>
      <p:sp>
        <p:nvSpPr>
          <p:cNvPr id="21" name="Shape 21"/>
          <p:cNvSpPr txBox="1"/>
          <p:nvPr/>
        </p:nvSpPr>
        <p:spPr>
          <a:xfrm>
            <a:off x="8046720" y="3108960"/>
            <a:ext cx="3566160" cy="29260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Calendar and history</a:t>
            </a:r>
            <a:endParaRPr lang="en-US" sz="1600" dirty="0"/>
          </a:p>
          <a:p>
            <a:pPr marL="228600" indent="-228600" algn="l">
              <a:spcAft>
                <a:spcPts val="400"/>
              </a:spcAft>
              <a:buSzPct val="100000"/>
              <a:buChar char="•"/>
            </a:pPr>
            <a:r>
              <a:rPr lang="en-US" sz="1300" dirty="0">
                <a:solidFill>
                  <a:schemeClr val="tx1"/>
                </a:solidFill>
              </a:rPr>
              <a:t>Weekends from configuration, holidays from a table; the date still moves one calendar day</a:t>
            </a:r>
            <a:endParaRPr lang="en-US" sz="1300" dirty="0"/>
          </a:p>
          <a:p>
            <a:pPr marL="228600" indent="-228600" algn="l">
              <a:spcAft>
                <a:spcPts val="400"/>
              </a:spcAft>
              <a:buSzPct val="100000"/>
              <a:buChar char="•"/>
            </a:pPr>
            <a:r>
              <a:rPr lang="en-US" sz="1300" dirty="0">
                <a:solidFill>
                  <a:schemeClr val="tx1"/>
                </a:solidFill>
              </a:rPr>
              <a:t>Instalment due dates are not moved off holidays</a:t>
            </a:r>
            <a:endParaRPr lang="en-US" sz="1300" dirty="0"/>
          </a:p>
          <a:p>
            <a:pPr marL="228600" indent="-228600" algn="l">
              <a:spcAft>
                <a:spcPts val="400"/>
              </a:spcAft>
              <a:buSzPct val="100000"/>
              <a:buChar char="•"/>
            </a:pPr>
            <a:r>
              <a:rPr lang="en-US" sz="1300" dirty="0">
                <a:solidFill>
                  <a:schemeClr val="tx1"/>
                </a:solidFill>
              </a:rPr>
              <a:t>One history row per date: opened, end of day started, closed, closed by</a:t>
            </a:r>
            <a:endParaRPr lang="en-US" sz="1300" dirty="0"/>
          </a:p>
          <a:p>
            <a:pPr marL="228600" indent="-228600" algn="l">
              <a:spcAft>
                <a:spcPts val="400"/>
              </a:spcAft>
              <a:buSzPct val="100000"/>
              <a:buChar char="•"/>
            </a:pPr>
            <a:r>
              <a:rPr lang="en-US" sz="1300" dirty="0">
                <a:solidFill>
                  <a:schemeClr val="tx1"/>
                </a:solidFill>
              </a:rPr>
              <a:t>One state row under a database lock, so concurrent callers are serialised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Process flow: end of day</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One run closes the day: the daily jobs in priority order, then the business date advances</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Start</a:t>
            </a:r>
            <a:endParaRPr lang="en-US" sz="1400" dirty="0"/>
          </a:p>
          <a:p>
            <a:pPr algn="l" indent="0" marL="0">
              <a:buNone/>
            </a:pPr>
            <a:r>
              <a:rPr lang="en-US" sz="1200" dirty="0">
                <a:solidFill>
                  <a:schemeClr val="bg1"/>
                </a:solidFill>
              </a:rPr>
              <a:t>POST eod/start; status becomes EOD_RUNNING</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Run daily jobs</a:t>
            </a:r>
            <a:endParaRPr lang="en-US" sz="1400" dirty="0"/>
          </a:p>
          <a:p>
            <a:pPr algn="l" indent="0" marL="0">
              <a:buNone/>
            </a:pPr>
            <a:r>
              <a:rPr lang="en-US" sz="1200" dirty="0">
                <a:solidFill>
                  <a:schemeClr val="bg1"/>
                </a:solidFill>
              </a:rPr>
              <a:t>Enabled DAILY jobs in priority order for date D; completed ones skipped</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Advance</a:t>
            </a:r>
            <a:endParaRPr lang="en-US" sz="1400" dirty="0"/>
          </a:p>
          <a:p>
            <a:pPr algn="l" indent="0" marL="0">
              <a:buNone/>
            </a:pPr>
            <a:r>
              <a:rPr lang="en-US" sz="1200" dirty="0">
                <a:solidFill>
                  <a:schemeClr val="bg1"/>
                </a:solidFill>
              </a:rPr>
              <a:t>POST advance with expectedBusinessDate = D</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Next day</a:t>
            </a:r>
            <a:endParaRPr lang="en-US" sz="1400" dirty="0"/>
          </a:p>
          <a:p>
            <a:pPr algn="l" indent="0" marL="0">
              <a:buNone/>
            </a:pPr>
            <a:r>
              <a:rPr lang="en-US" sz="1200" dirty="0">
                <a:solidFill>
                  <a:schemeClr val="bg1"/>
                </a:solidFill>
              </a:rPr>
              <a:t>Status OPEN on D + 1; partitions ensured ahead</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Triggers</a:t>
            </a:r>
            <a:endParaRPr lang="en-US" sz="1600" dirty="0"/>
          </a:p>
          <a:p>
            <a:pPr marL="228600" indent="-228600" algn="l">
              <a:spcAft>
                <a:spcPts val="400"/>
              </a:spcAft>
              <a:buSzPct val="100000"/>
              <a:buChar char="•"/>
            </a:pPr>
            <a:r>
              <a:rPr lang="en-US" sz="1300" dirty="0">
                <a:solidFill>
                  <a:schemeClr val="bg1"/>
                </a:solidFill>
              </a:rPr>
              <a:t>Nightly: batch.eod.cron, default 01:00 Asia/Kolkata</a:t>
            </a:r>
            <a:endParaRPr lang="en-US" sz="1300" dirty="0"/>
          </a:p>
          <a:p>
            <a:pPr marL="228600" indent="-228600" algn="l">
              <a:spcAft>
                <a:spcPts val="400"/>
              </a:spcAft>
              <a:buSzPct val="100000"/>
              <a:buChar char="•"/>
            </a:pPr>
            <a:r>
              <a:rPr lang="en-US" sz="1300" dirty="0">
                <a:solidFill>
                  <a:schemeClr val="bg1"/>
                </a:solidFill>
              </a:rPr>
              <a:t>On demand: POST /api/v1/batch-admin/eod/run (202 started, 409 if one is already running)</a:t>
            </a:r>
            <a:endParaRPr lang="en-US" sz="1300" dirty="0"/>
          </a:p>
          <a:p>
            <a:pPr marL="228600" indent="-228600" algn="l">
              <a:spcAft>
                <a:spcPts val="400"/>
              </a:spcAft>
              <a:buSzPct val="100000"/>
              <a:buChar char="•"/>
            </a:pPr>
            <a:r>
              <a:rPr lang="en-US" sz="1300" dirty="0">
                <a:solidFill>
                  <a:schemeClr val="bg1"/>
                </a:solidFill>
              </a:rPr>
              <a:t>Progress: GET /api/v1/batch-admin/eod/status</a:t>
            </a:r>
            <a:endParaRPr lang="en-US" sz="1300" dirty="0"/>
          </a:p>
          <a:p>
            <a:pPr marL="228600" indent="-228600" algn="l">
              <a:spcAft>
                <a:spcPts val="400"/>
              </a:spcAft>
              <a:buSzPct val="100000"/>
              <a:buChar char="•"/>
            </a:pPr>
            <a:r>
              <a:rPr lang="en-US" sz="1300" dirty="0">
                <a:solidFill>
                  <a:schemeClr val="bg1"/>
                </a:solidFill>
              </a:rPr>
              <a:t>While end of day is enabled, the daily jobs' own crons are ignored</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a job fails</a:t>
            </a:r>
            <a:endParaRPr lang="en-US" sz="1600" dirty="0"/>
          </a:p>
          <a:p>
            <a:pPr marL="228600" indent="-228600" algn="l">
              <a:spcAft>
                <a:spcPts val="400"/>
              </a:spcAft>
              <a:buSzPct val="100000"/>
              <a:buChar char="•"/>
            </a:pPr>
            <a:r>
              <a:rPr lang="en-US" sz="1300" dirty="0">
                <a:solidFill>
                  <a:schemeClr val="tx1"/>
                </a:solidFill>
              </a:rPr>
              <a:t>The run stops at the first failure; later jobs do not run</a:t>
            </a:r>
            <a:endParaRPr lang="en-US" sz="1300" dirty="0"/>
          </a:p>
          <a:p>
            <a:pPr marL="228600" indent="-228600" algn="l">
              <a:spcAft>
                <a:spcPts val="400"/>
              </a:spcAft>
              <a:buSzPct val="100000"/>
              <a:buChar char="•"/>
            </a:pPr>
            <a:r>
              <a:rPr lang="en-US" sz="1300" dirty="0">
                <a:solidFill>
                  <a:schemeClr val="tx1"/>
                </a:solidFill>
              </a:rPr>
              <a:t>The date stays at D with status EOD_RUNNING</a:t>
            </a:r>
            <a:endParaRPr lang="en-US" sz="1300" dirty="0"/>
          </a:p>
          <a:p>
            <a:pPr marL="228600" indent="-228600" algn="l">
              <a:spcAft>
                <a:spcPts val="400"/>
              </a:spcAft>
              <a:buSzPct val="100000"/>
              <a:buChar char="•"/>
            </a:pPr>
            <a:r>
              <a:rPr lang="en-US" sz="1300" dirty="0">
                <a:solidFill>
                  <a:schemeClr val="tx1"/>
                </a:solidFill>
              </a:rPr>
              <a:t>Run again: completed jobs are skipped and the failed one is retried</a:t>
            </a:r>
            <a:endParaRPr lang="en-US" sz="1300" dirty="0"/>
          </a:p>
          <a:p>
            <a:pPr marL="228600" indent="-228600" algn="l">
              <a:spcAft>
                <a:spcPts val="400"/>
              </a:spcAft>
              <a:buSzPct val="100000"/>
              <a:buChar char="•"/>
            </a:pPr>
            <a:r>
              <a:rPr lang="en-US" sz="1300" dirty="0">
                <a:solidFill>
                  <a:schemeClr val="tx1"/>
                </a:solidFill>
              </a:rPr>
              <a:t>The date advances only when every job has completed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Not in the chain</a:t>
            </a:r>
            <a:endParaRPr lang="en-US" sz="1600" dirty="0"/>
          </a:p>
          <a:p>
            <a:pPr marL="228600" indent="-228600" algn="l">
              <a:spcAft>
                <a:spcPts val="400"/>
              </a:spcAft>
              <a:buSzPct val="100000"/>
              <a:buChar char="•"/>
            </a:pPr>
            <a:r>
              <a:rPr lang="en-US" sz="1300" dirty="0">
                <a:solidFill>
                  <a:schemeClr val="tx1"/>
                </a:solidFill>
              </a:rPr>
              <a:t>MONTHLY and PERIODIC jobs keep their own schedules and read the business date when they start</a:t>
            </a:r>
            <a:endParaRPr lang="en-US" sz="1300" dirty="0"/>
          </a:p>
          <a:p>
            <a:pPr marL="228600" indent="-228600" algn="l">
              <a:spcAft>
                <a:spcPts val="400"/>
              </a:spcAft>
              <a:buSzPct val="100000"/>
              <a:buChar char="•"/>
            </a:pPr>
            <a:r>
              <a:rPr lang="en-US" sz="1300" dirty="0">
                <a:solidFill>
                  <a:schemeClr val="tx1"/>
                </a:solidFill>
              </a:rPr>
              <a:t>Setting the date is refused while EOD_RUNNING</a:t>
            </a:r>
            <a:endParaRPr lang="en-US" sz="1300" dirty="0"/>
          </a:p>
          <a:p>
            <a:pPr marL="228600" indent="-228600" algn="l">
              <a:spcAft>
                <a:spcPts val="400"/>
              </a:spcAft>
              <a:buSzPct val="100000"/>
              <a:buChar char="•"/>
            </a:pPr>
            <a:r>
              <a:rPr lang="en-US" sz="1300" dirty="0">
                <a:solidFill>
                  <a:schemeClr val="tx1"/>
                </a:solidFill>
              </a:rPr>
              <a:t>Checked by unit tests and by the end-to-end checks BAT-05 and BDT-01 to 03</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jobs now call lending-service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Eleven of the 37 jobs do real work, one account at a time; v1.7 adds DEMAND_RAISE_DAILY and the penal interest job (Account section)</a:t>
            </a:r>
            <a:endParaRPr lang="en-US" sz="1400" dirty="0"/>
          </a:p>
        </p:txBody>
      </p:sp>
      <p:graphicFrame>
        <p:nvGraphicFramePr>
          <p:cNvPr id="11" name="Table 11"/>
          <p:cNvGraphicFramePr>
            <a:graphicFrameLocks noGrp="1"/>
          </p:cNvGraphicFramePr>
          <p:nvPr/>
        </p:nvGraphicFramePr>
        <p:xfrm>
          <a:off x="548640" y="1463040"/>
          <a:ext cx="11064240" cy="2880360"/>
        </p:xfrm>
        <a:graphic>
          <a:graphicData uri="http://schemas.openxmlformats.org/drawingml/2006/table">
            <a:tbl>
              <a:tblPr/>
              <a:tblGrid>
                <a:gridCol w="4160520"/>
                <a:gridCol w="6903720"/>
              </a:tblGrid>
              <a:tr h="365760">
                <a:tc>
                  <a:txBody>
                    <a:bodyPr/>
                    <a:lstStyle/>
                    <a:p>
                      <a:pPr indent="0" marL="0">
                        <a:buNone/>
                      </a:pPr>
                      <a:r>
                        <a:rPr lang="en-US" sz="1200" b="1" dirty="0">
                          <a:solidFill>
                            <a:schemeClr val="bg1"/>
                          </a:solidFill>
                        </a:rPr>
                        <a:t>Job</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does now</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2"/>
                          </a:solidFill>
                        </a:rPr>
                        <a:t>INTEREST_ACCRUAL_DAILY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Accrues one day of interest for each active account on the business date; repeating the run adds nothing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DPD_UPDATE_DAILY, NPA_CLASSIFICATION_CHECK_DAILY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Re-derive each active account's status from days past due at the business date (same function)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RATE_RESET_CHECK_DAILY, RATE_RESET_MONTHLY, QUARTERLY_RATE_RESET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Reset floating-rate accounts to the benchmark rate in force and rebuild the remaining instalments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GL_POSTING_RECONCILIATION_DAILY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Pushes pending ledger outbox entries; fails if any are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00" b="1" dirty="0">
                          <a:solidFill>
                            <a:schemeClr val="tx2"/>
                          </a:solidFill>
                        </a:rPr>
                        <a:t>MONTH_END_GL_CLOSE_MONTHLY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Fails if any ledger outbox entry is still pending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00" b="1" dirty="0">
                          <a:solidFill>
                            <a:schemeClr val="tx2"/>
                          </a:solidFill>
                        </a:rPr>
                        <a:t>FORECLOSURE_PREPAYMENT_PROCESSING</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Forecloses one account (accountId, optional foreclosureDate); repeating does not post twice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How it calls</a:t>
            </a:r>
            <a:endParaRPr lang="en-US" sz="1600" dirty="0"/>
          </a:p>
          <a:p>
            <a:pPr marL="228600" indent="-228600" algn="l">
              <a:spcAft>
                <a:spcPts val="400"/>
              </a:spcAft>
              <a:buSzPct val="100000"/>
              <a:buChar char="•"/>
            </a:pPr>
            <a:r>
              <a:rPr lang="en-US" sz="1200" dirty="0">
                <a:solidFill>
                  <a:schemeClr val="tx1"/>
                </a:solidFill>
              </a:rPr>
              <a:t>Per-account endpoints, so one bad account does not roll back the others</a:t>
            </a:r>
            <a:endParaRPr lang="en-US" sz="1200" dirty="0"/>
          </a:p>
          <a:p>
            <a:pPr marL="228600" indent="-228600" algn="l">
              <a:spcAft>
                <a:spcPts val="400"/>
              </a:spcAft>
              <a:buSzPct val="100000"/>
              <a:buChar char="•"/>
            </a:pPr>
            <a:r>
              <a:rPr lang="en-US" sz="1200" dirty="0">
                <a:solidFill>
                  <a:schemeClr val="tx1"/>
                </a:solidFill>
              </a:rPr>
              <a:t>Retries on I/O errors and HTTP 429, 502, 503, 504</a:t>
            </a:r>
            <a:endParaRPr lang="en-US" sz="1200" dirty="0"/>
          </a:p>
        </p:txBody>
      </p:sp>
      <p:sp>
        <p:nvSpPr>
          <p:cNvPr id="13" name="Shape 13"/>
          <p:cNvSpPr txBox="1"/>
          <p:nvPr/>
        </p:nvSpPr>
        <p:spPr>
          <a:xfrm>
            <a:off x="4297680" y="4709160"/>
            <a:ext cx="3566160" cy="132588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Benchmark rates</a:t>
            </a:r>
            <a:endParaRPr lang="en-US" sz="1600" dirty="0"/>
          </a:p>
          <a:p>
            <a:pPr marL="228600" indent="-228600" algn="l">
              <a:spcAft>
                <a:spcPts val="400"/>
              </a:spcAft>
              <a:buSzPct val="100000"/>
              <a:buChar char="•"/>
            </a:pPr>
            <a:r>
              <a:rPr lang="en-US" sz="1200" dirty="0">
                <a:solidFill>
                  <a:schemeClr val="tx1"/>
                </a:solidFill>
              </a:rPr>
              <a:t>benchmark_rate table (V12): the rate in force is the latest one effective on or before the date</a:t>
            </a:r>
            <a:endParaRPr lang="en-US" sz="1200" dirty="0"/>
          </a:p>
          <a:p>
            <a:pPr marL="228600" indent="-228600" algn="l">
              <a:spcAft>
                <a:spcPts val="400"/>
              </a:spcAft>
              <a:buSzPct val="100000"/>
              <a:buChar char="•"/>
            </a:pPr>
            <a:r>
              <a:rPr lang="en-US" sz="1200" dirty="0">
                <a:solidFill>
                  <a:schemeClr val="tx1"/>
                </a:solidFill>
              </a:rPr>
              <a:t>Daily reset job seeded with OVERNIGHT_MIBOR (batch V4)</a:t>
            </a:r>
            <a:endParaRPr lang="en-US" sz="1200" dirty="0"/>
          </a:p>
        </p:txBody>
      </p:sp>
      <p:sp>
        <p:nvSpPr>
          <p:cNvPr id="14" name="Shape 14"/>
          <p:cNvSpPr txBox="1"/>
          <p:nvPr/>
        </p:nvSpPr>
        <p:spPr>
          <a:xfrm>
            <a:off x="8046720" y="4709160"/>
            <a:ext cx="3566160" cy="132588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Still open</a:t>
            </a:r>
            <a:endParaRPr lang="en-US" sz="1600" dirty="0"/>
          </a:p>
          <a:p>
            <a:pPr marL="228600" indent="-228600" algn="l">
              <a:spcAft>
                <a:spcPts val="400"/>
              </a:spcAft>
              <a:buSzPct val="100000"/>
              <a:buChar char="•"/>
            </a:pPr>
            <a:r>
              <a:rPr lang="en-US" sz="1200" dirty="0">
                <a:solidFill>
                  <a:schemeClr val="tx1"/>
                </a:solidFill>
              </a:rPr>
              <a:t>26 of the 37 jobs are still stubs</a:t>
            </a:r>
            <a:endParaRPr lang="en-US" sz="1200" dirty="0"/>
          </a:p>
          <a:p>
            <a:pPr marL="228600" indent="-228600" algn="l">
              <a:spcAft>
                <a:spcPts val="400"/>
              </a:spcAft>
              <a:buSzPct val="100000"/>
              <a:buChar char="•"/>
            </a:pPr>
            <a:r>
              <a:rPr lang="en-US" sz="1200" dirty="0">
                <a:solidFill>
                  <a:schemeClr val="tx1"/>
                </a:solidFill>
              </a:rPr>
              <a:t>Checked with javac against stubs and a mock platform; not yet built with Maven</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portal and test suite follow the business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Every "today" in the console and in the end-to-end checks is now the business date</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portal</a:t>
            </a:r>
            <a:endParaRPr lang="en-US" sz="1600" dirty="0"/>
          </a:p>
          <a:p>
            <a:pPr marL="228600" indent="-228600" algn="l">
              <a:spcAft>
                <a:spcPts val="400"/>
              </a:spcAft>
              <a:buSzPct val="100000"/>
              <a:buChar char="•"/>
            </a:pPr>
            <a:r>
              <a:rPr lang="en-US" sz="1300" dirty="0">
                <a:solidFill>
                  <a:schemeClr val="tx1"/>
                </a:solidFill>
              </a:rPr>
              <a:t>Days past due, overdue and upcoming lists, dashboard and accrual summary are measured at the business date</a:t>
            </a:r>
            <a:endParaRPr lang="en-US" sz="1300" dirty="0"/>
          </a:p>
          <a:p>
            <a:pPr marL="228600" indent="-228600" algn="l">
              <a:spcAft>
                <a:spcPts val="400"/>
              </a:spcAft>
              <a:buSzPct val="100000"/>
              <a:buChar char="•"/>
            </a:pPr>
            <a:r>
              <a:rPr lang="en-US" sz="1300" dirty="0">
                <a:solidFill>
                  <a:schemeClr val="tx1"/>
                </a:solidFill>
              </a:rPr>
              <a:t>Sidebar shows the date and whether end of day is running (GET /api/admin/business-date)</a:t>
            </a:r>
            <a:endParaRPr lang="en-US" sz="1300" dirty="0"/>
          </a:p>
          <a:p>
            <a:pPr marL="228600" indent="-228600" algn="l">
              <a:spcAft>
                <a:spcPts val="400"/>
              </a:spcAft>
              <a:buSzPct val="100000"/>
              <a:buChar char="•"/>
            </a:pPr>
            <a:r>
              <a:rPr lang="en-US" sz="1300" dirty="0">
                <a:solidFill>
                  <a:schemeClr val="tx1"/>
                </a:solidFill>
              </a:rPr>
              <a:t>Still read-only: it reads the date from the shared database and writes nothing</a:t>
            </a:r>
            <a:endParaRPr lang="en-US" sz="1300" dirty="0"/>
          </a:p>
          <a:p>
            <a:pPr marL="228600" indent="-228600" algn="l">
              <a:spcAft>
                <a:spcPts val="400"/>
              </a:spcAft>
              <a:buSzPct val="100000"/>
              <a:buChar char="•"/>
            </a:pPr>
            <a:r>
              <a:rPr lang="en-US" sz="1300" dirty="0">
                <a:solidFill>
                  <a:schemeClr val="tx1"/>
                </a:solidFill>
              </a:rPr>
              <a:t>On an older database with no business date, it shows the calendar date and a warning</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End-to-end test suite</a:t>
            </a:r>
            <a:endParaRPr lang="en-US" sz="1600" dirty="0"/>
          </a:p>
          <a:p>
            <a:pPr marL="228600" indent="-228600" algn="l">
              <a:spcAft>
                <a:spcPts val="400"/>
              </a:spcAft>
              <a:buSzPct val="100000"/>
              <a:buChar char="•"/>
            </a:pPr>
            <a:r>
              <a:rPr lang="en-US" sz="1300" dirty="0">
                <a:solidFill>
                  <a:schemeClr val="tx1"/>
                </a:solidFill>
              </a:rPr>
              <a:t>Sets the business date at the start of a run and moves it with end of day (EOD_RUN) or by running the jobs and then advancing (JOBS_THEN_ADVANCE)</a:t>
            </a:r>
            <a:endParaRPr lang="en-US" sz="1300" dirty="0"/>
          </a:p>
          <a:p>
            <a:pPr marL="228600" indent="-228600" algn="l">
              <a:spcAft>
                <a:spcPts val="400"/>
              </a:spcAft>
              <a:buSzPct val="100000"/>
              <a:buChar char="•"/>
            </a:pPr>
            <a:r>
              <a:rPr lang="en-US" sz="1300" dirty="0">
                <a:solidFill>
                  <a:schemeClr val="tx1"/>
                </a:solidFill>
              </a:rPr>
              <a:t>Mode OFF keeps the earlier behaviour; preflight checks the business date endpoint</a:t>
            </a:r>
            <a:endParaRPr lang="en-US" sz="1300" dirty="0"/>
          </a:p>
          <a:p>
            <a:pPr marL="228600" indent="-228600" algn="l">
              <a:spcAft>
                <a:spcPts val="400"/>
              </a:spcAft>
              <a:buSzPct val="100000"/>
              <a:buChar char="•"/>
            </a:pPr>
            <a:r>
              <a:rPr lang="en-US" sz="1300" dirty="0">
                <a:solidFill>
                  <a:schemeClr val="tx1"/>
                </a:solidFill>
              </a:rPr>
              <a:t>New checks: BAT-05 end of day advances, BDT-01 to 03 date state and the admin display</a:t>
            </a:r>
            <a:endParaRPr lang="en-US" sz="1300" dirty="0"/>
          </a:p>
          <a:p>
            <a:pPr marL="228600" indent="-228600" algn="l">
              <a:spcAft>
                <a:spcPts val="400"/>
              </a:spcAft>
              <a:buSzPct val="100000"/>
              <a:buChar char="•"/>
            </a:pPr>
            <a:r>
              <a:rPr lang="en-US" sz="1300" dirty="0">
                <a:solidFill>
                  <a:schemeClr val="tx1"/>
                </a:solidFill>
              </a:rPr>
              <a:t>DPD-04 now expects days past due at the business date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What has been checked</a:t>
            </a:r>
            <a:endParaRPr lang="en-US" sz="1600" dirty="0"/>
          </a:p>
          <a:p>
            <a:pPr algn="l" indent="0" marL="0">
              <a:buNone/>
            </a:pPr>
            <a:r>
              <a:rPr lang="en-US" sz="1400" dirty="0">
                <a:solidFill>
                  <a:schemeClr val="tx1"/>
                </a:solidFill>
              </a:rPr>
              <a:t>The suite ran against a mock platform for 766 simulated days: the new checks pass, and injected bugs (stubbed jobs, wrong days past due, payment errors) are caught. It has not yet been run against the real services, and the Java changes have not been built with Maven.</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business date, end of day and batch calls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v1.4. Paths relative to /api/v1; business date and benchmark rates on lending-service, end of day on the batch service</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Business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  |  /history  |  /working-day?date=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Current date, status and working-day flag; last 30 dates; working-day test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/business-date/eod/start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OPEN to EOD_RUNNING; 409 if already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/business-date/advance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Body expectedBusinessDate; closes that date, opens the next;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Set the date while OPEN; forward only unless backward is allowed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/business-date/holidays?from=&amp;to=  |  PUT, DELETE /holidays/{date}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List, add or remove a holiday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Benchmark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PUT /benchmark-rates/{ref}/{effectiveDate}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Record a rate that takes effect on a 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/benchmark-rates/{ref}?asOf=  |  /{ref}/history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Rate in force on a date; all recorded rates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Per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/loan-accounts/{id}/interest-accruals?businessDate=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POSTED, ALREADY_POSTED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/loan-accounts/{id}/delinquency-classification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Days past due, previous and new 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/loan-accounts/{id}/rate-reset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RESET, UNCHANGED or SKIPPED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End of day (batch)</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/batch-admin/eod/run  |  GET /batch-admin/eod/status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Start a run (202, or 409 if running); progress of the current or last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Maintenance and eleven base products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sandbox can be emptied and re-seeded from the admin portal; the base products cover every schedule type</a:t>
            </a:r>
            <a:endParaRPr lang="en-US" sz="1400" dirty="0"/>
          </a:p>
        </p:txBody>
      </p:sp>
      <p:graphicFrame>
        <p:nvGraphicFramePr>
          <p:cNvPr id="11" name="Table 11"/>
          <p:cNvGraphicFramePr>
            <a:graphicFrameLocks noGrp="1"/>
          </p:cNvGraphicFramePr>
          <p:nvPr/>
        </p:nvGraphicFramePr>
        <p:xfrm>
          <a:off x="548640" y="1463040"/>
          <a:ext cx="11064240" cy="2990088"/>
        </p:xfrm>
        <a:graphic>
          <a:graphicData uri="http://schemas.openxmlformats.org/drawingml/2006/table">
            <a:tbl>
              <a:tblPr/>
              <a:tblGrid>
                <a:gridCol w="2011680"/>
                <a:gridCol w="3200400"/>
                <a:gridCol w="3017520"/>
                <a:gridCol w="1005840"/>
                <a:gridCol w="1005840"/>
                <a:gridCol w="822960"/>
              </a:tblGrid>
              <a:tr h="365760">
                <a:tc>
                  <a:txBody>
                    <a:bodyPr/>
                    <a:lstStyle/>
                    <a:p>
                      <a:pPr indent="0" marL="0">
                        <a:buNone/>
                      </a:pPr>
                      <a:r>
                        <a:rPr lang="en-US" sz="1200" b="1" dirty="0">
                          <a:solidFill>
                            <a:schemeClr val="bg1"/>
                          </a:solidFill>
                        </a:rPr>
                        <a:t>Code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Product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Schedule / day count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Amount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Months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74904">
                <a:tc>
                  <a:txBody>
                    <a:bodyPr/>
                    <a:lstStyle/>
                    <a:p>
                      <a:pPr indent="0" marL="0">
                        <a:buNone/>
                      </a:pPr>
                      <a:r>
                        <a:rPr lang="en-US" sz="1150" b="1" dirty="0">
                          <a:solidFill>
                            <a:schemeClr val="tx2"/>
                          </a:solidFill>
                        </a:rPr>
                        <a:t>PL01 BL01 EL01 GL01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Personal, Business, Education, Gold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fixed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9.0 - 11.5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10k - 10M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3 - 120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AL01  HL01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Auto, Home (mortgage)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EMI, floating on REPO</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8.75 - 9.75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TL01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Term Loan - Equal Principal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Equal principal, 30E/360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11.0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- 20M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BB01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Bridge Loan - Interest Only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Interest only, ACT/360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500k - 50M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3 - 36</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AB01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Auto Loan - Balloon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Balloon 30% (max 50),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74904">
                <a:tc>
                  <a:txBody>
                    <a:bodyPr/>
                    <a:lstStyle/>
                    <a:p>
                      <a:pPr indent="0" marL="0">
                        <a:buNone/>
                      </a:pPr>
                      <a:r>
                        <a:rPr lang="en-US" sz="1150" b="1" dirty="0">
                          <a:solidFill>
                            <a:schemeClr val="tx2"/>
                          </a:solidFill>
                        </a:rPr>
                        <a:t>SU01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Personal Loan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Step-up 5% a year, ACT/365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50k - 3M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12 - 84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74904">
                <a:tc>
                  <a:txBody>
                    <a:bodyPr/>
                    <a:lstStyle/>
                    <a:p>
                      <a:pPr indent="0" marL="0">
                        <a:buNone/>
                      </a:pPr>
                      <a:r>
                        <a:rPr lang="en-US" sz="1150" b="1" dirty="0">
                          <a:solidFill>
                            <a:schemeClr val="tx2"/>
                          </a:solidFill>
                        </a:rPr>
                        <a:t>EM01</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Education - Study Moratorium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EMI after 12-month study period, 30/360</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9.5</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100k - 5M</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24 - 144</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Create base products</a:t>
            </a:r>
            <a:endParaRPr lang="en-US" sz="1600" dirty="0"/>
          </a:p>
          <a:p>
            <a:pPr marL="228600" indent="-228600" algn="l">
              <a:spcAft>
                <a:spcPts val="400"/>
              </a:spcAft>
              <a:buSzPct val="100000"/>
              <a:buChar char="•"/>
            </a:pPr>
            <a:r>
              <a:rPr lang="en-US" sz="1200" dirty="0">
                <a:solidFill>
                  <a:schemeClr val="tx1"/>
                </a:solidFill>
              </a:rPr>
              <a:t>Safe to repeat: a code that exists is left alone</a:t>
            </a:r>
            <a:endParaRPr lang="en-US" sz="1200" dirty="0"/>
          </a:p>
          <a:p>
            <a:pPr marL="228600" indent="-228600" algn="l">
              <a:spcAft>
                <a:spcPts val="400"/>
              </a:spcAft>
              <a:buSzPct val="100000"/>
              <a:buChar char="•"/>
            </a:pPr>
            <a:r>
              <a:rPr lang="en-US" sz="1200" dirty="0">
                <a:solidFill>
                  <a:schemeClr val="tx1"/>
                </a:solidFill>
              </a:rPr>
              <a:t>Always available</a:t>
            </a:r>
            <a:endParaRPr lang="en-US" sz="1200" dirty="0"/>
          </a:p>
        </p:txBody>
      </p:sp>
      <p:sp>
        <p:nvSpPr>
          <p:cNvPr id="13" name="Shape 13"/>
          <p:cNvSpPr txBox="1"/>
          <p:nvPr/>
        </p:nvSpPr>
        <p:spPr>
          <a:xfrm>
            <a:off x="4297680" y="4572000"/>
            <a:ext cx="356616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Clear all data</a:t>
            </a:r>
            <a:endParaRPr lang="en-US" sz="1600" dirty="0"/>
          </a:p>
          <a:p>
            <a:pPr marL="228600" indent="-228600" algn="l">
              <a:spcAft>
                <a:spcPts val="400"/>
              </a:spcAft>
              <a:buSzPct val="100000"/>
              <a:buChar char="•"/>
            </a:pPr>
            <a:r>
              <a:rPr lang="en-US" sz="1200" dirty="0">
                <a:solidFill>
                  <a:schemeClr val="tx1"/>
                </a:solidFill>
              </a:rPr>
              <a:t>Accounts and all they own, plus every product; ids restart at 1</a:t>
            </a:r>
            <a:endParaRPr lang="en-US" sz="1200" dirty="0"/>
          </a:p>
          <a:p>
            <a:pPr marL="228600" indent="-228600" algn="l">
              <a:spcAft>
                <a:spcPts val="400"/>
              </a:spcAft>
              <a:buSzPct val="100000"/>
              <a:buChar char="•"/>
            </a:pPr>
            <a:r>
              <a:rPr lang="en-US" sz="1200" dirty="0">
                <a:solidFill>
                  <a:schemeClr val="tx1"/>
                </a:solidFill>
              </a:rPr>
              <a:t>Kept: business date, holidays, benchmark rates, batch tables</a:t>
            </a:r>
            <a:endParaRPr lang="en-US" sz="1200" dirty="0"/>
          </a:p>
        </p:txBody>
      </p:sp>
      <p:sp>
        <p:nvSpPr>
          <p:cNvPr id="14" name="Shape 14"/>
          <p:cNvSpPr txBox="1"/>
          <p:nvPr/>
        </p:nvSpPr>
        <p:spPr>
          <a:xfrm>
            <a:off x="8046720" y="4572000"/>
            <a:ext cx="356616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Safeguards</a:t>
            </a:r>
            <a:endParaRPr lang="en-US" sz="1600" dirty="0"/>
          </a:p>
          <a:p>
            <a:pPr marL="228600" indent="-228600" algn="l">
              <a:spcAft>
                <a:spcPts val="400"/>
              </a:spcAft>
              <a:buSzPct val="100000"/>
              <a:buChar char="•"/>
            </a:pPr>
            <a:r>
              <a:rPr lang="en-US" sz="1200" dirty="0">
                <a:solidFill>
                  <a:schemeClr val="tx1"/>
                </a:solidFill>
              </a:rPr>
              <a:t>Off unless LENDING_RESET_ENABLED=true (403)</a:t>
            </a:r>
            <a:endParaRPr lang="en-US" sz="1200" dirty="0"/>
          </a:p>
          <a:p>
            <a:pPr marL="228600" indent="-228600" algn="l">
              <a:spcAft>
                <a:spcPts val="400"/>
              </a:spcAft>
              <a:buSzPct val="100000"/>
              <a:buChar char="•"/>
            </a:pPr>
            <a:r>
              <a:rPr lang="en-US" sz="1200" dirty="0">
                <a:solidFill>
                  <a:schemeClr val="tx1"/>
                </a:solidFill>
              </a:rPr>
              <a:t>Type RESET to confirm; refused during end of day (409)</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Batch framework: what was fixed in v1.5</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Found while running end of day on the sandbox; every job now runs in 2 streams and the chain waits for each job</a:t>
            </a:r>
            <a:endParaRPr lang="en-US" sz="1400" dirty="0"/>
          </a:p>
        </p:txBody>
      </p:sp>
      <p:graphicFrame>
        <p:nvGraphicFramePr>
          <p:cNvPr id="11" name="Table 11"/>
          <p:cNvGraphicFramePr>
            <a:graphicFrameLocks noGrp="1"/>
          </p:cNvGraphicFramePr>
          <p:nvPr/>
        </p:nvGraphicFramePr>
        <p:xfrm>
          <a:off x="548640" y="1463040"/>
          <a:ext cx="11064240" cy="3108960"/>
        </p:xfrm>
        <a:graphic>
          <a:graphicData uri="http://schemas.openxmlformats.org/drawingml/2006/table">
            <a:tbl>
              <a:tblPr/>
              <a:tblGrid>
                <a:gridCol w="3017520"/>
                <a:gridCol w="3566160"/>
                <a:gridCol w="4480560"/>
              </a:tblGrid>
              <a:tr h="365760">
                <a:tc>
                  <a:txBody>
                    <a:bodyPr/>
                    <a:lstStyle/>
                    <a:p>
                      <a:pPr indent="0" marL="0">
                        <a:buNone/>
                      </a:pPr>
                      <a:r>
                        <a:rPr lang="en-US" sz="1200" b="1" dirty="0">
                          <a:solidFill>
                            <a:schemeClr val="bg1"/>
                          </a:solidFill>
                        </a:rPr>
                        <a:t>Symptom</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Cause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Fix</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548640">
                <a:tc>
                  <a:txBody>
                    <a:bodyPr/>
                    <a:lstStyle/>
                    <a:p>
                      <a:pPr indent="0" marL="0">
                        <a:buNone/>
                      </a:pPr>
                      <a:r>
                        <a:rPr lang="en-US" sz="1150" b="1" dirty="0">
                          <a:solidFill>
                            <a:schemeClr val="tx2"/>
                          </a:solidFill>
                        </a:rPr>
                        <a:t>Only one job completed per end-of-day run</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Job launcher is asynchronous; status was read while the job was still starting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Gateway polls until the job is finished, then starts the next one; stops on failure or time limit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Some accounts skipped by accrual; "Reader must be open" on DPD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All streams of a job shared one reader; starting together they overwrote each other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Reader state is per stream; each stream logs its account range and read / written / skipped counts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GL reconciliation: "No business date in the job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Time-limit guard ran the job on another thread without the context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Context is copied to that thread and cleared afterwards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End of day failed on first call to lending-service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Free tier answers 502 for up to two minutes after sleep</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Business-date calls retry for about two minutes; account calls keep the short retry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Kafka connection warnings in local logs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Producer tried to reach a broker that is not running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BATCH_KAFKA_ENABLED=false removes the producer; off locally and on Render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2 streams per job</a:t>
            </a:r>
            <a:endParaRPr lang="en-US" sz="1600" dirty="0"/>
          </a:p>
          <a:p>
            <a:pPr marL="228600" indent="-228600" algn="l">
              <a:spcAft>
                <a:spcPts val="400"/>
              </a:spcAft>
              <a:buSzPct val="100000"/>
              <a:buChar char="•"/>
            </a:pPr>
            <a:r>
              <a:rPr lang="en-US" sz="1200" dirty="0">
                <a:solidFill>
                  <a:schemeClr val="tx1"/>
                </a:solidFill>
              </a:rPr>
              <a:t>Migration V5; per-job number still editable on the Configuration screen</a:t>
            </a:r>
            <a:endParaRPr lang="en-US" sz="1200" dirty="0"/>
          </a:p>
          <a:p>
            <a:pPr marL="228600" indent="-228600" algn="l">
              <a:spcAft>
                <a:spcPts val="400"/>
              </a:spcAft>
              <a:buSzPct val="100000"/>
              <a:buChar char="•"/>
            </a:pPr>
            <a:r>
              <a:rPr lang="en-US" sz="1200" dirty="0">
                <a:solidFill>
                  <a:schemeClr val="tx1"/>
                </a:solidFill>
              </a:rPr>
              <a:t>Applies from that job's next run</a:t>
            </a:r>
            <a:endParaRPr lang="en-US" sz="1200" dirty="0"/>
          </a:p>
        </p:txBody>
      </p:sp>
      <p:sp>
        <p:nvSpPr>
          <p:cNvPr id="13" name="Shape 13"/>
          <p:cNvSpPr txBox="1"/>
          <p:nvPr/>
        </p:nvSpPr>
        <p:spPr>
          <a:xfrm>
            <a:off x="4297680" y="4663440"/>
            <a:ext cx="3566160" cy="13716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Swagger</a:t>
            </a:r>
            <a:endParaRPr lang="en-US" sz="1600" dirty="0"/>
          </a:p>
          <a:p>
            <a:pPr marL="228600" indent="-228600" algn="l">
              <a:spcAft>
                <a:spcPts val="400"/>
              </a:spcAft>
              <a:buSzPct val="100000"/>
              <a:buChar char="•"/>
            </a:pPr>
            <a:r>
              <a:rPr lang="en-US" sz="1200" dirty="0">
                <a:solidFill>
                  <a:schemeClr val="tx1"/>
                </a:solidFill>
              </a:rPr>
              <a:t>BATCH_SWAGGER_ENABLED=true shows /swagger-ui.html on the batch service, behind the same login</a:t>
            </a:r>
            <a:endParaRPr lang="en-US" sz="1200" dirty="0"/>
          </a:p>
        </p:txBody>
      </p:sp>
      <p:sp>
        <p:nvSpPr>
          <p:cNvPr id="14" name="Shape 14"/>
          <p:cNvSpPr txBox="1"/>
          <p:nvPr/>
        </p:nvSpPr>
        <p:spPr>
          <a:xfrm>
            <a:off x="8046720" y="4663440"/>
            <a:ext cx="3566160" cy="13716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To check next</a:t>
            </a:r>
            <a:endParaRPr lang="en-US" sz="1600" dirty="0"/>
          </a:p>
          <a:p>
            <a:pPr marL="228600" indent="-228600" algn="l">
              <a:spcAft>
                <a:spcPts val="400"/>
              </a:spcAft>
              <a:buSzPct val="100000"/>
              <a:buChar char="•"/>
            </a:pPr>
            <a:r>
              <a:rPr lang="en-US" sz="1200" dirty="0">
                <a:solidFill>
                  <a:schemeClr val="tx1"/>
                </a:solidFill>
              </a:rPr>
              <a:t>Set the two variables on Render and redeploy</a:t>
            </a:r>
            <a:endParaRPr lang="en-US" sz="1200" dirty="0"/>
          </a:p>
          <a:p>
            <a:pPr marL="228600" indent="-228600" algn="l">
              <a:spcAft>
                <a:spcPts val="400"/>
              </a:spcAft>
              <a:buSzPct val="100000"/>
              <a:buChar char="•"/>
            </a:pPr>
            <a:r>
              <a:rPr lang="en-US" sz="1200" dirty="0">
                <a:solidFill>
                  <a:schemeClr val="tx1"/>
                </a:solidFill>
              </a:rPr>
              <a:t>Compare per-stream read counts with active accounts after the next end of day</a:t>
            </a:r>
            <a:endParaRPr lang="en-US" sz="12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Test suite: fits the products, keeps going</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 run no longer stops before it starts because a sample product is missing, or because one account fails</a:t>
            </a:r>
            <a:endParaRPr lang="en-US" sz="1400" dirty="0"/>
          </a:p>
        </p:txBody>
      </p:sp>
      <p:sp>
        <p:nvSpPr>
          <p:cNvPr id="11" name="Shape 11"/>
          <p:cNvSpPr txBox="1"/>
          <p:nvPr/>
        </p:nvSpPr>
        <p:spPr>
          <a:xfrm>
            <a:off x="548640" y="1554480"/>
            <a:ext cx="544068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Fitting the plan to the products</a:t>
            </a:r>
            <a:endParaRPr lang="en-US" sz="1600" dirty="0"/>
          </a:p>
          <a:p>
            <a:pPr marL="228600" indent="-228600" algn="l">
              <a:spcAft>
                <a:spcPts val="400"/>
              </a:spcAft>
              <a:buSzPct val="100000"/>
              <a:buChar char="•"/>
            </a:pPr>
            <a:r>
              <a:rPr lang="en-US" sz="1300" dirty="0">
                <a:solidFill>
                  <a:schemeClr val="tx1"/>
                </a:solidFill>
              </a:rPr>
              <a:t>Reads the product list before the pre-run check</a:t>
            </a:r>
            <a:endParaRPr lang="en-US" sz="1300" dirty="0"/>
          </a:p>
          <a:p>
            <a:pPr marL="228600" indent="-228600" algn="l">
              <a:spcAft>
                <a:spcPts val="400"/>
              </a:spcAft>
              <a:buSzPct val="100000"/>
              <a:buChar char="•"/>
            </a:pPr>
            <a:r>
              <a:rPr lang="en-US" sz="1300" dirty="0">
                <a:solidFill>
                  <a:schemeClr val="tx1"/>
                </a:solidFill>
              </a:rPr>
              <a:t>Missing, inactive or mortgage product: the account moves to the closest active unsecured product (AUTO) or is left out (SKIP)</a:t>
            </a:r>
            <a:endParaRPr lang="en-US" sz="1300" dirty="0"/>
          </a:p>
          <a:p>
            <a:pPr marL="228600" indent="-228600" algn="l">
              <a:spcAft>
                <a:spcPts val="400"/>
              </a:spcAft>
              <a:buSzPct val="100000"/>
              <a:buChar char="•"/>
            </a:pPr>
            <a:r>
              <a:rPr lang="en-US" sz="1300" dirty="0">
                <a:solidFill>
                  <a:schemeClr val="tx1"/>
                </a:solidFill>
              </a:rPr>
              <a:t>Amount, tenure, rate and frequency are moved inside the product's limits</a:t>
            </a:r>
            <a:endParaRPr lang="en-US" sz="1300" dirty="0"/>
          </a:p>
          <a:p>
            <a:pPr marL="228600" indent="-228600" algn="l">
              <a:spcAft>
                <a:spcPts val="400"/>
              </a:spcAft>
              <a:buSzPct val="100000"/>
              <a:buChar char="•"/>
            </a:pPr>
            <a:r>
              <a:rPr lang="en-US" sz="1300" dirty="0">
                <a:solidFill>
                  <a:schemeClr val="tx1"/>
                </a:solidFill>
              </a:rPr>
              <a:t>Product-specific overrides are dropped when a different product is used</a:t>
            </a:r>
            <a:endParaRPr lang="en-US" sz="1300" dirty="0"/>
          </a:p>
          <a:p>
            <a:pPr marL="228600" indent="-228600" algn="l">
              <a:spcAft>
                <a:spcPts val="400"/>
              </a:spcAft>
              <a:buSzPct val="100000"/>
              <a:buChar char="•"/>
            </a:pPr>
            <a:r>
              <a:rPr lang="en-US" sz="1300" dirty="0">
                <a:solidFill>
                  <a:schemeClr val="tx1"/>
                </a:solidFill>
              </a:rPr>
              <a:t>Each change appears as ADAPT in the log and in the report</a:t>
            </a:r>
            <a:endParaRPr lang="en-US" sz="1300" dirty="0"/>
          </a:p>
        </p:txBody>
      </p:sp>
      <p:sp>
        <p:nvSpPr>
          <p:cNvPr id="12" name="Shape 12"/>
          <p:cNvSpPr txBox="1"/>
          <p:nvPr/>
        </p:nvSpPr>
        <p:spPr>
          <a:xfrm>
            <a:off x="6172200" y="1554480"/>
            <a:ext cx="544068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Carrying on</a:t>
            </a:r>
            <a:endParaRPr lang="en-US" sz="1600" dirty="0"/>
          </a:p>
          <a:p>
            <a:pPr marL="228600" indent="-228600" algn="l">
              <a:spcAft>
                <a:spcPts val="400"/>
              </a:spcAft>
              <a:buSzPct val="100000"/>
              <a:buChar char="•"/>
            </a:pPr>
            <a:r>
              <a:rPr lang="en-US" sz="1300" dirty="0">
                <a:solidFill>
                  <a:schemeClr val="bg1"/>
                </a:solidFill>
              </a:rPr>
              <a:t>Product trouble is a warning; only unreachable services, a disabled job, a wrong business date or no usable product stops the run</a:t>
            </a:r>
            <a:endParaRPr lang="en-US" sz="1300" dirty="0"/>
          </a:p>
          <a:p>
            <a:pPr marL="228600" indent="-228600" algn="l">
              <a:spcAft>
                <a:spcPts val="400"/>
              </a:spcAft>
              <a:buSzPct val="100000"/>
              <a:buChar char="•"/>
            </a:pPr>
            <a:r>
              <a:rPr lang="en-US" sz="1300" dirty="0">
                <a:solidFill>
                  <a:schemeClr val="bg1"/>
                </a:solidFill>
              </a:rPr>
              <a:t>An account that cannot be created, disbursed or set up is recorded (SETUP-01 to 03) and the others continue</a:t>
            </a:r>
            <a:endParaRPr lang="en-US" sz="1300" dirty="0"/>
          </a:p>
          <a:p>
            <a:pPr marL="228600" indent="-228600" algn="l">
              <a:spcAft>
                <a:spcPts val="400"/>
              </a:spcAft>
              <a:buSzPct val="100000"/>
              <a:buChar char="•"/>
            </a:pPr>
            <a:r>
              <a:rPr lang="en-US" sz="1300" dirty="0">
                <a:solidFill>
                  <a:schemeClr val="bg1"/>
                </a:solidFill>
              </a:rPr>
              <a:t>The log ends set-up with "Setup done: N account(s) ready"</a:t>
            </a:r>
            <a:endParaRPr lang="en-US" sz="1300" dirty="0"/>
          </a:p>
          <a:p>
            <a:pPr marL="228600" indent="-228600" algn="l">
              <a:spcAft>
                <a:spcPts val="400"/>
              </a:spcAft>
              <a:buSzPct val="100000"/>
              <a:buChar char="•"/>
            </a:pPr>
            <a:r>
              <a:rPr lang="en-US" sz="1300" dirty="0">
                <a:solidFill>
                  <a:schemeClr val="bg1"/>
                </a:solidFill>
              </a:rPr>
              <a:t>Run Maintenance - Create base products first to exercise every schedule type</a:t>
            </a:r>
            <a:endParaRPr lang="en-US" sz="1300" dirty="0"/>
          </a:p>
        </p:txBody>
      </p:sp>
      <p:sp>
        <p:nvSpPr>
          <p:cNvPr id="13" name="Shape 13"/>
          <p:cNvSpPr txBox="1"/>
          <p:nvPr/>
        </p:nvSpPr>
        <p:spPr>
          <a:xfrm>
            <a:off x="548640" y="4754880"/>
            <a:ext cx="11064240" cy="12801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Start date after an end of day</a:t>
            </a:r>
            <a:endParaRPr lang="en-US" sz="1600" dirty="0"/>
          </a:p>
          <a:p>
            <a:pPr algn="l" indent="0" marL="0">
              <a:buNone/>
            </a:pPr>
            <a:r>
              <a:rPr lang="en-US" sz="1400" dirty="0">
                <a:solidFill>
                  <a:schemeClr val="tx1"/>
                </a:solidFill>
              </a:rPr>
              <a:t>The suite refuses a start date before the business date. With end of day for 1 November 2026 complete, the business date is 2 November 2026, so set e2e.start-date to that date or later.</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After end of day: the daily cycle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an operator does each business day, and what is still manual</a:t>
            </a:r>
            <a:endParaRPr lang="en-US" sz="1400" dirty="0"/>
          </a:p>
        </p:txBody>
      </p:sp>
      <p:sp>
        <p:nvSpPr>
          <p:cNvPr id="11" name="Shape 11"/>
          <p:cNvSpPr txBox="1"/>
          <p:nvPr/>
        </p:nvSpPr>
        <p:spPr>
          <a:xfrm>
            <a:off x="5486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Check</a:t>
            </a:r>
            <a:endParaRPr lang="en-US" sz="1400" dirty="0"/>
          </a:p>
          <a:p>
            <a:pPr algn="l" indent="0" marL="0">
              <a:buNone/>
            </a:pPr>
            <a:r>
              <a:rPr lang="en-US" sz="1200" dirty="0">
                <a:solidFill>
                  <a:schemeClr val="bg1"/>
                </a:solidFill>
              </a:rPr>
              <a:t>Date is D + 1 and OPEN; every daily job COMPLETED</a:t>
            </a:r>
            <a:endParaRPr lang="en-US" sz="1200" dirty="0"/>
          </a:p>
        </p:txBody>
      </p:sp>
      <p:sp>
        <p:nvSpPr>
          <p:cNvPr id="12" name="Shape 12"/>
          <p:cNvSpPr/>
          <p:nvPr/>
        </p:nvSpPr>
        <p:spPr>
          <a:xfrm>
            <a:off x="2971800" y="2148840"/>
            <a:ext cx="426720" cy="0"/>
          </a:xfrm>
          <a:prstGeom prst="line">
            <a:avLst/>
          </a:prstGeom>
          <a:noFill/>
          <a:ln w="15875">
            <a:solidFill>
              <a:schemeClr val="tx2"/>
            </a:solidFill>
            <a:prstDash val="solid"/>
            <a:tailEnd type="triangle"/>
          </a:ln>
        </p:spPr>
      </p:sp>
      <p:sp>
        <p:nvSpPr>
          <p:cNvPr id="13" name="Shape 13"/>
          <p:cNvSpPr txBox="1"/>
          <p:nvPr/>
        </p:nvSpPr>
        <p:spPr>
          <a:xfrm>
            <a:off x="34442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Transact</a:t>
            </a:r>
            <a:endParaRPr lang="en-US" sz="1400" dirty="0"/>
          </a:p>
          <a:p>
            <a:pPr algn="l" indent="0" marL="0">
              <a:buNone/>
            </a:pPr>
            <a:r>
              <a:rPr lang="en-US" sz="1200" dirty="0">
                <a:solidFill>
                  <a:schemeClr val="bg1"/>
                </a:solidFill>
              </a:rPr>
              <a:t>Accounts, disbursals, payments dated D + 1</a:t>
            </a:r>
            <a:endParaRPr lang="en-US" sz="1200" dirty="0"/>
          </a:p>
        </p:txBody>
      </p:sp>
      <p:sp>
        <p:nvSpPr>
          <p:cNvPr id="14" name="Shape 14"/>
          <p:cNvSpPr/>
          <p:nvPr/>
        </p:nvSpPr>
        <p:spPr>
          <a:xfrm>
            <a:off x="5867400" y="2148840"/>
            <a:ext cx="426720" cy="0"/>
          </a:xfrm>
          <a:prstGeom prst="line">
            <a:avLst/>
          </a:prstGeom>
          <a:noFill/>
          <a:ln w="15875">
            <a:solidFill>
              <a:schemeClr val="tx2"/>
            </a:solidFill>
            <a:prstDash val="solid"/>
            <a:tailEnd type="triangle"/>
          </a:ln>
        </p:spPr>
      </p:sp>
      <p:sp>
        <p:nvSpPr>
          <p:cNvPr id="15" name="Shape 15"/>
          <p:cNvSpPr txBox="1"/>
          <p:nvPr/>
        </p:nvSpPr>
        <p:spPr>
          <a:xfrm>
            <a:off x="63398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End of day</a:t>
            </a:r>
            <a:endParaRPr lang="en-US" sz="1400" dirty="0"/>
          </a:p>
          <a:p>
            <a:pPr algn="l" indent="0" marL="0">
              <a:buNone/>
            </a:pPr>
            <a:r>
              <a:rPr lang="en-US" sz="1200" dirty="0">
                <a:solidFill>
                  <a:schemeClr val="bg1"/>
                </a:solidFill>
              </a:rPr>
              <a:t>Nightly at 01:00 or POST eod/run</a:t>
            </a:r>
            <a:endParaRPr lang="en-US" sz="1200" dirty="0"/>
          </a:p>
        </p:txBody>
      </p:sp>
      <p:sp>
        <p:nvSpPr>
          <p:cNvPr id="16" name="Shape 16"/>
          <p:cNvSpPr/>
          <p:nvPr/>
        </p:nvSpPr>
        <p:spPr>
          <a:xfrm>
            <a:off x="8763000" y="2148840"/>
            <a:ext cx="426720" cy="0"/>
          </a:xfrm>
          <a:prstGeom prst="line">
            <a:avLst/>
          </a:prstGeom>
          <a:noFill/>
          <a:ln w="15875">
            <a:solidFill>
              <a:schemeClr val="tx2"/>
            </a:solidFill>
            <a:prstDash val="solid"/>
            <a:tailEnd type="triangle"/>
          </a:ln>
        </p:spPr>
      </p:sp>
      <p:sp>
        <p:nvSpPr>
          <p:cNvPr id="17" name="Shape 17"/>
          <p:cNvSpPr txBox="1"/>
          <p:nvPr/>
        </p:nvSpPr>
        <p:spPr>
          <a:xfrm>
            <a:off x="9235440" y="1554480"/>
            <a:ext cx="2377440" cy="118872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Repeat</a:t>
            </a:r>
            <a:endParaRPr lang="en-US" sz="1400" dirty="0"/>
          </a:p>
          <a:p>
            <a:pPr algn="l" indent="0" marL="0">
              <a:buNone/>
            </a:pPr>
            <a:r>
              <a:rPr lang="en-US" sz="1200" dirty="0">
                <a:solidFill>
                  <a:schemeClr val="bg1"/>
                </a:solidFill>
              </a:rPr>
              <a:t>Until month end, then run monthly jobs</a:t>
            </a:r>
            <a:endParaRPr lang="en-US" sz="1200" dirty="0"/>
          </a:p>
        </p:txBody>
      </p:sp>
      <p:sp>
        <p:nvSpPr>
          <p:cNvPr id="18" name="Shape 18"/>
          <p:cNvSpPr txBox="1"/>
          <p:nvPr/>
        </p:nvSpPr>
        <p:spPr>
          <a:xfrm>
            <a:off x="548640" y="301752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Along the way</a:t>
            </a:r>
            <a:endParaRPr lang="en-US" sz="1600" dirty="0"/>
          </a:p>
          <a:p>
            <a:pPr marL="228600" indent="-228600" algn="l">
              <a:spcAft>
                <a:spcPts val="400"/>
              </a:spcAft>
              <a:buSzPct val="100000"/>
              <a:buChar char="•"/>
            </a:pPr>
            <a:r>
              <a:rPr lang="en-US" sz="1300" dirty="0">
                <a:solidFill>
                  <a:schemeClr val="bg1"/>
                </a:solidFill>
              </a:rPr>
              <a:t>EMI due dates: schedule rows become due, then overdue</a:t>
            </a:r>
            <a:endParaRPr lang="en-US" sz="1300" dirty="0"/>
          </a:p>
          <a:p>
            <a:pPr marL="228600" indent="-228600" algn="l">
              <a:spcAft>
                <a:spcPts val="400"/>
              </a:spcAft>
              <a:buSzPct val="100000"/>
              <a:buChar char="•"/>
            </a:pPr>
            <a:r>
              <a:rPr lang="en-US" sz="1300" dirty="0">
                <a:solidFill>
                  <a:schemeClr val="bg1"/>
                </a:solidFill>
              </a:rPr>
              <a:t>Days past due buckets, SMA and NPA classification</a:t>
            </a:r>
            <a:endParaRPr lang="en-US" sz="1300" dirty="0"/>
          </a:p>
          <a:p>
            <a:pPr marL="228600" indent="-228600" algn="l">
              <a:spcAft>
                <a:spcPts val="400"/>
              </a:spcAft>
              <a:buSzPct val="100000"/>
              <a:buChar char="•"/>
            </a:pPr>
            <a:r>
              <a:rPr lang="en-US" sz="1300" dirty="0">
                <a:solidFill>
                  <a:schemeClr val="bg1"/>
                </a:solidFill>
              </a:rPr>
              <a:t>Floating accounts reset when the benchmark changes</a:t>
            </a:r>
            <a:endParaRPr lang="en-US" sz="1300" dirty="0"/>
          </a:p>
          <a:p>
            <a:pPr marL="228600" indent="-228600" algn="l">
              <a:spcAft>
                <a:spcPts val="400"/>
              </a:spcAft>
              <a:buSzPct val="100000"/>
              <a:buChar char="•"/>
            </a:pPr>
            <a:r>
              <a:rPr lang="en-US" sz="1300" dirty="0">
                <a:solidFill>
                  <a:schemeClr val="bg1"/>
                </a:solidFill>
              </a:rPr>
              <a:t>Closure when the last instalment is paid or on foreclosure</a:t>
            </a:r>
            <a:endParaRPr lang="en-US" sz="1300" dirty="0"/>
          </a:p>
        </p:txBody>
      </p:sp>
      <p:sp>
        <p:nvSpPr>
          <p:cNvPr id="19" name="Shape 19"/>
          <p:cNvSpPr txBox="1"/>
          <p:nvPr/>
        </p:nvSpPr>
        <p:spPr>
          <a:xfrm>
            <a:off x="4297680" y="301752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If end of day stops</a:t>
            </a:r>
            <a:endParaRPr lang="en-US" sz="1600" dirty="0"/>
          </a:p>
          <a:p>
            <a:pPr marL="228600" indent="-228600" algn="l">
              <a:spcAft>
                <a:spcPts val="400"/>
              </a:spcAft>
              <a:buSzPct val="100000"/>
              <a:buChar char="•"/>
            </a:pPr>
            <a:r>
              <a:rPr lang="en-US" sz="1300" dirty="0">
                <a:solidFill>
                  <a:schemeClr val="tx1"/>
                </a:solidFill>
              </a:rPr>
              <a:t>Status stays EOD_RUNNING at date D</a:t>
            </a:r>
            <a:endParaRPr lang="en-US" sz="1300" dirty="0"/>
          </a:p>
          <a:p>
            <a:pPr marL="228600" indent="-228600" algn="l">
              <a:spcAft>
                <a:spcPts val="400"/>
              </a:spcAft>
              <a:buSzPct val="100000"/>
              <a:buChar char="•"/>
            </a:pPr>
            <a:r>
              <a:rPr lang="en-US" sz="1300" dirty="0">
                <a:solidFill>
                  <a:schemeClr val="tx1"/>
                </a:solidFill>
              </a:rPr>
              <a:t>Read the failing job in Batch - Run history</a:t>
            </a:r>
            <a:endParaRPr lang="en-US" sz="1300" dirty="0"/>
          </a:p>
          <a:p>
            <a:pPr marL="228600" indent="-228600" algn="l">
              <a:spcAft>
                <a:spcPts val="400"/>
              </a:spcAft>
              <a:buSzPct val="100000"/>
              <a:buChar char="•"/>
            </a:pPr>
            <a:r>
              <a:rPr lang="en-US" sz="1300" dirty="0">
                <a:solidFill>
                  <a:schemeClr val="tx1"/>
                </a:solidFill>
              </a:rPr>
              <a:t>Run again: completed jobs are skipped, the failed job is retried</a:t>
            </a:r>
            <a:endParaRPr lang="en-US" sz="1300" dirty="0"/>
          </a:p>
        </p:txBody>
      </p:sp>
      <p:sp>
        <p:nvSpPr>
          <p:cNvPr id="20" name="Shape 20"/>
          <p:cNvSpPr txBox="1"/>
          <p:nvPr/>
        </p:nvSpPr>
        <p:spPr>
          <a:xfrm>
            <a:off x="8046720" y="301752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Still manual</a:t>
            </a:r>
            <a:endParaRPr lang="en-US" sz="1600" dirty="0"/>
          </a:p>
          <a:p>
            <a:pPr marL="228600" indent="-228600" algn="l">
              <a:spcAft>
                <a:spcPts val="400"/>
              </a:spcAft>
              <a:buSzPct val="100000"/>
              <a:buChar char="•"/>
            </a:pPr>
            <a:r>
              <a:rPr lang="en-US" sz="1300" dirty="0">
                <a:solidFill>
                  <a:schemeClr val="tx1"/>
                </a:solidFill>
              </a:rPr>
              <a:t>MONTHLY and PERIODIC jobs, for example month-end GL close; they are not chained</a:t>
            </a:r>
            <a:endParaRPr lang="en-US" sz="1300" dirty="0"/>
          </a:p>
          <a:p>
            <a:pPr marL="228600" indent="-228600" algn="l">
              <a:spcAft>
                <a:spcPts val="400"/>
              </a:spcAft>
              <a:buSzPct val="100000"/>
              <a:buChar char="•"/>
            </a:pPr>
            <a:r>
              <a:rPr lang="en-US" sz="1300" dirty="0">
                <a:solidFill>
                  <a:schemeClr val="tx1"/>
                </a:solidFill>
              </a:rPr>
              <a:t>Setting benchmark rates</a:t>
            </a:r>
            <a:endParaRPr lang="en-US" sz="1300" dirty="0"/>
          </a:p>
          <a:p>
            <a:pPr marL="228600" indent="-228600" algn="l">
              <a:spcAft>
                <a:spcPts val="400"/>
              </a:spcAft>
              <a:buSzPct val="100000"/>
              <a:buChar char="•"/>
            </a:pPr>
            <a:r>
              <a:rPr lang="en-US" sz="1300" dirty="0">
                <a:solidFill>
                  <a:schemeClr val="tx1"/>
                </a:solidFill>
              </a:rPr>
              <a:t>Chaining them is a candidate next change</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How this deck is organised</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Seven sections, one per part of the platform; each starts with a divider</a:t>
            </a:r>
            <a:endParaRPr lang="en-US" sz="1400" dirty="0"/>
          </a:p>
        </p:txBody>
      </p:sp>
      <p:graphicFrame>
        <p:nvGraphicFramePr>
          <p:cNvPr id="11" name="Table 11"/>
          <p:cNvGraphicFramePr>
            <a:graphicFrameLocks noGrp="1"/>
          </p:cNvGraphicFramePr>
          <p:nvPr/>
        </p:nvGraphicFramePr>
        <p:xfrm>
          <a:off x="548640" y="1463040"/>
          <a:ext cx="11064240" cy="3566160"/>
        </p:xfrm>
        <a:graphic>
          <a:graphicData uri="http://schemas.openxmlformats.org/drawingml/2006/table">
            <a:tbl>
              <a:tblPr/>
              <a:tblGrid>
                <a:gridCol w="457200"/>
                <a:gridCol w="2194560"/>
                <a:gridCol w="6858000"/>
                <a:gridCol w="1554480"/>
              </a:tblGrid>
              <a:tr h="365760">
                <a:tc>
                  <a:txBody>
                    <a:bodyPr/>
                    <a:lstStyle/>
                    <a:p>
                      <a:pPr indent="0" marL="0">
                        <a:buNone/>
                      </a:pPr>
                      <a:r>
                        <a:rPr lang="en-US" sz="1200" b="1" dirty="0">
                          <a:solidFill>
                            <a:schemeClr val="bg1"/>
                          </a:solidFill>
                        </a:rPr>
                        <a: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Section</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What it covers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Slides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2"/>
                          </a:solidFill>
                        </a:rPr>
                        <a:t>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Platform</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Services, architecture, Render sandbox, request flow, business date, what changed in v1.6 and v1.7</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4 - 11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2</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Product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Loan products, day counts and repayment schedules, base products, penal interest settings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13 - 16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3</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Account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Data model, design rules, origination, repayment and exit, demands and waterfall, penal interest, lifecycle, status ladder</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18 - 25</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4</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Admin console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Portal screens, configuration, business-date behaviour, the new End of day screen</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27 - 31</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5</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Batch</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Nightly chain, end of day, live progress and safe start, jobs, framework fixes, daily cycle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33 - 38</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2"/>
                          </a:solidFill>
                        </a:rPr>
                        <a:t>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E2E test suite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What one run does, the hosted console with start date, fitting the plan to the products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40 - 42</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2"/>
                          </a:solidFill>
                        </a:rPr>
                        <a:t>7</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Reference and roadmap</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API catalogue (three slides), findings, where we are and what is next</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44 - 49</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5303520"/>
            <a:ext cx="11064240" cy="9601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300"/>
              </a:spcAft>
              <a:buNone/>
            </a:pPr>
            <a:r>
              <a:rPr lang="en-US" sz="1500" b="1" dirty="0">
                <a:solidFill>
                  <a:schemeClr val="tx2"/>
                </a:solidFill>
              </a:rPr>
              <a:t>How to read the deck</a:t>
            </a:r>
            <a:endParaRPr lang="en-US" sz="1500" dirty="0"/>
          </a:p>
          <a:p>
            <a:pPr algn="l" indent="0" marL="0">
              <a:buNone/>
            </a:pPr>
            <a:r>
              <a:rPr lang="en-US" sz="1300" dirty="0">
                <a:solidFill>
                  <a:schemeClr val="tx1"/>
                </a:solidFill>
              </a:rPr>
              <a:t>Each section opens with a dark divider that lists its slides. Within a section the slides go from the picture of the whole to the detail, then to what was added or fixed.</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changed in v1.6</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An End of day screen for operators, safer start and status in the batch service, a start date in the test console</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Admin console</a:t>
            </a:r>
            <a:endParaRPr lang="en-US" sz="1600" dirty="0"/>
          </a:p>
          <a:p>
            <a:pPr marL="228600" indent="-228600" algn="l">
              <a:spcAft>
                <a:spcPts val="400"/>
              </a:spcAft>
              <a:buSzPct val="100000"/>
              <a:buChar char="•"/>
            </a:pPr>
            <a:r>
              <a:rPr lang="en-US" sz="1400" dirty="0">
                <a:solidFill>
                  <a:schemeClr val="tx1"/>
                </a:solidFill>
              </a:rPr>
              <a:t>New End of day screen: start, restart and follow the run job by job</a:t>
            </a:r>
            <a:endParaRPr lang="en-US" sz="1400" dirty="0"/>
          </a:p>
          <a:p>
            <a:pPr marL="228600" indent="-228600" algn="l">
              <a:spcAft>
                <a:spcPts val="400"/>
              </a:spcAft>
              <a:buSzPct val="100000"/>
              <a:buChar char="•"/>
            </a:pPr>
            <a:r>
              <a:rPr lang="en-US" sz="1400" dirty="0">
                <a:solidFill>
                  <a:schemeClr val="tx1"/>
                </a:solidFill>
              </a:rPr>
              <a:t>Business date shown before start or restart, in a confirmation step</a:t>
            </a:r>
            <a:endParaRPr lang="en-US" sz="1400" dirty="0"/>
          </a:p>
          <a:p>
            <a:pPr marL="228600" indent="-228600" algn="l">
              <a:spcAft>
                <a:spcPts val="400"/>
              </a:spcAft>
              <a:buSzPct val="100000"/>
              <a:buChar char="•"/>
            </a:pPr>
            <a:r>
              <a:rPr lang="en-US" sz="1400" dirty="0">
                <a:solidFill>
                  <a:schemeClr val="tx1"/>
                </a:solidFill>
              </a:rPr>
              <a:t>Status refreshes by itself; shows a clear banner if the batch service is asleep</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Batch service</a:t>
            </a:r>
            <a:endParaRPr lang="en-US" sz="1600" dirty="0"/>
          </a:p>
          <a:p>
            <a:pPr marL="228600" indent="-228600" algn="l">
              <a:spcAft>
                <a:spcPts val="400"/>
              </a:spcAft>
              <a:buSzPct val="100000"/>
              <a:buChar char="•"/>
            </a:pPr>
            <a:r>
              <a:rPr lang="en-US" sz="1400" dirty="0">
                <a:solidFill>
                  <a:schemeClr val="tx1"/>
                </a:solidFill>
              </a:rPr>
              <a:t>Per-job progress reported while end of day runs</a:t>
            </a:r>
            <a:endParaRPr lang="en-US" sz="1400" dirty="0"/>
          </a:p>
          <a:p>
            <a:pPr marL="228600" indent="-228600" algn="l">
              <a:spcAft>
                <a:spcPts val="400"/>
              </a:spcAft>
              <a:buSzPct val="100000"/>
              <a:buChar char="•"/>
            </a:pPr>
            <a:r>
              <a:rPr lang="en-US" sz="1400" dirty="0">
                <a:solidFill>
                  <a:schemeClr val="tx1"/>
                </a:solidFill>
              </a:rPr>
              <a:t>Start carries the expected date; a different date is refused (409)</a:t>
            </a:r>
            <a:endParaRPr lang="en-US" sz="1400" dirty="0"/>
          </a:p>
          <a:p>
            <a:pPr marL="228600" indent="-228600" algn="l">
              <a:spcAft>
                <a:spcPts val="400"/>
              </a:spcAft>
              <a:buSzPct val="100000"/>
              <a:buChar char="•"/>
            </a:pPr>
            <a:r>
              <a:rPr lang="en-US" sz="1400" dirty="0">
                <a:solidFill>
                  <a:schemeClr val="tx1"/>
                </a:solidFill>
              </a:rPr>
              <a:t>Status no longer waits for a sleeping lending-service</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Test suite</a:t>
            </a:r>
            <a:endParaRPr lang="en-US" sz="1600" dirty="0"/>
          </a:p>
          <a:p>
            <a:pPr marL="228600" indent="-228600" algn="l">
              <a:spcAft>
                <a:spcPts val="400"/>
              </a:spcAft>
              <a:buSzPct val="100000"/>
              <a:buChar char="•"/>
            </a:pPr>
            <a:r>
              <a:rPr lang="en-US" sz="1400" dirty="0">
                <a:solidFill>
                  <a:schemeClr val="bg1"/>
                </a:solidFill>
              </a:rPr>
              <a:t>Hosted console gets a Start date field next to accounts and days</a:t>
            </a:r>
            <a:endParaRPr lang="en-US" sz="1400" dirty="0"/>
          </a:p>
          <a:p>
            <a:pPr marL="228600" indent="-228600" algn="l">
              <a:spcAft>
                <a:spcPts val="400"/>
              </a:spcAft>
              <a:buSzPct val="100000"/>
              <a:buChar char="•"/>
            </a:pPr>
            <a:r>
              <a:rPr lang="en-US" sz="1400" dirty="0">
                <a:solidFill>
                  <a:schemeClr val="bg1"/>
                </a:solidFill>
              </a:rPr>
              <a:t>Needed once end of day has moved the business date past the default 1 November 2026</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Rebuild and redeploy</a:t>
            </a:r>
            <a:endParaRPr lang="en-US" sz="1600" dirty="0"/>
          </a:p>
          <a:p>
            <a:pPr algn="l" indent="0" marL="0">
              <a:buNone/>
            </a:pPr>
            <a:r>
              <a:rPr lang="en-US" sz="1350" dirty="0">
                <a:solidFill>
                  <a:schemeClr val="tx1"/>
                </a:solidFill>
              </a:rPr>
              <a:t>lending-batch-service, lending-admin-service (including its React console) and lending-e2e-test. lending-service is unchanged. On the admin service set BATCH_SERVICE_URL and BATCH_ADMIN_PASSWORD so the new screen can reach the batch service.</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Admin console: the End of day screen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Start, restart and follow an end-of-day run from the browser, with the date shown before anything starts</a:t>
            </a:r>
            <a:endParaRPr lang="en-US" sz="1400" dirty="0"/>
          </a:p>
        </p:txBody>
      </p:sp>
      <p:sp>
        <p:nvSpPr>
          <p:cNvPr id="11" name="Shape 11"/>
          <p:cNvSpPr txBox="1"/>
          <p:nvPr/>
        </p:nvSpPr>
        <p:spPr>
          <a:xfrm>
            <a:off x="5486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1  |  Open</a:t>
            </a:r>
            <a:endParaRPr lang="en-US" sz="1400" dirty="0"/>
          </a:p>
          <a:p>
            <a:pPr algn="l" indent="0" marL="0">
              <a:buNone/>
            </a:pPr>
            <a:r>
              <a:rPr lang="en-US" sz="1150" dirty="0">
                <a:solidFill>
                  <a:schemeClr val="bg1"/>
                </a:solidFill>
              </a:rPr>
              <a:t>Business date and status (OPEN or EOD_RUNNING) read from the shared database</a:t>
            </a:r>
            <a:endParaRPr lang="en-US" sz="1150" dirty="0"/>
          </a:p>
        </p:txBody>
      </p:sp>
      <p:sp>
        <p:nvSpPr>
          <p:cNvPr id="12" name="Shape 12"/>
          <p:cNvSpPr/>
          <p:nvPr/>
        </p:nvSpPr>
        <p:spPr>
          <a:xfrm>
            <a:off x="2971800" y="2103120"/>
            <a:ext cx="426720" cy="0"/>
          </a:xfrm>
          <a:prstGeom prst="line">
            <a:avLst/>
          </a:prstGeom>
          <a:noFill/>
          <a:ln w="15875">
            <a:solidFill>
              <a:schemeClr val="tx2"/>
            </a:solidFill>
            <a:prstDash val="solid"/>
            <a:tailEnd type="triangle"/>
          </a:ln>
        </p:spPr>
      </p:sp>
      <p:sp>
        <p:nvSpPr>
          <p:cNvPr id="13" name="Shape 13"/>
          <p:cNvSpPr txBox="1"/>
          <p:nvPr/>
        </p:nvSpPr>
        <p:spPr>
          <a:xfrm>
            <a:off x="34442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2  |  Confirm</a:t>
            </a:r>
            <a:endParaRPr lang="en-US" sz="1400" dirty="0"/>
          </a:p>
          <a:p>
            <a:pPr algn="l" indent="0" marL="0">
              <a:buNone/>
            </a:pPr>
            <a:r>
              <a:rPr lang="en-US" sz="1150" dirty="0">
                <a:solidFill>
                  <a:schemeClr val="bg1"/>
                </a:solidFill>
              </a:rPr>
              <a:t>Pop-up names the date being closed and the date that follows</a:t>
            </a:r>
            <a:endParaRPr lang="en-US" sz="1150" dirty="0"/>
          </a:p>
        </p:txBody>
      </p:sp>
      <p:sp>
        <p:nvSpPr>
          <p:cNvPr id="14" name="Shape 14"/>
          <p:cNvSpPr/>
          <p:nvPr/>
        </p:nvSpPr>
        <p:spPr>
          <a:xfrm>
            <a:off x="5867400" y="2103120"/>
            <a:ext cx="426720" cy="0"/>
          </a:xfrm>
          <a:prstGeom prst="line">
            <a:avLst/>
          </a:prstGeom>
          <a:noFill/>
          <a:ln w="15875">
            <a:solidFill>
              <a:schemeClr val="tx2"/>
            </a:solidFill>
            <a:prstDash val="solid"/>
            <a:tailEnd type="triangle"/>
          </a:ln>
        </p:spPr>
      </p:sp>
      <p:sp>
        <p:nvSpPr>
          <p:cNvPr id="15" name="Shape 15"/>
          <p:cNvSpPr txBox="1"/>
          <p:nvPr/>
        </p:nvSpPr>
        <p:spPr>
          <a:xfrm>
            <a:off x="63398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3  |  Watch</a:t>
            </a:r>
            <a:endParaRPr lang="en-US" sz="1400" dirty="0"/>
          </a:p>
          <a:p>
            <a:pPr algn="l" indent="0" marL="0">
              <a:buNone/>
            </a:pPr>
            <a:r>
              <a:rPr lang="en-US" sz="1150" dirty="0">
                <a:solidFill>
                  <a:schemeClr val="bg1"/>
                </a:solidFill>
              </a:rPr>
              <a:t>Job table updates by itself: pending, running, completed, skipped, failed</a:t>
            </a:r>
            <a:endParaRPr lang="en-US" sz="1150" dirty="0"/>
          </a:p>
        </p:txBody>
      </p:sp>
      <p:sp>
        <p:nvSpPr>
          <p:cNvPr id="16" name="Shape 16"/>
          <p:cNvSpPr/>
          <p:nvPr/>
        </p:nvSpPr>
        <p:spPr>
          <a:xfrm>
            <a:off x="8763000" y="2103120"/>
            <a:ext cx="426720" cy="0"/>
          </a:xfrm>
          <a:prstGeom prst="line">
            <a:avLst/>
          </a:prstGeom>
          <a:noFill/>
          <a:ln w="15875">
            <a:solidFill>
              <a:schemeClr val="tx2"/>
            </a:solidFill>
            <a:prstDash val="solid"/>
            <a:tailEnd type="triangle"/>
          </a:ln>
        </p:spPr>
      </p:sp>
      <p:sp>
        <p:nvSpPr>
          <p:cNvPr id="17" name="Shape 17"/>
          <p:cNvSpPr txBox="1"/>
          <p:nvPr/>
        </p:nvSpPr>
        <p:spPr>
          <a:xfrm>
            <a:off x="9235440" y="1463040"/>
            <a:ext cx="2377440" cy="1280160"/>
          </a:xfrm>
          <a:prstGeom prst="roundRect">
            <a:avLst>
              <a:gd name="adj" fmla="val 8000"/>
            </a:avLst>
          </a:prstGeom>
          <a:solidFill>
            <a:schemeClr val="accent1"/>
          </a:solidFill>
          <a:ln w="12700">
            <a:solidFill>
              <a:schemeClr val="accent1"/>
            </a:solidFill>
          </a:ln>
        </p:spPr>
        <p:txBody>
          <a:bodyPr wrap="square" lIns="91440" tIns="91440" rIns="91440" bIns="91440" rtlCol="0" anchor="ctr"/>
          <a:lstStyle/>
          <a:p>
            <a:pPr algn="l" indent="0" marL="0">
              <a:spcAft>
                <a:spcPts val="300"/>
              </a:spcAft>
              <a:buNone/>
            </a:pPr>
            <a:r>
              <a:rPr lang="en-US" sz="1400" b="1" dirty="0">
                <a:solidFill>
                  <a:schemeClr val="bg1"/>
                </a:solidFill>
              </a:rPr>
              <a:t>4  |  Finish</a:t>
            </a:r>
            <a:endParaRPr lang="en-US" sz="1400" dirty="0"/>
          </a:p>
          <a:p>
            <a:pPr algn="l" indent="0" marL="0">
              <a:buNone/>
            </a:pPr>
            <a:r>
              <a:rPr lang="en-US" sz="1150" dirty="0">
                <a:solidFill>
                  <a:schemeClr val="bg1"/>
                </a:solidFill>
              </a:rPr>
              <a:t>New business date shown; on failure a banner and Restart</a:t>
            </a:r>
            <a:endParaRPr lang="en-US" sz="1150" dirty="0"/>
          </a:p>
        </p:txBody>
      </p:sp>
      <p:sp>
        <p:nvSpPr>
          <p:cNvPr id="18" name="Shape 18"/>
          <p:cNvSpPr txBox="1"/>
          <p:nvPr/>
        </p:nvSpPr>
        <p:spPr>
          <a:xfrm>
            <a:off x="548640" y="2926080"/>
            <a:ext cx="3566160" cy="32004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What the screen shows</a:t>
            </a:r>
            <a:endParaRPr lang="en-US" sz="1600" dirty="0"/>
          </a:p>
          <a:p>
            <a:pPr marL="228600" indent="-228600" algn="l">
              <a:spcAft>
                <a:spcPts val="400"/>
              </a:spcAft>
              <a:buSzPct val="100000"/>
              <a:buChar char="•"/>
            </a:pPr>
            <a:r>
              <a:rPr lang="en-US" sz="1400" dirty="0">
                <a:solidFill>
                  <a:schemeClr val="bg1"/>
                </a:solidFill>
              </a:rPr>
              <a:t>Date and status come from the database, so they show even if the batch service is down</a:t>
            </a:r>
            <a:endParaRPr lang="en-US" sz="1400" dirty="0"/>
          </a:p>
          <a:p>
            <a:pPr marL="228600" indent="-228600" algn="l">
              <a:spcAft>
                <a:spcPts val="400"/>
              </a:spcAft>
              <a:buSzPct val="100000"/>
              <a:buChar char="•"/>
            </a:pPr>
            <a:r>
              <a:rPr lang="en-US" sz="1400" dirty="0">
                <a:solidFill>
                  <a:schemeClr val="bg1"/>
                </a:solidFill>
              </a:rPr>
              <a:t>Banners: batch service unreachable, run interrupted, run failed, day advanced</a:t>
            </a:r>
            <a:endParaRPr lang="en-US" sz="1400" dirty="0"/>
          </a:p>
          <a:p>
            <a:pPr marL="228600" indent="-228600" algn="l">
              <a:spcAft>
                <a:spcPts val="400"/>
              </a:spcAft>
              <a:buSzPct val="100000"/>
              <a:buChar char="•"/>
            </a:pPr>
            <a:r>
              <a:rPr lang="en-US" sz="1400" dirty="0">
                <a:solidFill>
                  <a:schemeClr val="bg1"/>
                </a:solidFill>
              </a:rPr>
              <a:t>Per job: state, position (done of total) and the last run summary</a:t>
            </a:r>
            <a:endParaRPr lang="en-US" sz="1400" dirty="0"/>
          </a:p>
        </p:txBody>
      </p:sp>
      <p:sp>
        <p:nvSpPr>
          <p:cNvPr id="19" name="Shape 19"/>
          <p:cNvSpPr txBox="1"/>
          <p:nvPr/>
        </p:nvSpPr>
        <p:spPr>
          <a:xfrm>
            <a:off x="4297680" y="2926080"/>
            <a:ext cx="3566160" cy="32004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Refresh</a:t>
            </a:r>
            <a:endParaRPr lang="en-US" sz="1600" dirty="0"/>
          </a:p>
          <a:p>
            <a:pPr marL="228600" indent="-228600" algn="l">
              <a:spcAft>
                <a:spcPts val="400"/>
              </a:spcAft>
              <a:buSzPct val="100000"/>
              <a:buChar char="•"/>
            </a:pPr>
            <a:r>
              <a:rPr lang="en-US" sz="1400" dirty="0">
                <a:solidFill>
                  <a:schemeClr val="tx1"/>
                </a:solidFill>
              </a:rPr>
              <a:t>Every 3 seconds while a run is active, waiting or unreachable; every 10 seconds otherwise</a:t>
            </a:r>
            <a:endParaRPr lang="en-US" sz="1400" dirty="0"/>
          </a:p>
          <a:p>
            <a:pPr marL="228600" indent="-228600" algn="l">
              <a:spcAft>
                <a:spcPts val="400"/>
              </a:spcAft>
              <a:buSzPct val="100000"/>
              <a:buChar char="•"/>
            </a:pPr>
            <a:r>
              <a:rPr lang="en-US" sz="1400" dirty="0">
                <a:solidFill>
                  <a:schemeClr val="tx1"/>
                </a:solidFill>
              </a:rPr>
              <a:t>One call at a time; paused while the browser tab is hidden</a:t>
            </a:r>
            <a:endParaRPr lang="en-US" sz="1400" dirty="0"/>
          </a:p>
          <a:p>
            <a:pPr marL="228600" indent="-228600" algn="l">
              <a:spcAft>
                <a:spcPts val="400"/>
              </a:spcAft>
              <a:buSzPct val="100000"/>
              <a:buChar char="•"/>
            </a:pPr>
            <a:r>
              <a:rPr lang="en-US" sz="1400" dirty="0">
                <a:solidFill>
                  <a:schemeClr val="tx1"/>
                </a:solidFill>
              </a:rPr>
              <a:t>Keeps the last good data if a call fails</a:t>
            </a:r>
            <a:endParaRPr lang="en-US" sz="1400" dirty="0"/>
          </a:p>
        </p:txBody>
      </p:sp>
      <p:sp>
        <p:nvSpPr>
          <p:cNvPr id="20" name="Shape 20"/>
          <p:cNvSpPr txBox="1"/>
          <p:nvPr/>
        </p:nvSpPr>
        <p:spPr>
          <a:xfrm>
            <a:off x="8046720" y="2926080"/>
            <a:ext cx="3566160" cy="32004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Start and restart</a:t>
            </a:r>
            <a:endParaRPr lang="en-US" sz="1600" dirty="0"/>
          </a:p>
          <a:p>
            <a:pPr marL="228600" indent="-228600" algn="l">
              <a:spcAft>
                <a:spcPts val="400"/>
              </a:spcAft>
              <a:buSzPct val="100000"/>
              <a:buChar char="•"/>
            </a:pPr>
            <a:r>
              <a:rPr lang="en-US" sz="1400" dirty="0">
                <a:solidFill>
                  <a:schemeClr val="tx1"/>
                </a:solidFill>
              </a:rPr>
              <a:t>One button: Start when OPEN, Restart after a stop; completed jobs are skipped</a:t>
            </a:r>
            <a:endParaRPr lang="en-US" sz="1400" dirty="0"/>
          </a:p>
          <a:p>
            <a:pPr marL="228600" indent="-228600" algn="l">
              <a:spcAft>
                <a:spcPts val="400"/>
              </a:spcAft>
              <a:buSzPct val="100000"/>
              <a:buChar char="•"/>
            </a:pPr>
            <a:r>
              <a:rPr lang="en-US" sz="1400" dirty="0">
                <a:solidFill>
                  <a:schemeClr val="tx1"/>
                </a:solidFill>
              </a:rPr>
              <a:t>Sends the date you confirmed; refused if the date changed meanwhile</a:t>
            </a:r>
            <a:endParaRPr lang="en-US" sz="1400" dirty="0"/>
          </a:p>
          <a:p>
            <a:pPr marL="228600" indent="-228600" algn="l">
              <a:spcAft>
                <a:spcPts val="400"/>
              </a:spcAft>
              <a:buSzPct val="100000"/>
              <a:buChar char="•"/>
            </a:pPr>
            <a:r>
              <a:rPr lang="en-US" sz="1400" dirty="0">
                <a:solidFill>
                  <a:schemeClr val="tx1"/>
                </a:solidFill>
              </a:rPr>
              <a:t>Menu: End of day, after Batch jobs; address #/eod</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End of day: live progress and a safe start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The batch service reports progress as the run goes and refuses a start for the wrong date</a:t>
            </a:r>
            <a:endParaRPr lang="en-US" sz="1400" dirty="0"/>
          </a:p>
        </p:txBody>
      </p:sp>
      <p:sp>
        <p:nvSpPr>
          <p:cNvPr id="11" name="Shape 11"/>
          <p:cNvSpPr txBox="1"/>
          <p:nvPr/>
        </p:nvSpPr>
        <p:spPr>
          <a:xfrm>
            <a:off x="548640" y="1463040"/>
            <a:ext cx="1920240" cy="960120"/>
          </a:xfrm>
          <a:prstGeom prst="roundRect">
            <a:avLst>
              <a:gd name="adj" fmla="val 8000"/>
            </a:avLst>
          </a:prstGeom>
          <a:solidFill>
            <a:schemeClr val="accent4"/>
          </a:solidFill>
          <a:ln w="12700">
            <a:solidFill>
              <a:schemeClr val="accent4"/>
            </a:solidFill>
          </a:ln>
        </p:spPr>
        <p:txBody>
          <a:bodyPr wrap="square" lIns="64008" tIns="64008" rIns="64008" bIns="64008" rtlCol="0" anchor="ctr"/>
          <a:lstStyle/>
          <a:p>
            <a:pPr algn="ctr" indent="0" marL="0">
              <a:spcAft>
                <a:spcPts val="200"/>
              </a:spcAft>
              <a:buNone/>
            </a:pPr>
            <a:r>
              <a:rPr lang="en-US" sz="1150" b="1" dirty="0">
                <a:solidFill>
                  <a:schemeClr val="bg1"/>
                </a:solidFill>
              </a:rPr>
              <a:t>Browser</a:t>
            </a:r>
            <a:endParaRPr lang="en-US" sz="1150" dirty="0"/>
          </a:p>
          <a:p>
            <a:pPr algn="ctr" indent="0" marL="0">
              <a:buNone/>
            </a:pPr>
            <a:r>
              <a:rPr lang="en-US" sz="950" dirty="0">
                <a:solidFill>
                  <a:schemeClr val="bg1"/>
                </a:solidFill>
              </a:rPr>
              <a:t>End of day screen</a:t>
            </a:r>
            <a:endParaRPr lang="en-US" sz="950" dirty="0"/>
          </a:p>
        </p:txBody>
      </p:sp>
      <p:sp>
        <p:nvSpPr>
          <p:cNvPr id="12" name="Shape 12"/>
          <p:cNvSpPr/>
          <p:nvPr/>
        </p:nvSpPr>
        <p:spPr>
          <a:xfrm>
            <a:off x="2505456" y="1943100"/>
            <a:ext cx="292608" cy="0"/>
          </a:xfrm>
          <a:prstGeom prst="line">
            <a:avLst/>
          </a:prstGeom>
          <a:noFill/>
          <a:ln w="15875">
            <a:solidFill>
              <a:schemeClr val="tx2"/>
            </a:solidFill>
            <a:prstDash val="solid"/>
            <a:tailEnd type="triangle"/>
          </a:ln>
        </p:spPr>
      </p:sp>
      <p:sp>
        <p:nvSpPr>
          <p:cNvPr id="13" name="Shape 13"/>
          <p:cNvSpPr txBox="1"/>
          <p:nvPr/>
        </p:nvSpPr>
        <p:spPr>
          <a:xfrm>
            <a:off x="2834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lending-admin-service</a:t>
            </a:r>
            <a:endParaRPr lang="en-US" sz="1150" dirty="0"/>
          </a:p>
          <a:p>
            <a:pPr algn="ctr" indent="0" marL="0">
              <a:buNone/>
            </a:pPr>
            <a:r>
              <a:rPr lang="en-US" sz="950" dirty="0">
                <a:solidFill>
                  <a:schemeClr val="bg1"/>
                </a:solidFill>
              </a:rPr>
              <a:t>/api/admin/eod/status and /run</a:t>
            </a:r>
            <a:endParaRPr lang="en-US" sz="950" dirty="0"/>
          </a:p>
        </p:txBody>
      </p:sp>
      <p:sp>
        <p:nvSpPr>
          <p:cNvPr id="14" name="Shape 14"/>
          <p:cNvSpPr/>
          <p:nvPr/>
        </p:nvSpPr>
        <p:spPr>
          <a:xfrm>
            <a:off x="4791456" y="1943100"/>
            <a:ext cx="292608" cy="0"/>
          </a:xfrm>
          <a:prstGeom prst="line">
            <a:avLst/>
          </a:prstGeom>
          <a:noFill/>
          <a:ln w="15875">
            <a:solidFill>
              <a:schemeClr val="tx2"/>
            </a:solidFill>
            <a:prstDash val="solid"/>
            <a:tailEnd type="triangle"/>
          </a:ln>
        </p:spPr>
      </p:sp>
      <p:sp>
        <p:nvSpPr>
          <p:cNvPr id="15" name="Shape 15"/>
          <p:cNvSpPr txBox="1"/>
          <p:nvPr/>
        </p:nvSpPr>
        <p:spPr>
          <a:xfrm>
            <a:off x="5120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lending-batch-service</a:t>
            </a:r>
            <a:endParaRPr lang="en-US" sz="1150" dirty="0"/>
          </a:p>
          <a:p>
            <a:pPr algn="ctr" indent="0" marL="0">
              <a:buNone/>
            </a:pPr>
            <a:r>
              <a:rPr lang="en-US" sz="950" dirty="0">
                <a:solidFill>
                  <a:schemeClr val="bg1"/>
                </a:solidFill>
              </a:rPr>
              <a:t>/api/v1/batch-admin/eod/status and /eod/run</a:t>
            </a:r>
            <a:endParaRPr lang="en-US" sz="950" dirty="0"/>
          </a:p>
        </p:txBody>
      </p:sp>
      <p:sp>
        <p:nvSpPr>
          <p:cNvPr id="16" name="Shape 16"/>
          <p:cNvSpPr/>
          <p:nvPr/>
        </p:nvSpPr>
        <p:spPr>
          <a:xfrm>
            <a:off x="7077456" y="1943100"/>
            <a:ext cx="292608" cy="0"/>
          </a:xfrm>
          <a:prstGeom prst="line">
            <a:avLst/>
          </a:prstGeom>
          <a:noFill/>
          <a:ln w="15875">
            <a:solidFill>
              <a:schemeClr val="tx2"/>
            </a:solidFill>
            <a:prstDash val="solid"/>
            <a:tailEnd type="triangle"/>
          </a:ln>
        </p:spPr>
      </p:sp>
      <p:sp>
        <p:nvSpPr>
          <p:cNvPr id="17" name="Shape 17"/>
          <p:cNvSpPr txBox="1"/>
          <p:nvPr/>
        </p:nvSpPr>
        <p:spPr>
          <a:xfrm>
            <a:off x="7406640" y="1463040"/>
            <a:ext cx="1920240" cy="960120"/>
          </a:xfrm>
          <a:prstGeom prst="roundRect">
            <a:avLst>
              <a:gd name="adj" fmla="val 8000"/>
            </a:avLst>
          </a:prstGeom>
          <a:solidFill>
            <a:schemeClr val="accent1"/>
          </a:solidFill>
          <a:ln w="12700">
            <a:solidFill>
              <a:schemeClr val="accent1"/>
            </a:solidFill>
          </a:ln>
        </p:spPr>
        <p:txBody>
          <a:bodyPr wrap="square" lIns="64008" tIns="64008" rIns="64008" bIns="64008" rtlCol="0" anchor="ctr"/>
          <a:lstStyle/>
          <a:p>
            <a:pPr algn="ctr" indent="0" marL="0">
              <a:spcAft>
                <a:spcPts val="200"/>
              </a:spcAft>
              <a:buNone/>
            </a:pPr>
            <a:r>
              <a:rPr lang="en-US" sz="1150" b="1" dirty="0">
                <a:solidFill>
                  <a:schemeClr val="bg1"/>
                </a:solidFill>
              </a:rPr>
              <a:t>EndOfDayCoordinator</a:t>
            </a:r>
            <a:endParaRPr lang="en-US" sz="1150" dirty="0"/>
          </a:p>
          <a:p>
            <a:pPr algn="ctr" indent="0" marL="0">
              <a:buNone/>
            </a:pPr>
            <a:r>
              <a:rPr lang="en-US" sz="950" dirty="0">
                <a:solidFill>
                  <a:schemeClr val="bg1"/>
                </a:solidFill>
              </a:rPr>
              <a:t>one background run</a:t>
            </a:r>
            <a:endParaRPr lang="en-US" sz="950" dirty="0"/>
          </a:p>
        </p:txBody>
      </p:sp>
      <p:sp>
        <p:nvSpPr>
          <p:cNvPr id="18" name="Shape 18"/>
          <p:cNvSpPr/>
          <p:nvPr/>
        </p:nvSpPr>
        <p:spPr>
          <a:xfrm>
            <a:off x="9363456" y="1943100"/>
            <a:ext cx="292608" cy="0"/>
          </a:xfrm>
          <a:prstGeom prst="line">
            <a:avLst/>
          </a:prstGeom>
          <a:noFill/>
          <a:ln w="15875">
            <a:solidFill>
              <a:schemeClr val="tx2"/>
            </a:solidFill>
            <a:prstDash val="solid"/>
            <a:tailEnd type="triangle"/>
          </a:ln>
        </p:spPr>
      </p:sp>
      <p:sp>
        <p:nvSpPr>
          <p:cNvPr id="19" name="Shape 19"/>
          <p:cNvSpPr txBox="1"/>
          <p:nvPr/>
        </p:nvSpPr>
        <p:spPr>
          <a:xfrm>
            <a:off x="9692640" y="1463040"/>
            <a:ext cx="1920240" cy="960120"/>
          </a:xfrm>
          <a:prstGeom prst="roundRect">
            <a:avLst>
              <a:gd name="adj" fmla="val 8000"/>
            </a:avLst>
          </a:prstGeom>
          <a:solidFill>
            <a:schemeClr val="accent4"/>
          </a:solidFill>
          <a:ln w="12700">
            <a:solidFill>
              <a:schemeClr val="accent4"/>
            </a:solidFill>
          </a:ln>
        </p:spPr>
        <p:txBody>
          <a:bodyPr wrap="square" lIns="64008" tIns="64008" rIns="64008" bIns="64008" rtlCol="0" anchor="ctr"/>
          <a:lstStyle/>
          <a:p>
            <a:pPr algn="ctr" indent="0" marL="0">
              <a:spcAft>
                <a:spcPts val="200"/>
              </a:spcAft>
              <a:buNone/>
            </a:pPr>
            <a:r>
              <a:rPr lang="en-US" sz="1150" b="1" dirty="0">
                <a:solidFill>
                  <a:schemeClr val="bg1"/>
                </a:solidFill>
              </a:rPr>
              <a:t>EndOfDayService</a:t>
            </a:r>
            <a:endParaRPr lang="en-US" sz="1150" dirty="0"/>
          </a:p>
          <a:p>
            <a:pPr algn="ctr" indent="0" marL="0">
              <a:buNone/>
            </a:pPr>
            <a:r>
              <a:rPr lang="en-US" sz="950" dirty="0">
                <a:solidFill>
                  <a:schemeClr val="bg1"/>
                </a:solidFill>
              </a:rPr>
              <a:t>jobs in priority order</a:t>
            </a:r>
            <a:endParaRPr lang="en-US" sz="950" dirty="0"/>
          </a:p>
        </p:txBody>
      </p:sp>
      <p:sp>
        <p:nvSpPr>
          <p:cNvPr id="20" name="Shape 20"/>
          <p:cNvSpPr txBox="1"/>
          <p:nvPr/>
        </p:nvSpPr>
        <p:spPr>
          <a:xfrm>
            <a:off x="548640" y="2651760"/>
            <a:ext cx="3566160" cy="34747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Live progress</a:t>
            </a:r>
            <a:endParaRPr lang="en-US" sz="1600" dirty="0"/>
          </a:p>
          <a:p>
            <a:pPr marL="228600" indent="-228600" algn="l">
              <a:spcAft>
                <a:spcPts val="400"/>
              </a:spcAft>
              <a:buSzPct val="100000"/>
              <a:buChar char="•"/>
            </a:pPr>
            <a:r>
              <a:rPr lang="en-US" sz="1350" dirty="0">
                <a:solidFill>
                  <a:schemeClr val="tx1"/>
                </a:solidFill>
              </a:rPr>
              <a:t>The service reports each step to a listener: run started, job started, job finished, run finished</a:t>
            </a:r>
            <a:endParaRPr lang="en-US" sz="1350" dirty="0"/>
          </a:p>
          <a:p>
            <a:pPr marL="228600" indent="-228600" algn="l">
              <a:spcAft>
                <a:spcPts val="400"/>
              </a:spcAft>
              <a:buSzPct val="100000"/>
              <a:buChar char="•"/>
            </a:pPr>
            <a:r>
              <a:rPr lang="en-US" sz="1350" dirty="0">
                <a:solidFill>
                  <a:schemeClr val="tx1"/>
                </a:solidFill>
              </a:rPr>
              <a:t>The status call returns a progress block: state (IDLE, RUNNING, ADVANCED, FAILED), current job, done of total, a row per job</a:t>
            </a:r>
            <a:endParaRPr lang="en-US" sz="1350" dirty="0"/>
          </a:p>
          <a:p>
            <a:pPr marL="228600" indent="-228600" algn="l">
              <a:spcAft>
                <a:spcPts val="400"/>
              </a:spcAft>
              <a:buSzPct val="100000"/>
              <a:buChar char="•"/>
            </a:pPr>
            <a:r>
              <a:rPr lang="en-US" sz="1350" dirty="0">
                <a:solidFill>
                  <a:schemeClr val="tx1"/>
                </a:solidFill>
              </a:rPr>
              <a:t>Held in memory, so it clears when the batch service restarts; the business date and status stay in the database</a:t>
            </a:r>
            <a:endParaRPr lang="en-US" sz="1350" dirty="0"/>
          </a:p>
        </p:txBody>
      </p:sp>
      <p:sp>
        <p:nvSpPr>
          <p:cNvPr id="21" name="Shape 21"/>
          <p:cNvSpPr txBox="1"/>
          <p:nvPr/>
        </p:nvSpPr>
        <p:spPr>
          <a:xfrm>
            <a:off x="4297680" y="2651760"/>
            <a:ext cx="3566160" cy="34747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Safe start</a:t>
            </a:r>
            <a:endParaRPr lang="en-US" sz="1600" dirty="0"/>
          </a:p>
          <a:p>
            <a:pPr marL="228600" indent="-228600" algn="l">
              <a:spcAft>
                <a:spcPts val="400"/>
              </a:spcAft>
              <a:buSzPct val="100000"/>
              <a:buChar char="•"/>
            </a:pPr>
            <a:r>
              <a:rPr lang="en-US" sz="1350" dirty="0">
                <a:solidFill>
                  <a:schemeClr val="tx1"/>
                </a:solidFill>
              </a:rPr>
              <a:t>One run at a time: 202 accepted, 409 if one is already running</a:t>
            </a:r>
            <a:endParaRPr lang="en-US" sz="1350" dirty="0"/>
          </a:p>
          <a:p>
            <a:pPr marL="228600" indent="-228600" algn="l">
              <a:spcAft>
                <a:spcPts val="400"/>
              </a:spcAft>
              <a:buSzPct val="100000"/>
              <a:buChar char="•"/>
            </a:pPr>
            <a:r>
              <a:rPr lang="en-US" sz="1350" dirty="0">
                <a:solidFill>
                  <a:schemeClr val="tx1"/>
                </a:solidFill>
              </a:rPr>
              <a:t>Start carries expectedBusinessDate; the service reads the date fresh from lending-service and answers 409 if it differs</a:t>
            </a:r>
            <a:endParaRPr lang="en-US" sz="1350" dirty="0"/>
          </a:p>
          <a:p>
            <a:pPr marL="228600" indent="-228600" algn="l">
              <a:spcAft>
                <a:spcPts val="400"/>
              </a:spcAft>
              <a:buSzPct val="100000"/>
              <a:buChar char="•"/>
            </a:pPr>
            <a:r>
              <a:rPr lang="en-US" sz="1350" dirty="0">
                <a:solidFill>
                  <a:schemeClr val="tx1"/>
                </a:solidFill>
              </a:rPr>
              <a:t>Restart resumes: completed jobs are skipped, the failed one is retried</a:t>
            </a:r>
            <a:endParaRPr lang="en-US" sz="1350" dirty="0"/>
          </a:p>
        </p:txBody>
      </p:sp>
      <p:sp>
        <p:nvSpPr>
          <p:cNvPr id="22" name="Shape 22"/>
          <p:cNvSpPr txBox="1"/>
          <p:nvPr/>
        </p:nvSpPr>
        <p:spPr>
          <a:xfrm>
            <a:off x="8046720" y="2651760"/>
            <a:ext cx="3566160" cy="34747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Status never waits</a:t>
            </a:r>
            <a:endParaRPr lang="en-US" sz="1600" dirty="0"/>
          </a:p>
          <a:p>
            <a:pPr marL="228600" indent="-228600" algn="l">
              <a:spcAft>
                <a:spcPts val="400"/>
              </a:spcAft>
              <a:buSzPct val="100000"/>
              <a:buChar char="•"/>
            </a:pPr>
            <a:r>
              <a:rPr lang="en-US" sz="1350" dirty="0">
                <a:solidFill>
                  <a:schemeClr val="tx1"/>
                </a:solidFill>
              </a:rPr>
              <a:t>The business date is cached and refreshed in the background; a cache older than 2 minutes is not used</a:t>
            </a:r>
            <a:endParaRPr lang="en-US" sz="1350" dirty="0"/>
          </a:p>
          <a:p>
            <a:pPr marL="228600" indent="-228600" algn="l">
              <a:spcAft>
                <a:spcPts val="400"/>
              </a:spcAft>
              <a:buSzPct val="100000"/>
              <a:buChar char="•"/>
            </a:pPr>
            <a:r>
              <a:rPr lang="en-US" sz="1350" dirty="0">
                <a:solidFill>
                  <a:schemeClr val="tx1"/>
                </a:solidFill>
              </a:rPr>
              <a:t>A sleeping lending-service no longer makes the status call time out</a:t>
            </a:r>
            <a:endParaRPr lang="en-US" sz="1350" dirty="0"/>
          </a:p>
          <a:p>
            <a:pPr marL="228600" indent="-228600" algn="l">
              <a:spcAft>
                <a:spcPts val="400"/>
              </a:spcAft>
              <a:buSzPct val="100000"/>
              <a:buChar char="•"/>
            </a:pPr>
            <a:r>
              <a:rPr lang="en-US" sz="1350" dirty="0">
                <a:solidFill>
                  <a:schemeClr val="tx1"/>
                </a:solidFill>
              </a:rPr>
              <a:t>The admin side allows 20 seconds and still answers when the batch service is down</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End-to-end suite: what one run does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 separate project that drives the platform over HTTP and checks every day against its own calculators</a:t>
            </a:r>
            <a:endParaRPr lang="en-US" sz="1400" dirty="0"/>
          </a:p>
        </p:txBody>
      </p:sp>
      <p:sp>
        <p:nvSpPr>
          <p:cNvPr id="11" name="Shape 11"/>
          <p:cNvSpPr txBox="1"/>
          <p:nvPr/>
        </p:nvSpPr>
        <p:spPr>
          <a:xfrm>
            <a:off x="548640"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1  |  Preflight</a:t>
            </a:r>
            <a:endParaRPr lang="en-US" sz="1300" dirty="0"/>
          </a:p>
          <a:p>
            <a:pPr algn="l" indent="0" marL="0">
              <a:buNone/>
            </a:pPr>
            <a:r>
              <a:rPr lang="en-US" sz="1050" dirty="0">
                <a:solidFill>
                  <a:schemeClr val="bg1"/>
                </a:solidFill>
              </a:rPr>
              <a:t>Services reachable, products fit, start date not before the business date</a:t>
            </a:r>
            <a:endParaRPr lang="en-US" sz="1050" dirty="0"/>
          </a:p>
        </p:txBody>
      </p:sp>
      <p:sp>
        <p:nvSpPr>
          <p:cNvPr id="12" name="Shape 12"/>
          <p:cNvSpPr/>
          <p:nvPr/>
        </p:nvSpPr>
        <p:spPr>
          <a:xfrm>
            <a:off x="2572920" y="2331720"/>
            <a:ext cx="215136" cy="0"/>
          </a:xfrm>
          <a:prstGeom prst="line">
            <a:avLst/>
          </a:prstGeom>
          <a:noFill/>
          <a:ln w="15875">
            <a:solidFill>
              <a:schemeClr val="tx2"/>
            </a:solidFill>
            <a:prstDash val="solid"/>
            <a:tailEnd type="triangle"/>
          </a:ln>
        </p:spPr>
      </p:sp>
      <p:sp>
        <p:nvSpPr>
          <p:cNvPr id="13" name="Shape 13"/>
          <p:cNvSpPr txBox="1"/>
          <p:nvPr/>
        </p:nvSpPr>
        <p:spPr>
          <a:xfrm>
            <a:off x="2815488"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2  |  Set up</a:t>
            </a:r>
            <a:endParaRPr lang="en-US" sz="1300" dirty="0"/>
          </a:p>
          <a:p>
            <a:pPr algn="l" indent="0" marL="0">
              <a:buNone/>
            </a:pPr>
            <a:r>
              <a:rPr lang="en-US" sz="1050" dirty="0">
                <a:solidFill>
                  <a:schemeClr val="bg1"/>
                </a:solidFill>
              </a:rPr>
              <a:t>Open N accounts (default 20), half good and half stress borrowers</a:t>
            </a:r>
            <a:endParaRPr lang="en-US" sz="1050" dirty="0"/>
          </a:p>
        </p:txBody>
      </p:sp>
      <p:sp>
        <p:nvSpPr>
          <p:cNvPr id="14" name="Shape 14"/>
          <p:cNvSpPr/>
          <p:nvPr/>
        </p:nvSpPr>
        <p:spPr>
          <a:xfrm>
            <a:off x="4839768" y="2331720"/>
            <a:ext cx="215136" cy="0"/>
          </a:xfrm>
          <a:prstGeom prst="line">
            <a:avLst/>
          </a:prstGeom>
          <a:noFill/>
          <a:ln w="15875">
            <a:solidFill>
              <a:schemeClr val="tx2"/>
            </a:solidFill>
            <a:prstDash val="solid"/>
            <a:tailEnd type="triangle"/>
          </a:ln>
        </p:spPr>
      </p:sp>
      <p:sp>
        <p:nvSpPr>
          <p:cNvPr id="15" name="Shape 15"/>
          <p:cNvSpPr txBox="1"/>
          <p:nvPr/>
        </p:nvSpPr>
        <p:spPr>
          <a:xfrm>
            <a:off x="5082336"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3  |  Each day</a:t>
            </a:r>
            <a:endParaRPr lang="en-US" sz="1300" dirty="0"/>
          </a:p>
          <a:p>
            <a:pPr algn="l" indent="0" marL="0">
              <a:buNone/>
            </a:pPr>
            <a:r>
              <a:rPr lang="en-US" sz="1050" dirty="0">
                <a:solidFill>
                  <a:schemeClr val="bg1"/>
                </a:solidFill>
              </a:rPr>
              <a:t>Borrowers pay with that day as value date; one end of day run, polled; monthly jobs on month end</a:t>
            </a:r>
            <a:endParaRPr lang="en-US" sz="1050" dirty="0"/>
          </a:p>
        </p:txBody>
      </p:sp>
      <p:sp>
        <p:nvSpPr>
          <p:cNvPr id="16" name="Shape 16"/>
          <p:cNvSpPr/>
          <p:nvPr/>
        </p:nvSpPr>
        <p:spPr>
          <a:xfrm>
            <a:off x="7106616" y="2331720"/>
            <a:ext cx="215136" cy="0"/>
          </a:xfrm>
          <a:prstGeom prst="line">
            <a:avLst/>
          </a:prstGeom>
          <a:noFill/>
          <a:ln w="15875">
            <a:solidFill>
              <a:schemeClr val="tx2"/>
            </a:solidFill>
            <a:prstDash val="solid"/>
            <a:tailEnd type="triangle"/>
          </a:ln>
        </p:spPr>
      </p:sp>
      <p:sp>
        <p:nvSpPr>
          <p:cNvPr id="17" name="Shape 17"/>
          <p:cNvSpPr txBox="1"/>
          <p:nvPr/>
        </p:nvSpPr>
        <p:spPr>
          <a:xfrm>
            <a:off x="7349184"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4  |  Check</a:t>
            </a:r>
            <a:endParaRPr lang="en-US" sz="1300" dirty="0"/>
          </a:p>
          <a:p>
            <a:pPr algn="l" indent="0" marL="0">
              <a:buNone/>
            </a:pPr>
            <a:r>
              <a:rPr lang="en-US" sz="1050" dirty="0">
                <a:solidFill>
                  <a:schemeClr val="bg1"/>
                </a:solidFill>
              </a:rPr>
              <a:t>Read-only: accrual, balance, status and DPD, arrears, allocation, closure against its own ledger</a:t>
            </a:r>
            <a:endParaRPr lang="en-US" sz="1050" dirty="0"/>
          </a:p>
        </p:txBody>
      </p:sp>
      <p:sp>
        <p:nvSpPr>
          <p:cNvPr id="18" name="Shape 18"/>
          <p:cNvSpPr/>
          <p:nvPr/>
        </p:nvSpPr>
        <p:spPr>
          <a:xfrm>
            <a:off x="9373464" y="2331720"/>
            <a:ext cx="215136" cy="0"/>
          </a:xfrm>
          <a:prstGeom prst="line">
            <a:avLst/>
          </a:prstGeom>
          <a:noFill/>
          <a:ln w="15875">
            <a:solidFill>
              <a:schemeClr val="tx2"/>
            </a:solidFill>
            <a:prstDash val="solid"/>
            <a:tailEnd type="triangle"/>
          </a:ln>
        </p:spPr>
      </p:sp>
      <p:sp>
        <p:nvSpPr>
          <p:cNvPr id="19" name="Shape 19"/>
          <p:cNvSpPr txBox="1"/>
          <p:nvPr/>
        </p:nvSpPr>
        <p:spPr>
          <a:xfrm>
            <a:off x="9616032" y="1463040"/>
            <a:ext cx="1996848" cy="1737360"/>
          </a:xfrm>
          <a:prstGeom prst="roundRect">
            <a:avLst>
              <a:gd name="adj" fmla="val 8000"/>
            </a:avLst>
          </a:prstGeom>
          <a:solidFill>
            <a:schemeClr val="accent1"/>
          </a:solidFill>
          <a:ln w="12700">
            <a:solidFill>
              <a:schemeClr val="accent1"/>
            </a:solidFill>
          </a:ln>
        </p:spPr>
        <p:txBody>
          <a:bodyPr wrap="square" lIns="82296" tIns="82296" rIns="82296" bIns="82296" rtlCol="0" anchor="ctr"/>
          <a:lstStyle/>
          <a:p>
            <a:pPr algn="l" indent="0" marL="0">
              <a:spcAft>
                <a:spcPts val="300"/>
              </a:spcAft>
              <a:buNone/>
            </a:pPr>
            <a:r>
              <a:rPr lang="en-US" sz="1300" b="1" dirty="0">
                <a:solidFill>
                  <a:schemeClr val="bg1"/>
                </a:solidFill>
              </a:rPr>
              <a:t>5  |  Report</a:t>
            </a:r>
            <a:endParaRPr lang="en-US" sz="1300" dirty="0"/>
          </a:p>
          <a:p>
            <a:pPr algn="l" indent="0" marL="0">
              <a:buNone/>
            </a:pPr>
            <a:r>
              <a:rPr lang="en-US" sz="1050" dirty="0">
                <a:solidFill>
                  <a:schemeClr val="bg1"/>
                </a:solidFill>
              </a:rPr>
              <a:t>Audit trail, batch runs, checks, run report, ranked defects</a:t>
            </a:r>
            <a:endParaRPr lang="en-US" sz="1050" dirty="0"/>
          </a:p>
        </p:txBody>
      </p:sp>
      <p:sp>
        <p:nvSpPr>
          <p:cNvPr id="20" name="Shape 20"/>
          <p:cNvSpPr txBox="1"/>
          <p:nvPr/>
        </p:nvSpPr>
        <p:spPr>
          <a:xfrm>
            <a:off x="548640" y="3383280"/>
            <a:ext cx="3566160" cy="27432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Simulated calendar</a:t>
            </a:r>
            <a:endParaRPr lang="en-US" sz="1600" dirty="0"/>
          </a:p>
          <a:p>
            <a:pPr marL="228600" indent="-228600" algn="l">
              <a:spcAft>
                <a:spcPts val="400"/>
              </a:spcAft>
              <a:buSzPct val="100000"/>
              <a:buChar char="•"/>
            </a:pPr>
            <a:r>
              <a:rPr lang="en-US" sz="1400" dirty="0">
                <a:solidFill>
                  <a:schemeClr val="tx1"/>
                </a:solidFill>
              </a:rPr>
              <a:t>Starts on e2e.start-date and moves one business day at a time, up to e2e.max-sim-days (800)</a:t>
            </a:r>
            <a:endParaRPr lang="en-US" sz="1400" dirty="0"/>
          </a:p>
          <a:p>
            <a:pPr marL="228600" indent="-228600" algn="l">
              <a:spcAft>
                <a:spcPts val="400"/>
              </a:spcAft>
              <a:buSzPct val="100000"/>
              <a:buChar char="•"/>
            </a:pPr>
            <a:r>
              <a:rPr lang="en-US" sz="1400" dirty="0">
                <a:solidFill>
                  <a:schemeClr val="tx1"/>
                </a:solidFill>
              </a:rPr>
              <a:t>It moves the platform business date forward, which only goes one way: start on or after the current date</a:t>
            </a:r>
            <a:endParaRPr lang="en-US" sz="1400" dirty="0"/>
          </a:p>
        </p:txBody>
      </p:sp>
      <p:sp>
        <p:nvSpPr>
          <p:cNvPr id="21" name="Shape 21"/>
          <p:cNvSpPr txBox="1"/>
          <p:nvPr/>
        </p:nvSpPr>
        <p:spPr>
          <a:xfrm>
            <a:off x="4297680" y="3383280"/>
            <a:ext cx="3566160" cy="27432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Hands off the data</a:t>
            </a:r>
            <a:endParaRPr lang="en-US" sz="1600" dirty="0"/>
          </a:p>
          <a:p>
            <a:pPr marL="228600" indent="-228600" algn="l">
              <a:spcAft>
                <a:spcPts val="400"/>
              </a:spcAft>
              <a:buSzPct val="100000"/>
              <a:buChar char="•"/>
            </a:pPr>
            <a:r>
              <a:rPr lang="en-US" sz="1400" dirty="0">
                <a:solidFill>
                  <a:schemeClr val="bg1"/>
                </a:solidFill>
              </a:rPr>
              <a:t>Talks to the platform only over HTTP</a:t>
            </a:r>
            <a:endParaRPr lang="en-US" sz="1400" dirty="0"/>
          </a:p>
          <a:p>
            <a:pPr marL="228600" indent="-228600" algn="l">
              <a:spcAft>
                <a:spcPts val="400"/>
              </a:spcAft>
              <a:buSzPct val="100000"/>
              <a:buChar char="•"/>
            </a:pPr>
            <a:r>
              <a:rPr lang="en-US" sz="1400" dirty="0">
                <a:solidFill>
                  <a:schemeClr val="bg1"/>
                </a:solidFill>
              </a:rPr>
              <a:t>Never calls a repository or writes a business table</a:t>
            </a:r>
            <a:endParaRPr lang="en-US" sz="1400" dirty="0"/>
          </a:p>
          <a:p>
            <a:pPr marL="228600" indent="-228600" algn="l">
              <a:spcAft>
                <a:spcPts val="400"/>
              </a:spcAft>
              <a:buSzPct val="100000"/>
              <a:buChar char="•"/>
            </a:pPr>
            <a:r>
              <a:rPr lang="en-US" sz="1400" dirty="0">
                <a:solidFill>
                  <a:schemeClr val="bg1"/>
                </a:solidFill>
              </a:rPr>
              <a:t>Refuses to run against production; credentials come from the environment</a:t>
            </a:r>
            <a:endParaRPr lang="en-US" sz="1400" dirty="0"/>
          </a:p>
        </p:txBody>
      </p:sp>
      <p:sp>
        <p:nvSpPr>
          <p:cNvPr id="22" name="Shape 22"/>
          <p:cNvSpPr txBox="1"/>
          <p:nvPr/>
        </p:nvSpPr>
        <p:spPr>
          <a:xfrm>
            <a:off x="8046720" y="3383280"/>
            <a:ext cx="3566160" cy="274320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Exit codes</a:t>
            </a:r>
            <a:endParaRPr lang="en-US" sz="1600" dirty="0"/>
          </a:p>
          <a:p>
            <a:pPr marL="228600" indent="-228600" algn="l">
              <a:spcAft>
                <a:spcPts val="400"/>
              </a:spcAft>
              <a:buSzPct val="100000"/>
              <a:buChar char="•"/>
            </a:pPr>
            <a:r>
              <a:rPr lang="en-US" sz="1400" dirty="0">
                <a:solidFill>
                  <a:schemeClr val="tx1"/>
                </a:solidFill>
              </a:rPr>
              <a:t>0 passed</a:t>
            </a:r>
            <a:endParaRPr lang="en-US" sz="1400" dirty="0"/>
          </a:p>
          <a:p>
            <a:pPr marL="228600" indent="-228600" algn="l">
              <a:spcAft>
                <a:spcPts val="400"/>
              </a:spcAft>
              <a:buSzPct val="100000"/>
              <a:buChar char="•"/>
            </a:pPr>
            <a:r>
              <a:rPr lang="en-US" sz="1400" dirty="0">
                <a:solidFill>
                  <a:schemeClr val="tx1"/>
                </a:solidFill>
              </a:rPr>
              <a:t>1 a check failed at or above the set severity</a:t>
            </a:r>
            <a:endParaRPr lang="en-US" sz="1400" dirty="0"/>
          </a:p>
          <a:p>
            <a:pPr marL="228600" indent="-228600" algn="l">
              <a:spcAft>
                <a:spcPts val="400"/>
              </a:spcAft>
              <a:buSzPct val="100000"/>
              <a:buChar char="•"/>
            </a:pPr>
            <a:r>
              <a:rPr lang="en-US" sz="1400" dirty="0">
                <a:solidFill>
                  <a:schemeClr val="tx1"/>
                </a:solidFill>
              </a:rPr>
              <a:t>2 preflight problems, nothing created</a:t>
            </a:r>
            <a:endParaRPr lang="en-US" sz="1400" dirty="0"/>
          </a:p>
          <a:p>
            <a:pPr marL="228600" indent="-228600" algn="l">
              <a:spcAft>
                <a:spcPts val="400"/>
              </a:spcAft>
              <a:buSzPct val="100000"/>
              <a:buChar char="•"/>
            </a:pPr>
            <a:r>
              <a:rPr lang="en-US" sz="1400" dirty="0">
                <a:solidFill>
                  <a:schemeClr val="tx1"/>
                </a:solidFill>
              </a:rPr>
              <a:t>3 refused by the production guard</a:t>
            </a:r>
            <a:endParaRPr lang="en-US" sz="1400" dirty="0"/>
          </a:p>
          <a:p>
            <a:pPr marL="228600" indent="-228600" algn="l">
              <a:spcAft>
                <a:spcPts val="400"/>
              </a:spcAft>
              <a:buSzPct val="100000"/>
              <a:buChar char="•"/>
            </a:pPr>
            <a:r>
              <a:rPr lang="en-US" sz="1400" dirty="0">
                <a:solidFill>
                  <a:schemeClr val="tx1"/>
                </a:solidFill>
              </a:rPr>
              <a:t>4 error</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Hosted console: accounts, days and start date</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Run the suite from a browser against the Render sandbox; v1.6 adds the start date</a:t>
            </a:r>
            <a:endParaRPr lang="en-US" sz="1400" dirty="0"/>
          </a:p>
        </p:txBody>
      </p:sp>
      <p:graphicFrame>
        <p:nvGraphicFramePr>
          <p:cNvPr id="11" name="Table 11"/>
          <p:cNvGraphicFramePr>
            <a:graphicFrameLocks noGrp="1"/>
          </p:cNvGraphicFramePr>
          <p:nvPr/>
        </p:nvGraphicFramePr>
        <p:xfrm>
          <a:off x="548640" y="1463040"/>
          <a:ext cx="7315200" cy="1600200"/>
        </p:xfrm>
        <a:graphic>
          <a:graphicData uri="http://schemas.openxmlformats.org/drawingml/2006/table">
            <a:tbl>
              <a:tblPr/>
              <a:tblGrid>
                <a:gridCol w="2926080"/>
                <a:gridCol w="2651760"/>
                <a:gridCol w="1737360"/>
              </a:tblGrid>
              <a:tr h="365760">
                <a:tc>
                  <a:txBody>
                    <a:bodyPr/>
                    <a:lstStyle/>
                    <a:p>
                      <a:pPr indent="0" marL="0">
                        <a:buNone/>
                      </a:pPr>
                      <a:r>
                        <a:rPr lang="en-US" sz="1200" b="1" dirty="0">
                          <a:solidFill>
                            <a:schemeClr val="bg1"/>
                          </a:solidFill>
                        </a:rPr>
                        <a:t>Field on the console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Setting it sets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Default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400" b="1" dirty="0">
                          <a:solidFill>
                            <a:schemeClr val="tx2"/>
                          </a:solidFill>
                        </a:rPr>
                        <a:t>Accounts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e2e.accounts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tx2"/>
                          </a:solidFill>
                        </a:rPr>
                        <a:t>Max simulated days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e2e.max-sim-days</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800</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2"/>
                          </a:solidFill>
                        </a:rPr>
                        <a:t>Start date  (new in v1.6)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e2e.start-date</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 November 2026</a:t>
                      </a:r>
                      <a:endParaRPr lang="en-US" sz="14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12" name="Shape 12"/>
          <p:cNvSpPr txBox="1"/>
          <p:nvPr/>
        </p:nvSpPr>
        <p:spPr>
          <a:xfrm>
            <a:off x="548640" y="3200400"/>
            <a:ext cx="7315200" cy="1005840"/>
          </a:xfrm>
          <a:prstGeom prst="rect">
            <a:avLst/>
          </a:prstGeom>
          <a:noFill/>
          <a:ln/>
        </p:spPr>
        <p:txBody>
          <a:bodyPr wrap="square" lIns="0" tIns="0" rIns="0" bIns="0" rtlCol="0" anchor="t"/>
          <a:lstStyle/>
          <a:p>
            <a:pPr algn="l" indent="0" marL="0">
              <a:buNone/>
            </a:pPr>
            <a:r>
              <a:rPr lang="en-US" sz="1250" dirty="0">
                <a:solidFill>
                  <a:schemeClr val="tx1"/>
                </a:solidFill>
              </a:rPr>
              <a:t>Leave a field empty to use the service default. Dry run is read-only: it checks connectivity, product limits and the plan, and gives an estimate. Run starts the real thing. Every call carries the X-E2E-Token header.</a:t>
            </a:r>
            <a:endParaRPr lang="en-US" sz="1250" dirty="0"/>
          </a:p>
        </p:txBody>
      </p:sp>
      <p:sp>
        <p:nvSpPr>
          <p:cNvPr id="13" name="Shape 13"/>
          <p:cNvSpPr txBox="1"/>
          <p:nvPr/>
        </p:nvSpPr>
        <p:spPr>
          <a:xfrm>
            <a:off x="8138160" y="1463040"/>
            <a:ext cx="3474720" cy="265176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Why a start date</a:t>
            </a:r>
            <a:endParaRPr lang="en-US" sz="1600" dirty="0"/>
          </a:p>
          <a:p>
            <a:pPr marL="228600" indent="-228600" algn="l">
              <a:spcAft>
                <a:spcPts val="400"/>
              </a:spcAft>
              <a:buSzPct val="100000"/>
              <a:buChar char="•"/>
            </a:pPr>
            <a:r>
              <a:rPr lang="en-US" sz="1400" dirty="0">
                <a:solidFill>
                  <a:schemeClr val="tx1"/>
                </a:solidFill>
              </a:rPr>
              <a:t>The preflight refuses a start date before the platform business date</a:t>
            </a:r>
            <a:endParaRPr lang="en-US" sz="1400" dirty="0"/>
          </a:p>
          <a:p>
            <a:pPr marL="228600" indent="-228600" algn="l">
              <a:spcAft>
                <a:spcPts val="400"/>
              </a:spcAft>
              <a:buSzPct val="100000"/>
              <a:buChar char="•"/>
            </a:pPr>
            <a:r>
              <a:rPr lang="en-US" sz="1400" dirty="0">
                <a:solidFill>
                  <a:schemeClr val="tx1"/>
                </a:solidFill>
              </a:rPr>
              <a:t>After end of day for 1 November 2026 the business date is later, so the default fails</a:t>
            </a:r>
            <a:endParaRPr lang="en-US" sz="1400" dirty="0"/>
          </a:p>
        </p:txBody>
      </p:sp>
      <p:sp>
        <p:nvSpPr>
          <p:cNvPr id="14" name="Shape 14"/>
          <p:cNvSpPr txBox="1"/>
          <p:nvPr/>
        </p:nvSpPr>
        <p:spPr>
          <a:xfrm>
            <a:off x="548640" y="4297680"/>
            <a:ext cx="3611880" cy="182880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Example: 60 days, 5 accounts</a:t>
            </a:r>
            <a:endParaRPr lang="en-US" sz="1600" dirty="0"/>
          </a:p>
          <a:p>
            <a:pPr marL="228600" indent="-228600" algn="l">
              <a:spcAft>
                <a:spcPts val="400"/>
              </a:spcAft>
              <a:buSzPct val="100000"/>
              <a:buChar char="•"/>
            </a:pPr>
            <a:r>
              <a:rPr lang="en-US" sz="1400" dirty="0">
                <a:solidFill>
                  <a:schemeClr val="tx1"/>
                </a:solidFill>
              </a:rPr>
              <a:t>Accounts 5, Max simulated days 60</a:t>
            </a:r>
            <a:endParaRPr lang="en-US" sz="1400" dirty="0"/>
          </a:p>
          <a:p>
            <a:pPr marL="228600" indent="-228600" algn="l">
              <a:spcAft>
                <a:spcPts val="400"/>
              </a:spcAft>
              <a:buSzPct val="100000"/>
              <a:buChar char="•"/>
            </a:pPr>
            <a:r>
              <a:rPr lang="en-US" sz="1400" dirty="0">
                <a:solidFill>
                  <a:schemeClr val="tx1"/>
                </a:solidFill>
              </a:rPr>
              <a:t>Start date: the current business date shown on the End of day screen, or later</a:t>
            </a:r>
            <a:endParaRPr lang="en-US" sz="1400" dirty="0"/>
          </a:p>
          <a:p>
            <a:pPr marL="228600" indent="-228600" algn="l">
              <a:spcAft>
                <a:spcPts val="400"/>
              </a:spcAft>
              <a:buSzPct val="100000"/>
              <a:buChar char="•"/>
            </a:pPr>
            <a:r>
              <a:rPr lang="en-US" sz="1400" dirty="0">
                <a:solidFill>
                  <a:schemeClr val="tx1"/>
                </a:solidFill>
              </a:rPr>
              <a:t>Dry run first, then Run</a:t>
            </a:r>
            <a:endParaRPr lang="en-US" sz="1400" dirty="0"/>
          </a:p>
        </p:txBody>
      </p:sp>
      <p:sp>
        <p:nvSpPr>
          <p:cNvPr id="15" name="Shape 15"/>
          <p:cNvSpPr txBox="1"/>
          <p:nvPr/>
        </p:nvSpPr>
        <p:spPr>
          <a:xfrm>
            <a:off x="4343400" y="4297680"/>
            <a:ext cx="7269480" cy="182880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Behind the buttons</a:t>
            </a:r>
            <a:endParaRPr lang="en-US" sz="1600" dirty="0"/>
          </a:p>
          <a:p>
            <a:pPr marL="228600" indent="-228600" algn="l">
              <a:spcAft>
                <a:spcPts val="400"/>
              </a:spcAft>
              <a:buSzPct val="100000"/>
              <a:buChar char="•"/>
            </a:pPr>
            <a:r>
              <a:rPr lang="en-US" sz="1400" dirty="0">
                <a:solidFill>
                  <a:schemeClr val="bg1"/>
                </a:solidFill>
              </a:rPr>
              <a:t>POST /runs, or /runs?dryRun=true, with the fields as JSON: accounts, max-sim-days, start-date</a:t>
            </a:r>
            <a:endParaRPr lang="en-US" sz="1400" dirty="0"/>
          </a:p>
          <a:p>
            <a:pPr marL="228600" indent="-228600" algn="l">
              <a:spcAft>
                <a:spcPts val="400"/>
              </a:spcAft>
              <a:buSzPct val="100000"/>
              <a:buChar char="•"/>
            </a:pPr>
            <a:r>
              <a:rPr lang="en-US" sz="1400" dirty="0">
                <a:solidFill>
                  <a:schemeClr val="bg1"/>
                </a:solidFill>
              </a:rPr>
              <a:t>Any other flat e2e.* setting can be sent the same way; URLs, profile, guard and passwords cannot</a:t>
            </a:r>
            <a:endParaRPr lang="en-US" sz="14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1  Platform</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Three services, one database, one business date</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1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What we built</a:t>
            </a:r>
            <a:endParaRPr lang="en-US" sz="2000" dirty="0"/>
          </a:p>
          <a:p>
            <a:pPr marL="228600" indent="-228600" algn="l">
              <a:spcAft>
                <a:spcPts val="1100"/>
              </a:spcAft>
              <a:buSzPct val="100000"/>
              <a:buChar char="•"/>
            </a:pPr>
            <a:r>
              <a:rPr lang="en-US" sz="2000" dirty="0">
                <a:solidFill>
                  <a:schemeClr val="bg1"/>
                </a:solidFill>
              </a:rPr>
              <a:t>System architecture</a:t>
            </a:r>
            <a:endParaRPr lang="en-US" sz="2000" dirty="0"/>
          </a:p>
          <a:p>
            <a:pPr marL="228600" indent="-228600" algn="l">
              <a:spcAft>
                <a:spcPts val="1100"/>
              </a:spcAft>
              <a:buSzPct val="100000"/>
              <a:buChar char="•"/>
            </a:pPr>
            <a:r>
              <a:rPr lang="en-US" sz="2000" dirty="0">
                <a:solidFill>
                  <a:schemeClr val="bg1"/>
                </a:solidFill>
              </a:rPr>
              <a:t>The Render sandbox</a:t>
            </a:r>
            <a:endParaRPr lang="en-US" sz="2000" dirty="0"/>
          </a:p>
          <a:p>
            <a:pPr marL="228600" indent="-228600" algn="l">
              <a:spcAft>
                <a:spcPts val="1100"/>
              </a:spcAft>
              <a:buSzPct val="100000"/>
              <a:buChar char="•"/>
            </a:pPr>
            <a:r>
              <a:rPr lang="en-US" sz="2000" dirty="0">
                <a:solidFill>
                  <a:schemeClr val="bg1"/>
                </a:solidFill>
              </a:rPr>
              <a:t>Application flow of one request</a:t>
            </a:r>
            <a:endParaRPr lang="en-US" sz="2000" dirty="0"/>
          </a:p>
          <a:p>
            <a:pPr marL="228600" indent="-228600" algn="l">
              <a:spcAft>
                <a:spcPts val="1100"/>
              </a:spcAft>
              <a:buSzPct val="100000"/>
              <a:buChar char="•"/>
            </a:pPr>
            <a:r>
              <a:rPr lang="en-US" sz="2000" dirty="0">
                <a:solidFill>
                  <a:schemeClr val="bg1"/>
                </a:solidFill>
              </a:rPr>
              <a:t>Business date</a:t>
            </a:r>
            <a:endParaRPr lang="en-US" sz="2000" dirty="0"/>
          </a:p>
          <a:p>
            <a:pPr marL="228600" indent="-228600" algn="l">
              <a:spcAft>
                <a:spcPts val="1100"/>
              </a:spcAft>
              <a:buSzPct val="100000"/>
              <a:buChar char="•"/>
            </a:pPr>
            <a:r>
              <a:rPr lang="en-US" sz="2000" dirty="0">
                <a:solidFill>
                  <a:schemeClr val="bg1"/>
                </a:solidFill>
              </a:rPr>
              <a:t>Sandbox URLs and changes</a:t>
            </a:r>
            <a:endParaRPr lang="en-US" sz="2000" dirty="0"/>
          </a:p>
          <a:p>
            <a:pPr marL="228600" indent="-228600" algn="l">
              <a:spcAft>
                <a:spcPts val="1100"/>
              </a:spcAft>
              <a:buSzPct val="100000"/>
              <a:buChar char="•"/>
            </a:pPr>
            <a:r>
              <a:rPr lang="en-US" sz="2000" dirty="0">
                <a:solidFill>
                  <a:schemeClr val="bg1"/>
                </a:solidFill>
              </a:rPr>
              <a:t>What changed in v1.6 and v1.7</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lending-service, lending-batch-service and lending-admin-service share one PostgreSQL database</a:t>
            </a:r>
            <a:endParaRPr lang="en-US" sz="1700" dirty="0"/>
          </a:p>
          <a:p>
            <a:pPr marL="228600" indent="-228600" algn="l">
              <a:spcAft>
                <a:spcPts val="1100"/>
              </a:spcAft>
              <a:buSzPct val="100000"/>
              <a:buChar char="•"/>
            </a:pPr>
            <a:r>
              <a:rPr lang="en-US" sz="1700" dirty="0">
                <a:solidFill>
                  <a:schemeClr val="bg1"/>
                </a:solidFill>
              </a:rPr>
              <a:t>lending-service owns the business date; every other part follows it</a:t>
            </a:r>
            <a:endParaRPr lang="en-US" sz="1700" dirty="0"/>
          </a:p>
          <a:p>
            <a:pPr marL="228600" indent="-228600" algn="l">
              <a:spcAft>
                <a:spcPts val="1100"/>
              </a:spcAft>
              <a:buSzPct val="100000"/>
              <a:buChar char="•"/>
            </a:pPr>
            <a:r>
              <a:rPr lang="en-US" sz="1700" dirty="0">
                <a:solidFill>
                  <a:schemeClr val="bg1"/>
                </a:solidFill>
              </a:rPr>
              <a:t>Deployed from render.yaml on the free tier, so services sleep when idle</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2  Product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terms of a loan live in one place</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2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Loan products: one place for the terms of a loan</a:t>
            </a:r>
            <a:endParaRPr lang="en-US" sz="2000" dirty="0"/>
          </a:p>
          <a:p>
            <a:pPr marL="228600" indent="-228600" algn="l">
              <a:spcAft>
                <a:spcPts val="1100"/>
              </a:spcAft>
              <a:buSzPct val="100000"/>
              <a:buChar char="•"/>
            </a:pPr>
            <a:r>
              <a:rPr lang="en-US" sz="2000" dirty="0">
                <a:solidFill>
                  <a:schemeClr val="bg1"/>
                </a:solidFill>
              </a:rPr>
              <a:t>Day counts and repayment schedules</a:t>
            </a:r>
            <a:endParaRPr lang="en-US" sz="2000" dirty="0"/>
          </a:p>
          <a:p>
            <a:pPr marL="228600" indent="-228600" algn="l">
              <a:spcAft>
                <a:spcPts val="1100"/>
              </a:spcAft>
              <a:buSzPct val="100000"/>
              <a:buChar char="•"/>
            </a:pPr>
            <a:r>
              <a:rPr lang="en-US" sz="2000" dirty="0">
                <a:solidFill>
                  <a:schemeClr val="bg1"/>
                </a:solidFill>
              </a:rPr>
              <a:t>Maintenance and eleven base products</a:t>
            </a:r>
            <a:endParaRPr lang="en-US" sz="2000" dirty="0"/>
          </a:p>
          <a:p>
            <a:pPr marL="228600" indent="-228600" algn="l">
              <a:spcAft>
                <a:spcPts val="1100"/>
              </a:spcAft>
              <a:buSzPct val="100000"/>
              <a:buChar char="•"/>
            </a:pPr>
            <a:r>
              <a:rPr lang="en-US" sz="2000" dirty="0">
                <a:solidFill>
                  <a:schemeClr val="bg1"/>
                </a:solidFill>
              </a:rPr>
              <a:t>Penal interest on the product (new)</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An account is opened from a product and takes its limits, rate and schedule type</a:t>
            </a:r>
            <a:endParaRPr lang="en-US" sz="1700" dirty="0"/>
          </a:p>
          <a:p>
            <a:pPr marL="228600" indent="-228600" algn="l">
              <a:spcAft>
                <a:spcPts val="1100"/>
              </a:spcAft>
              <a:buSzPct val="100000"/>
              <a:buChar char="•"/>
            </a:pPr>
            <a:r>
              <a:rPr lang="en-US" sz="1700" dirty="0">
                <a:solidFill>
                  <a:schemeClr val="bg1"/>
                </a:solidFill>
              </a:rPr>
              <a:t>A product chooses how interest is counted and how the loan is repaid</a:t>
            </a:r>
            <a:endParaRPr lang="en-US" sz="1700" dirty="0"/>
          </a:p>
          <a:p>
            <a:pPr marL="228600" indent="-228600" algn="l">
              <a:spcAft>
                <a:spcPts val="1100"/>
              </a:spcAft>
              <a:buSzPct val="100000"/>
              <a:buChar char="•"/>
            </a:pPr>
            <a:r>
              <a:rPr lang="en-US" sz="1700" dirty="0">
                <a:solidFill>
                  <a:schemeClr val="bg1"/>
                </a:solidFill>
              </a:rPr>
              <a:t>Base products can be re-created safely and every schedule type is covered</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3  Account</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From sanction to closure: data, flows and status</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3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Data model</a:t>
            </a:r>
            <a:endParaRPr lang="en-US" sz="2000" dirty="0"/>
          </a:p>
          <a:p>
            <a:pPr marL="228600" indent="-228600" algn="l">
              <a:spcAft>
                <a:spcPts val="1100"/>
              </a:spcAft>
              <a:buSzPct val="100000"/>
              <a:buChar char="•"/>
            </a:pPr>
            <a:r>
              <a:rPr lang="en-US" sz="2000" dirty="0">
                <a:solidFill>
                  <a:schemeClr val="bg1"/>
                </a:solidFill>
              </a:rPr>
              <a:t>Six design rules in the schema</a:t>
            </a:r>
            <a:endParaRPr lang="en-US" sz="2000" dirty="0"/>
          </a:p>
          <a:p>
            <a:pPr marL="228600" indent="-228600" algn="l">
              <a:spcAft>
                <a:spcPts val="1100"/>
              </a:spcAft>
              <a:buSzPct val="100000"/>
              <a:buChar char="•"/>
            </a:pPr>
            <a:r>
              <a:rPr lang="en-US" sz="2000" dirty="0">
                <a:solidFill>
                  <a:schemeClr val="bg1"/>
                </a:solidFill>
              </a:rPr>
              <a:t>Process flow: originate to disburse</a:t>
            </a:r>
            <a:endParaRPr lang="en-US" sz="2000" dirty="0"/>
          </a:p>
          <a:p>
            <a:pPr marL="228600" indent="-228600" algn="l">
              <a:spcAft>
                <a:spcPts val="1100"/>
              </a:spcAft>
              <a:buSzPct val="100000"/>
              <a:buChar char="•"/>
            </a:pPr>
            <a:r>
              <a:rPr lang="en-US" sz="2000" dirty="0">
                <a:solidFill>
                  <a:schemeClr val="bg1"/>
                </a:solidFill>
              </a:rPr>
              <a:t>Process flow: repayment and exit</a:t>
            </a:r>
            <a:endParaRPr lang="en-US" sz="2000" dirty="0"/>
          </a:p>
          <a:p>
            <a:pPr marL="228600" indent="-228600" algn="l">
              <a:spcAft>
                <a:spcPts val="1100"/>
              </a:spcAft>
              <a:buSzPct val="100000"/>
              <a:buChar char="•"/>
            </a:pPr>
            <a:r>
              <a:rPr lang="en-US" sz="2000" dirty="0">
                <a:solidFill>
                  <a:schemeClr val="bg1"/>
                </a:solidFill>
              </a:rPr>
              <a:t>Demands, the waterfall and penal interest (new)</a:t>
            </a:r>
            <a:endParaRPr lang="en-US" sz="2000" dirty="0"/>
          </a:p>
          <a:p>
            <a:pPr marL="228600" indent="-228600" algn="l">
              <a:spcAft>
                <a:spcPts val="1100"/>
              </a:spcAft>
              <a:buSzPct val="100000"/>
              <a:buChar char="•"/>
            </a:pPr>
            <a:r>
              <a:rPr lang="en-US" sz="2000" dirty="0">
                <a:solidFill>
                  <a:schemeClr val="bg1"/>
                </a:solidFill>
              </a:rPr>
              <a:t>Business flow: the loan lifecycle</a:t>
            </a:r>
            <a:endParaRPr lang="en-US" sz="2000" dirty="0"/>
          </a:p>
          <a:p>
            <a:pPr marL="228600" indent="-228600" algn="l">
              <a:spcAft>
                <a:spcPts val="1100"/>
              </a:spcAft>
              <a:buSzPct val="100000"/>
              <a:buChar char="•"/>
            </a:pPr>
            <a:r>
              <a:rPr lang="en-US" sz="2000" dirty="0">
                <a:solidFill>
                  <a:schemeClr val="bg1"/>
                </a:solidFill>
              </a:rPr>
              <a:t>Account status model</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loan_account is the hub; every other table hangs off account_id</a:t>
            </a:r>
            <a:endParaRPr lang="en-US" sz="1700" dirty="0"/>
          </a:p>
          <a:p>
            <a:pPr marL="228600" indent="-228600" algn="l">
              <a:spcAft>
                <a:spcPts val="1100"/>
              </a:spcAft>
              <a:buSzPct val="100000"/>
              <a:buChar char="•"/>
            </a:pPr>
            <a:r>
              <a:rPr lang="en-US" sz="1700" dirty="0">
                <a:solidFill>
                  <a:schemeClr val="bg1"/>
                </a:solidFill>
              </a:rPr>
              <a:t>Postings are idempotent and schedules are versioned, so history stays auditable</a:t>
            </a:r>
            <a:endParaRPr lang="en-US" sz="1700" dirty="0"/>
          </a:p>
          <a:p>
            <a:pPr marL="228600" indent="-228600" algn="l">
              <a:spcAft>
                <a:spcPts val="1100"/>
              </a:spcAft>
              <a:buSzPct val="100000"/>
              <a:buChar char="•"/>
            </a:pPr>
            <a:r>
              <a:rPr lang="en-US" sz="1700" dirty="0">
                <a:solidFill>
                  <a:schemeClr val="bg1"/>
                </a:solidFill>
              </a:rPr>
              <a:t>Delinquency moves an account down the status ladder; clearing dues brings it back</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4  Admin console</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Inquiry, configuration and now end-of-day control</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4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Admin portal: a separate service</a:t>
            </a:r>
            <a:endParaRPr lang="en-US" sz="2000" dirty="0"/>
          </a:p>
          <a:p>
            <a:pPr marL="228600" indent="-228600" algn="l">
              <a:spcAft>
                <a:spcPts val="1100"/>
              </a:spcAft>
              <a:buSzPct val="100000"/>
              <a:buChar char="•"/>
            </a:pPr>
            <a:r>
              <a:rPr lang="en-US" sz="2000" dirty="0">
                <a:solidFill>
                  <a:schemeClr val="bg1"/>
                </a:solidFill>
              </a:rPr>
              <a:t>What the portal shows</a:t>
            </a:r>
            <a:endParaRPr lang="en-US" sz="2000" dirty="0"/>
          </a:p>
          <a:p>
            <a:pPr marL="228600" indent="-228600" algn="l">
              <a:spcAft>
                <a:spcPts val="1100"/>
              </a:spcAft>
              <a:buSzPct val="100000"/>
              <a:buChar char="•"/>
            </a:pPr>
            <a:r>
              <a:rPr lang="en-US" sz="2000" dirty="0">
                <a:solidFill>
                  <a:schemeClr val="bg1"/>
                </a:solidFill>
              </a:rPr>
              <a:t>Configuration: what can be changed, and where</a:t>
            </a:r>
            <a:endParaRPr lang="en-US" sz="2000" dirty="0"/>
          </a:p>
          <a:p>
            <a:pPr marL="228600" indent="-228600" algn="l">
              <a:spcAft>
                <a:spcPts val="1100"/>
              </a:spcAft>
              <a:buSzPct val="100000"/>
              <a:buChar char="•"/>
            </a:pPr>
            <a:r>
              <a:rPr lang="en-US" sz="2000" dirty="0">
                <a:solidFill>
                  <a:schemeClr val="bg1"/>
                </a:solidFill>
              </a:rPr>
              <a:t>Admin portal and test suite follow the business date</a:t>
            </a:r>
            <a:endParaRPr lang="en-US" sz="2000" dirty="0"/>
          </a:p>
          <a:p>
            <a:pPr marL="228600" indent="-228600" algn="l">
              <a:spcAft>
                <a:spcPts val="1100"/>
              </a:spcAft>
              <a:buSzPct val="100000"/>
              <a:buChar char="•"/>
            </a:pPr>
            <a:r>
              <a:rPr lang="en-US" sz="2000" dirty="0">
                <a:solidFill>
                  <a:schemeClr val="bg1"/>
                </a:solidFill>
              </a:rPr>
              <a:t>The End of day screen (new)</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lending-admin-service reads the Lending database; the few edits go through the owning service</a:t>
            </a:r>
            <a:endParaRPr lang="en-US" sz="1700" dirty="0"/>
          </a:p>
          <a:p>
            <a:pPr marL="228600" indent="-228600" algn="l">
              <a:spcAft>
                <a:spcPts val="1100"/>
              </a:spcAft>
              <a:buSzPct val="100000"/>
              <a:buChar char="•"/>
            </a:pPr>
            <a:r>
              <a:rPr lang="en-US" sz="1700" dirty="0">
                <a:solidFill>
                  <a:schemeClr val="bg1"/>
                </a:solidFill>
              </a:rPr>
              <a:t>Batch job settings are editable on the Configuration screen</a:t>
            </a:r>
            <a:endParaRPr lang="en-US" sz="1700" dirty="0"/>
          </a:p>
          <a:p>
            <a:pPr marL="228600" indent="-228600" algn="l">
              <a:spcAft>
                <a:spcPts val="1100"/>
              </a:spcAft>
              <a:buSzPct val="100000"/>
              <a:buChar char="•"/>
            </a:pPr>
            <a:r>
              <a:rPr lang="en-US" sz="1700" dirty="0">
                <a:solidFill>
                  <a:schemeClr val="bg1"/>
                </a:solidFill>
              </a:rPr>
              <a:t>Operators can start, restart and watch end of day without leaving the console</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5  Batch</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The nightly chain, end of day and the jobs behind it</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5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Process flow: the nightly batch chain</a:t>
            </a:r>
            <a:endParaRPr lang="en-US" sz="2000" dirty="0"/>
          </a:p>
          <a:p>
            <a:pPr marL="228600" indent="-228600" algn="l">
              <a:spcAft>
                <a:spcPts val="1100"/>
              </a:spcAft>
              <a:buSzPct val="100000"/>
              <a:buChar char="•"/>
            </a:pPr>
            <a:r>
              <a:rPr lang="en-US" sz="2000" dirty="0">
                <a:solidFill>
                  <a:schemeClr val="bg1"/>
                </a:solidFill>
              </a:rPr>
              <a:t>Process flow: end of day</a:t>
            </a:r>
            <a:endParaRPr lang="en-US" sz="2000" dirty="0"/>
          </a:p>
          <a:p>
            <a:pPr marL="228600" indent="-228600" algn="l">
              <a:spcAft>
                <a:spcPts val="1100"/>
              </a:spcAft>
              <a:buSzPct val="100000"/>
              <a:buChar char="•"/>
            </a:pPr>
            <a:r>
              <a:rPr lang="en-US" sz="2000" dirty="0">
                <a:solidFill>
                  <a:schemeClr val="bg1"/>
                </a:solidFill>
              </a:rPr>
              <a:t>End of day: live progress and a safe start (new)</a:t>
            </a:r>
            <a:endParaRPr lang="en-US" sz="2000" dirty="0"/>
          </a:p>
          <a:p>
            <a:pPr marL="228600" indent="-228600" algn="l">
              <a:spcAft>
                <a:spcPts val="1100"/>
              </a:spcAft>
              <a:buSzPct val="100000"/>
              <a:buChar char="•"/>
            </a:pPr>
            <a:r>
              <a:rPr lang="en-US" sz="2000" dirty="0">
                <a:solidFill>
                  <a:schemeClr val="bg1"/>
                </a:solidFill>
              </a:rPr>
              <a:t>Batch jobs now call lending-service</a:t>
            </a:r>
            <a:endParaRPr lang="en-US" sz="2000" dirty="0"/>
          </a:p>
          <a:p>
            <a:pPr marL="228600" indent="-228600" algn="l">
              <a:spcAft>
                <a:spcPts val="1100"/>
              </a:spcAft>
              <a:buSzPct val="100000"/>
              <a:buChar char="•"/>
            </a:pPr>
            <a:r>
              <a:rPr lang="en-US" sz="2000" dirty="0">
                <a:solidFill>
                  <a:schemeClr val="bg1"/>
                </a:solidFill>
              </a:rPr>
              <a:t>Batch framework: what was fixed in v1.5</a:t>
            </a:r>
            <a:endParaRPr lang="en-US" sz="2000" dirty="0"/>
          </a:p>
          <a:p>
            <a:pPr marL="228600" indent="-228600" algn="l">
              <a:spcAft>
                <a:spcPts val="1100"/>
              </a:spcAft>
              <a:buSzPct val="100000"/>
              <a:buChar char="•"/>
            </a:pPr>
            <a:r>
              <a:rPr lang="en-US" sz="2000" dirty="0">
                <a:solidFill>
                  <a:schemeClr val="bg1"/>
                </a:solidFill>
              </a:rPr>
              <a:t>After end of day: the daily cycle</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One end-of-day run closes the day and advances the business date</a:t>
            </a:r>
            <a:endParaRPr lang="en-US" sz="1700" dirty="0"/>
          </a:p>
          <a:p>
            <a:pPr marL="228600" indent="-228600" algn="l">
              <a:spcAft>
                <a:spcPts val="1100"/>
              </a:spcAft>
              <a:buSzPct val="100000"/>
              <a:buChar char="•"/>
            </a:pPr>
            <a:r>
              <a:rPr lang="en-US" sz="1700" dirty="0">
                <a:solidFill>
                  <a:schemeClr val="bg1"/>
                </a:solidFill>
              </a:rPr>
              <a:t>Eleven of the 37 jobs do real work; each runs in 2 streams and the chain waits for every job</a:t>
            </a:r>
            <a:endParaRPr lang="en-US" sz="1700" dirty="0"/>
          </a:p>
          <a:p>
            <a:pPr marL="228600" indent="-228600" algn="l">
              <a:spcAft>
                <a:spcPts val="1100"/>
              </a:spcAft>
              <a:buSzPct val="100000"/>
              <a:buChar char="•"/>
            </a:pPr>
            <a:r>
              <a:rPr lang="en-US" sz="1700" dirty="0">
                <a:solidFill>
                  <a:schemeClr val="bg1"/>
                </a:solidFill>
              </a:rPr>
              <a:t>MONTHLY and PERIODIC jobs are still started by hand</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6  E2E test suite</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A separate project that proves the platform day by day</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6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What one run does (new)</a:t>
            </a:r>
            <a:endParaRPr lang="en-US" sz="2000" dirty="0"/>
          </a:p>
          <a:p>
            <a:pPr marL="228600" indent="-228600" algn="l">
              <a:spcAft>
                <a:spcPts val="1100"/>
              </a:spcAft>
              <a:buSzPct val="100000"/>
              <a:buChar char="•"/>
            </a:pPr>
            <a:r>
              <a:rPr lang="en-US" sz="2000" dirty="0">
                <a:solidFill>
                  <a:schemeClr val="bg1"/>
                </a:solidFill>
              </a:rPr>
              <a:t>Hosted console: accounts, days and start date (new)</a:t>
            </a:r>
            <a:endParaRPr lang="en-US" sz="2000" dirty="0"/>
          </a:p>
          <a:p>
            <a:pPr marL="228600" indent="-228600" algn="l">
              <a:spcAft>
                <a:spcPts val="1100"/>
              </a:spcAft>
              <a:buSzPct val="100000"/>
              <a:buChar char="•"/>
            </a:pPr>
            <a:r>
              <a:rPr lang="en-US" sz="2000" dirty="0">
                <a:solidFill>
                  <a:schemeClr val="bg1"/>
                </a:solidFill>
              </a:rPr>
              <a:t>Fits the products, keeps going</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Drives the platform over HTTP only and checks against its own ledger and calculators</a:t>
            </a:r>
            <a:endParaRPr lang="en-US" sz="1700" dirty="0"/>
          </a:p>
          <a:p>
            <a:pPr marL="228600" indent="-228600" algn="l">
              <a:spcAft>
                <a:spcPts val="1100"/>
              </a:spcAft>
              <a:buSzPct val="100000"/>
              <a:buChar char="•"/>
            </a:pPr>
            <a:r>
              <a:rPr lang="en-US" sz="1700" dirty="0">
                <a:solidFill>
                  <a:schemeClr val="bg1"/>
                </a:solidFill>
              </a:rPr>
              <a:t>Hosted on Render in serve mode; run it from a browser</a:t>
            </a:r>
            <a:endParaRPr lang="en-US" sz="1700" dirty="0"/>
          </a:p>
          <a:p>
            <a:pPr marL="228600" indent="-228600" algn="l">
              <a:spcAft>
                <a:spcPts val="1100"/>
              </a:spcAft>
              <a:buSzPct val="100000"/>
              <a:buChar char="•"/>
            </a:pPr>
            <a:r>
              <a:rPr lang="en-US" sz="1700" dirty="0">
                <a:solidFill>
                  <a:schemeClr val="bg1"/>
                </a:solidFill>
              </a:rPr>
              <a:t>Set the start date on or after the current business date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bg1"/>
                </a:solidFill>
              </a:rPr>
              <a:t>7  Reference and roadmap</a:t>
            </a:r>
            <a:endParaRPr lang="en-US" sz="3400" dirty="0"/>
          </a:p>
        </p:txBody>
      </p:sp>
      <p:sp>
        <p:nvSpPr>
          <p:cNvPr id="3" name="Text 1"/>
          <p:cNvSpPr/>
          <p:nvPr>
            <p:ph idx="102"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bg2"/>
                </a:solidFill>
              </a:rPr>
              <a:t>Where to find each call, and what comes next</a:t>
            </a:r>
            <a:endParaRPr lang="en-US" sz="1400" dirty="0"/>
          </a:p>
        </p:txBody>
      </p:sp>
      <p:sp>
        <p:nvSpPr>
          <p:cNvPr id="11" name="Shape 11"/>
          <p:cNvSpPr txBox="1"/>
          <p:nvPr/>
        </p:nvSpPr>
        <p:spPr>
          <a:xfrm>
            <a:off x="548640" y="1600200"/>
            <a:ext cx="6217920" cy="4572000"/>
          </a:xfrm>
          <a:prstGeom prst="roundRect">
            <a:avLst>
              <a:gd name="adj" fmla="val 1600"/>
            </a:avLst>
          </a:prstGeom>
          <a:solidFill>
            <a:schemeClr val="accent1">
              <a:alpha val="30000"/>
            </a:schemeClr>
          </a:solidFill>
          <a:ln w="12700">
            <a:solidFill>
              <a:schemeClr val="accent1"/>
            </a:solidFill>
          </a:ln>
        </p:spPr>
        <p:txBody>
          <a:bodyPr wrap="square" lIns="274320" tIns="274320" rIns="274320" bIns="274320" rtlCol="0" anchor="t"/>
          <a:lstStyle/>
          <a:p>
            <a:pPr algn="l" indent="0" marL="0">
              <a:spcAft>
                <a:spcPts val="200"/>
              </a:spcAft>
              <a:buNone/>
            </a:pPr>
            <a:r>
              <a:rPr lang="en-US" sz="1400" dirty="0">
                <a:solidFill>
                  <a:schemeClr val="bg1"/>
                </a:solidFill>
              </a:rPr>
              <a:t>Section 7 of 7</a:t>
            </a:r>
            <a:endParaRPr lang="en-US" sz="1400" dirty="0"/>
          </a:p>
          <a:p>
            <a:pPr algn="l" indent="0" marL="0">
              <a:spcAft>
                <a:spcPts val="600"/>
              </a:spcAft>
              <a:buNone/>
            </a:pPr>
            <a:r>
              <a:rPr lang="en-US" sz="2200" b="1" dirty="0">
                <a:solidFill>
                  <a:schemeClr val="bg1"/>
                </a:solidFill>
              </a:rPr>
              <a:t>In this section</a:t>
            </a:r>
            <a:endParaRPr lang="en-US" sz="2200" dirty="0"/>
          </a:p>
          <a:p>
            <a:pPr marL="228600" indent="-228600" algn="l">
              <a:spcAft>
                <a:spcPts val="1100"/>
              </a:spcAft>
              <a:buSzPct val="100000"/>
              <a:buChar char="•"/>
            </a:pPr>
            <a:r>
              <a:rPr lang="en-US" sz="2000" dirty="0">
                <a:solidFill>
                  <a:schemeClr val="bg1"/>
                </a:solidFill>
              </a:rPr>
              <a:t>API catalogue</a:t>
            </a:r>
            <a:endParaRPr lang="en-US" sz="2000" dirty="0"/>
          </a:p>
          <a:p>
            <a:pPr marL="228600" indent="-228600" algn="l">
              <a:spcAft>
                <a:spcPts val="1100"/>
              </a:spcAft>
              <a:buSzPct val="100000"/>
              <a:buChar char="•"/>
            </a:pPr>
            <a:r>
              <a:rPr lang="en-US" sz="2000" dirty="0">
                <a:solidFill>
                  <a:schemeClr val="bg1"/>
                </a:solidFill>
              </a:rPr>
              <a:t>API catalogue: business date, end of day and batch calls</a:t>
            </a:r>
            <a:endParaRPr lang="en-US" sz="2000" dirty="0"/>
          </a:p>
          <a:p>
            <a:pPr marL="228600" indent="-228600" algn="l">
              <a:spcAft>
                <a:spcPts val="1100"/>
              </a:spcAft>
              <a:buSzPct val="100000"/>
              <a:buChar char="•"/>
            </a:pPr>
            <a:r>
              <a:rPr lang="en-US" sz="2000" dirty="0">
                <a:solidFill>
                  <a:schemeClr val="bg1"/>
                </a:solidFill>
              </a:rPr>
              <a:t>API catalogue: demands, amount payable, penal interest</a:t>
            </a:r>
            <a:endParaRPr lang="en-US" sz="2000" dirty="0"/>
          </a:p>
          <a:p>
            <a:pPr marL="228600" indent="-228600" algn="l">
              <a:spcAft>
                <a:spcPts val="1100"/>
              </a:spcAft>
              <a:buSzPct val="100000"/>
              <a:buChar char="•"/>
            </a:pPr>
            <a:r>
              <a:rPr lang="en-US" sz="2000" dirty="0">
                <a:solidFill>
                  <a:schemeClr val="bg1"/>
                </a:solidFill>
              </a:rPr>
              <a:t>Latest end-to-end run: eight capability gaps</a:t>
            </a:r>
            <a:endParaRPr lang="en-US" sz="2000" dirty="0"/>
          </a:p>
          <a:p>
            <a:pPr marL="228600" indent="-228600" algn="l">
              <a:spcAft>
                <a:spcPts val="1100"/>
              </a:spcAft>
              <a:buSzPct val="100000"/>
              <a:buChar char="•"/>
            </a:pPr>
            <a:r>
              <a:rPr lang="en-US" sz="2000" dirty="0">
                <a:solidFill>
                  <a:schemeClr val="bg1"/>
                </a:solidFill>
              </a:rPr>
              <a:t>Key areas of concern</a:t>
            </a:r>
            <a:endParaRPr lang="en-US" sz="2000" dirty="0"/>
          </a:p>
          <a:p>
            <a:pPr marL="228600" indent="-228600" algn="l">
              <a:spcAft>
                <a:spcPts val="1100"/>
              </a:spcAft>
              <a:buSzPct val="100000"/>
              <a:buChar char="•"/>
            </a:pPr>
            <a:r>
              <a:rPr lang="en-US" sz="2000" dirty="0">
                <a:solidFill>
                  <a:schemeClr val="bg1"/>
                </a:solidFill>
              </a:rPr>
              <a:t>Where we are and what is next</a:t>
            </a:r>
            <a:endParaRPr lang="en-US" sz="2000" dirty="0"/>
          </a:p>
        </p:txBody>
      </p:sp>
      <p:sp>
        <p:nvSpPr>
          <p:cNvPr id="12" name="Shape 12"/>
          <p:cNvSpPr txBox="1"/>
          <p:nvPr/>
        </p:nvSpPr>
        <p:spPr>
          <a:xfrm>
            <a:off x="6949440" y="1600200"/>
            <a:ext cx="4663440" cy="4572000"/>
          </a:xfrm>
          <a:prstGeom prst="roundRect">
            <a:avLst>
              <a:gd name="adj" fmla="val 1600"/>
            </a:avLst>
          </a:prstGeom>
          <a:solidFill>
            <a:schemeClr val="accent4"/>
          </a:solidFill>
          <a:ln w="12700">
            <a:solidFill>
              <a:schemeClr val="accent4"/>
            </a:solidFill>
          </a:ln>
        </p:spPr>
        <p:txBody>
          <a:bodyPr wrap="square" lIns="274320" tIns="274320" rIns="274320" bIns="274320" rtlCol="0" anchor="t"/>
          <a:lstStyle/>
          <a:p>
            <a:pPr algn="l" indent="0" marL="0">
              <a:spcAft>
                <a:spcPts val="600"/>
              </a:spcAft>
              <a:buNone/>
            </a:pPr>
            <a:r>
              <a:rPr lang="en-US" sz="2200" b="1" dirty="0">
                <a:solidFill>
                  <a:schemeClr val="bg1"/>
                </a:solidFill>
              </a:rPr>
              <a:t>Key points</a:t>
            </a:r>
            <a:endParaRPr lang="en-US" sz="2200" dirty="0"/>
          </a:p>
          <a:p>
            <a:pPr marL="228600" indent="-228600" algn="l">
              <a:spcAft>
                <a:spcPts val="1100"/>
              </a:spcAft>
              <a:buSzPct val="100000"/>
              <a:buChar char="•"/>
            </a:pPr>
            <a:r>
              <a:rPr lang="en-US" sz="1700" dirty="0">
                <a:solidFill>
                  <a:schemeClr val="bg1"/>
                </a:solidFill>
              </a:rPr>
              <a:t>Base path /api/v1; lending-service on port 8080, batch admin on lending-batch-service</a:t>
            </a:r>
            <a:endParaRPr lang="en-US" sz="1700" dirty="0"/>
          </a:p>
          <a:p>
            <a:pPr marL="228600" indent="-228600" algn="l">
              <a:spcAft>
                <a:spcPts val="1100"/>
              </a:spcAft>
              <a:buSzPct val="100000"/>
              <a:buChar char="•"/>
            </a:pPr>
            <a:r>
              <a:rPr lang="en-US" sz="1700" dirty="0">
                <a:solidFill>
                  <a:schemeClr val="bg1"/>
                </a:solidFill>
              </a:rPr>
              <a:t>Open items: payment save fix to deploy and confirm, eight capability gaps, remaining batch job bodies, real ledger client, hosting, Maven build in CI</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Latest end-to-end run: eight capability gaps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Four HIGH and four MEDIUM findings; every one is a missing capability rather than a failed check</a:t>
            </a:r>
            <a:endParaRPr lang="en-US" sz="1400" dirty="0"/>
          </a:p>
        </p:txBody>
      </p:sp>
      <p:graphicFrame>
        <p:nvGraphicFramePr>
          <p:cNvPr id="11" name="Table 11"/>
          <p:cNvGraphicFramePr>
            <a:graphicFrameLocks noGrp="1"/>
          </p:cNvGraphicFramePr>
          <p:nvPr/>
        </p:nvGraphicFramePr>
        <p:xfrm>
          <a:off x="548640" y="1463040"/>
          <a:ext cx="11064240" cy="3657600"/>
        </p:xfrm>
        <a:graphic>
          <a:graphicData uri="http://schemas.openxmlformats.org/drawingml/2006/table">
            <a:tbl>
              <a:tblPr/>
              <a:tblGrid>
                <a:gridCol w="868680"/>
                <a:gridCol w="1005840"/>
                <a:gridCol w="4023360"/>
                <a:gridCol w="5166360"/>
              </a:tblGrid>
              <a:tr h="365760">
                <a:tc>
                  <a:txBody>
                    <a:bodyPr/>
                    <a:lstStyle/>
                    <a:p>
                      <a:pPr indent="0" marL="0">
                        <a:buNone/>
                      </a:pPr>
                      <a:r>
                        <a:rPr lang="en-US" sz="1200" b="1" dirty="0">
                          <a:solidFill>
                            <a:schemeClr val="bg1"/>
                          </a:solidFill>
                        </a:rPr>
                        <a: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Severity</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Capability not found in the platform</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Why it matters</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411480">
                <a:tc>
                  <a:txBody>
                    <a:bodyPr/>
                    <a:lstStyle/>
                    <a:p>
                      <a:pPr indent="0" marL="0">
                        <a:buNone/>
                      </a:pPr>
                      <a:r>
                        <a:rPr lang="en-US" sz="1250" b="1" dirty="0">
                          <a:solidFill>
                            <a:schemeClr val="tx2"/>
                          </a:solidFill>
                        </a:rPr>
                        <a:t>D-001</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Penal interest on overdue amounts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Built in v1.7; waiver and recompute still open</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D-002</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Provisioning by asset class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 provision for sub-standard, doubtful or loss assets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D-003</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Interest suspension or reversal on NPA</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Interest keeps accruing as income on non-performing loans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D-004</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General ledger / double-entry postings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Only an outbox exists; the ledger client is a stub</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D-005</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Restructure after delinquency</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No way to reschedule a stressed account</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D-006</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Write-off of loss assets</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Loss accounts stay on the book</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411480">
                <a:tc>
                  <a:txBody>
                    <a:bodyPr/>
                    <a:lstStyle/>
                    <a:p>
                      <a:pPr indent="0" marL="0">
                        <a:buNone/>
                      </a:pPr>
                      <a:r>
                        <a:rPr lang="en-US" sz="1250" b="1" dirty="0">
                          <a:solidFill>
                            <a:schemeClr val="tx2"/>
                          </a:solidFill>
                        </a:rPr>
                        <a:t>D-007</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Configurable cure / upgrade rule</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rPr>
                        <a:t>An account returns to ACTIVE as soon as dues clear</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411480">
                <a:tc>
                  <a:txBody>
                    <a:bodyPr/>
                    <a:lstStyle/>
                    <a:p>
                      <a:pPr indent="0" marL="0">
                        <a:buNone/>
                      </a:pPr>
                      <a:r>
                        <a:rPr lang="en-US" sz="1250" b="1" dirty="0">
                          <a:solidFill>
                            <a:schemeClr val="tx2"/>
                          </a:solidFill>
                        </a:rPr>
                        <a:t>D-008</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MEDIUM</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DPD and NPA thresholds as configuration</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Buckets and the 91-day cut-off are constants in code</a:t>
                      </a:r>
                      <a:endParaRPr lang="en-US" sz="12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bl>
          </a:graphicData>
        </a:graphic>
      </p:graphicFrame>
      <p:sp>
        <p:nvSpPr>
          <p:cNvPr id="12" name="Shape 12"/>
          <p:cNvSpPr txBox="1"/>
          <p:nvPr/>
        </p:nvSpPr>
        <p:spPr>
          <a:xfrm>
            <a:off x="548640" y="5303520"/>
            <a:ext cx="11064240" cy="9601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300"/>
              </a:spcAft>
              <a:buNone/>
            </a:pPr>
            <a:r>
              <a:rPr lang="en-US" sz="1500" b="1" dirty="0">
                <a:solidFill>
                  <a:schemeClr val="tx2"/>
                </a:solidFill>
              </a:rPr>
              <a:t>How to read this</a:t>
            </a:r>
            <a:endParaRPr lang="en-US" sz="1500" dirty="0"/>
          </a:p>
          <a:p>
            <a:pPr algn="l" indent="0" marL="0">
              <a:buNone/>
            </a:pPr>
            <a:r>
              <a:rPr lang="en-US" sz="1300" dirty="0">
                <a:solidFill>
                  <a:schemeClr val="tx1"/>
                </a:solidFill>
              </a:rPr>
              <a:t>Run E2E-261013153527-691 (5 accounts, start 2026-11-03): the suite found no endpoint for these eight capabilities, so they are gaps in the platform, not wrong calculations. They gate the run only if e2e.fail-on-not-found is set to true.</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Key areas of concern</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to settle before the platform can be called ready; the first item has a likely cause and a fix awaiting deployment</a:t>
            </a:r>
            <a:endParaRPr lang="en-US" sz="1400" dirty="0"/>
          </a:p>
        </p:txBody>
      </p:sp>
      <p:sp>
        <p:nvSpPr>
          <p:cNvPr id="11" name="Shape 11"/>
          <p:cNvSpPr txBox="1"/>
          <p:nvPr/>
        </p:nvSpPr>
        <p:spPr>
          <a:xfrm>
            <a:off x="548640" y="1463040"/>
            <a:ext cx="3566160" cy="301752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600"/>
              </a:spcAft>
              <a:buNone/>
            </a:pPr>
            <a:r>
              <a:rPr lang="en-US" sz="1600" b="1" dirty="0">
                <a:solidFill>
                  <a:schemeClr val="tx2"/>
                </a:solidFill>
              </a:rPr>
              <a:t>1  No payments triggered</a:t>
            </a:r>
            <a:endParaRPr lang="en-US" sz="1600" dirty="0"/>
          </a:p>
          <a:p>
            <a:pPr marL="228600" indent="-228600" algn="l">
              <a:spcAft>
                <a:spcPts val="400"/>
              </a:spcAft>
              <a:buSzPct val="100000"/>
              <a:buChar char="•"/>
            </a:pPr>
            <a:r>
              <a:rPr lang="en-US" sz="1300" dirty="0">
                <a:solidFill>
                  <a:schemeClr val="tx1"/>
                </a:solidFill>
              </a:rPr>
              <a:t>No borrower payments appear in the latest run, so repayment, arrears and delinquency are unproven</a:t>
            </a:r>
            <a:endParaRPr lang="en-US" sz="1300" dirty="0"/>
          </a:p>
          <a:p>
            <a:pPr marL="228600" indent="-228600" algn="l">
              <a:spcAft>
                <a:spcPts val="400"/>
              </a:spcAft>
              <a:buSzPct val="100000"/>
              <a:buChar char="•"/>
            </a:pPr>
            <a:r>
              <a:rPr lang="en-US" sz="1300" dirty="0">
                <a:solidFill>
                  <a:schemeClr val="tx1"/>
                </a:solidFill>
              </a:rPr>
              <a:t>Likely cause (lending-service log): saving a payment failed with "Identity generation isn't supported for composite ids", HTTP 500</a:t>
            </a:r>
            <a:endParaRPr lang="en-US" sz="1300" dirty="0"/>
          </a:p>
          <a:p>
            <a:pPr marL="228600" indent="-228600" algn="l">
              <a:spcAft>
                <a:spcPts val="400"/>
              </a:spcAft>
              <a:buSzPct val="100000"/>
              <a:buChar char="•"/>
            </a:pPr>
            <a:r>
              <a:rPr lang="en-US" sz="1300" dirty="0">
                <a:solidFill>
                  <a:schemeClr val="tx1"/>
                </a:solidFill>
              </a:rPr>
              <a:t>Fixed in code, not yet deployed: re-run after redeploy</a:t>
            </a:r>
            <a:endParaRPr lang="en-US" sz="1300" dirty="0"/>
          </a:p>
        </p:txBody>
      </p:sp>
      <p:sp>
        <p:nvSpPr>
          <p:cNvPr id="12" name="Shape 12"/>
          <p:cNvSpPr txBox="1"/>
          <p:nvPr/>
        </p:nvSpPr>
        <p:spPr>
          <a:xfrm>
            <a:off x="4297680" y="1463040"/>
            <a:ext cx="3566160" cy="301752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2  Capability gaps</a:t>
            </a:r>
            <a:endParaRPr lang="en-US" sz="1600" dirty="0"/>
          </a:p>
          <a:p>
            <a:pPr marL="228600" indent="-228600" algn="l">
              <a:spcAft>
                <a:spcPts val="400"/>
              </a:spcAft>
              <a:buSzPct val="100000"/>
              <a:buChar char="•"/>
            </a:pPr>
            <a:r>
              <a:rPr lang="en-US" sz="1300" dirty="0">
                <a:solidFill>
                  <a:schemeClr val="bg1"/>
                </a:solidFill>
              </a:rPr>
              <a:t>Eight missing capabilities, four of them HIGH: penal interest, provisioning, NPA interest suspension, ledger</a:t>
            </a:r>
            <a:endParaRPr lang="en-US" sz="1300" dirty="0"/>
          </a:p>
          <a:p>
            <a:pPr marL="228600" indent="-228600" algn="l">
              <a:spcAft>
                <a:spcPts val="400"/>
              </a:spcAft>
              <a:buSzPct val="100000"/>
              <a:buChar char="•"/>
            </a:pPr>
            <a:r>
              <a:rPr lang="en-US" sz="1300" dirty="0">
                <a:solidFill>
                  <a:schemeClr val="bg1"/>
                </a:solidFill>
              </a:rPr>
              <a:t>Interest and classification checks cannot be asserted until the policy is defined</a:t>
            </a:r>
            <a:endParaRPr lang="en-US" sz="1300" dirty="0"/>
          </a:p>
        </p:txBody>
      </p:sp>
      <p:sp>
        <p:nvSpPr>
          <p:cNvPr id="13" name="Shape 13"/>
          <p:cNvSpPr txBox="1"/>
          <p:nvPr/>
        </p:nvSpPr>
        <p:spPr>
          <a:xfrm>
            <a:off x="8046720" y="1463040"/>
            <a:ext cx="3566160" cy="301752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3  Ledger and batch coverage</a:t>
            </a:r>
            <a:endParaRPr lang="en-US" sz="1600" dirty="0"/>
          </a:p>
          <a:p>
            <a:pPr marL="228600" indent="-228600" algn="l">
              <a:spcAft>
                <a:spcPts val="400"/>
              </a:spcAft>
              <a:buSzPct val="100000"/>
              <a:buChar char="•"/>
            </a:pPr>
            <a:r>
              <a:rPr lang="en-US" sz="1300" dirty="0">
                <a:solidFill>
                  <a:schemeClr val="tx1"/>
                </a:solidFill>
              </a:rPr>
              <a:t>Ledger outbox entries all end FAILED: the gateway is a logging stub</a:t>
            </a:r>
            <a:endParaRPr lang="en-US" sz="1300" dirty="0"/>
          </a:p>
          <a:p>
            <a:pPr marL="228600" indent="-228600" algn="l">
              <a:spcAft>
                <a:spcPts val="400"/>
              </a:spcAft>
              <a:buSzPct val="100000"/>
              <a:buChar char="•"/>
            </a:pPr>
            <a:r>
              <a:rPr lang="en-US" sz="1300" dirty="0">
                <a:solidFill>
                  <a:schemeClr val="tx1"/>
                </a:solidFill>
              </a:rPr>
              <a:t>26 of the 37 batch jobs are stubs</a:t>
            </a:r>
            <a:endParaRPr lang="en-US" sz="1300" dirty="0"/>
          </a:p>
          <a:p>
            <a:pPr marL="228600" indent="-228600" algn="l">
              <a:spcAft>
                <a:spcPts val="400"/>
              </a:spcAft>
              <a:buSzPct val="100000"/>
              <a:buChar char="•"/>
            </a:pPr>
            <a:r>
              <a:rPr lang="en-US" sz="1300" dirty="0">
                <a:solidFill>
                  <a:schemeClr val="tx1"/>
                </a:solidFill>
              </a:rPr>
              <a:t>MONTHLY and PERIODIC jobs are not chained into end of day</a:t>
            </a:r>
            <a:endParaRPr lang="en-US" sz="1300" dirty="0"/>
          </a:p>
        </p:txBody>
      </p:sp>
      <p:sp>
        <p:nvSpPr>
          <p:cNvPr id="14" name="Shape 14"/>
          <p:cNvSpPr txBox="1"/>
          <p:nvPr/>
        </p:nvSpPr>
        <p:spPr>
          <a:xfrm>
            <a:off x="548640" y="4663440"/>
            <a:ext cx="5440680" cy="146304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4  Proof still missing</a:t>
            </a:r>
            <a:endParaRPr lang="en-US" sz="1600" dirty="0"/>
          </a:p>
          <a:p>
            <a:pPr marL="228600" indent="-228600" algn="l">
              <a:spcAft>
                <a:spcPts val="400"/>
              </a:spcAft>
              <a:buSzPct val="100000"/>
              <a:buChar char="•"/>
            </a:pPr>
            <a:r>
              <a:rPr lang="en-US" sz="1300" dirty="0">
                <a:solidFill>
                  <a:schemeClr val="tx1"/>
                </a:solidFill>
              </a:rPr>
              <a:t>Maven build and unit tests have not been run for any module</a:t>
            </a:r>
            <a:endParaRPr lang="en-US" sz="1300" dirty="0"/>
          </a:p>
          <a:p>
            <a:pPr marL="228600" indent="-228600" algn="l">
              <a:spcAft>
                <a:spcPts val="400"/>
              </a:spcAft>
              <a:buSzPct val="100000"/>
              <a:buChar char="•"/>
            </a:pPr>
            <a:r>
              <a:rPr lang="en-US" sz="1300" dirty="0">
                <a:solidFill>
                  <a:schemeClr val="tx1"/>
                </a:solidFill>
              </a:rPr>
              <a:t>No full 60-day run with payments has been reviewed yet</a:t>
            </a:r>
            <a:endParaRPr lang="en-US" sz="1300" dirty="0"/>
          </a:p>
        </p:txBody>
      </p:sp>
      <p:sp>
        <p:nvSpPr>
          <p:cNvPr id="15" name="Shape 15"/>
          <p:cNvSpPr txBox="1"/>
          <p:nvPr/>
        </p:nvSpPr>
        <p:spPr>
          <a:xfrm>
            <a:off x="6172200" y="4663440"/>
            <a:ext cx="5440680" cy="146304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5  Hosting</a:t>
            </a:r>
            <a:endParaRPr lang="en-US" sz="1600" dirty="0"/>
          </a:p>
          <a:p>
            <a:pPr marL="228600" indent="-228600" algn="l">
              <a:spcAft>
                <a:spcPts val="400"/>
              </a:spcAft>
              <a:buSzPct val="100000"/>
              <a:buChar char="•"/>
            </a:pPr>
            <a:r>
              <a:rPr lang="en-US" sz="1300" dirty="0">
                <a:solidFill>
                  <a:schemeClr val="bg1"/>
                </a:solidFill>
              </a:rPr>
              <a:t>Free tier: services sleep and the database expires after 30 days</a:t>
            </a:r>
            <a:endParaRPr lang="en-US" sz="1300" dirty="0"/>
          </a:p>
          <a:p>
            <a:pPr marL="228600" indent="-228600" algn="l">
              <a:spcAft>
                <a:spcPts val="400"/>
              </a:spcAft>
              <a:buSzPct val="100000"/>
              <a:buChar char="•"/>
            </a:pPr>
            <a:r>
              <a:rPr lang="en-US" sz="1300" dirty="0">
                <a:solidFill>
                  <a:schemeClr val="bg1"/>
                </a:solidFill>
              </a:rPr>
              <a:t>Kafka broker not provided; batch events are switched off</a:t>
            </a:r>
            <a:endParaRPr lang="en-US" sz="130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What changed in v1.7</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Demands and a payment waterfall, penal interest on the product, and the jobs and screens that go with them</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lending-service</a:t>
            </a:r>
            <a:endParaRPr lang="en-US" sz="1600" dirty="0"/>
          </a:p>
          <a:p>
            <a:pPr marL="228600" indent="-228600" algn="l">
              <a:spcAft>
                <a:spcPts val="400"/>
              </a:spcAft>
              <a:buSzPct val="100000"/>
              <a:buChar char="•"/>
            </a:pPr>
            <a:r>
              <a:rPr lang="en-US" sz="1400" dirty="0">
                <a:solidFill>
                  <a:schemeClr val="tx1"/>
                </a:solidFill>
              </a:rPr>
              <a:t>Demand raised on each due date; any amount paid is applied oldest first</a:t>
            </a:r>
            <a:endParaRPr lang="en-US" sz="1400" dirty="0"/>
          </a:p>
          <a:p>
            <a:pPr marL="228600" indent="-228600" algn="l">
              <a:spcAft>
                <a:spcPts val="400"/>
              </a:spcAft>
              <a:buSzPct val="100000"/>
              <a:buChar char="•"/>
            </a:pPr>
            <a:r>
              <a:rPr lang="en-US" sz="1400" dirty="0">
                <a:solidFill>
                  <a:schemeClr val="tx1"/>
                </a:solidFill>
              </a:rPr>
              <a:t>NPA accounts can pay; status recalculated at once</a:t>
            </a:r>
            <a:endParaRPr lang="en-US" sz="1400" dirty="0"/>
          </a:p>
          <a:p>
            <a:pPr marL="228600" indent="-228600" algn="l">
              <a:spcAft>
                <a:spcPts val="400"/>
              </a:spcAft>
              <a:buSzPct val="100000"/>
              <a:buChar char="•"/>
            </a:pPr>
            <a:r>
              <a:rPr lang="en-US" sz="1400" dirty="0">
                <a:solidFill>
                  <a:schemeClr val="tx1"/>
                </a:solidFill>
              </a:rPr>
              <a:t>Penal interest: rate, grace days and cap on the product; paid first</a:t>
            </a:r>
            <a:endParaRPr lang="en-US" sz="1400" dirty="0"/>
          </a:p>
          <a:p>
            <a:pPr marL="228600" indent="-228600" algn="l">
              <a:spcAft>
                <a:spcPts val="400"/>
              </a:spcAft>
              <a:buSzPct val="100000"/>
              <a:buChar char="•"/>
            </a:pPr>
            <a:r>
              <a:rPr lang="en-US" sz="1400" dirty="0">
                <a:solidFill>
                  <a:schemeClr val="tx1"/>
                </a:solidFill>
              </a:rPr>
              <a:t>New reads: amount payable and payment preview</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Batch service</a:t>
            </a:r>
            <a:endParaRPr lang="en-US" sz="1600" dirty="0"/>
          </a:p>
          <a:p>
            <a:pPr marL="228600" indent="-228600" algn="l">
              <a:spcAft>
                <a:spcPts val="400"/>
              </a:spcAft>
              <a:buSzPct val="100000"/>
              <a:buChar char="•"/>
            </a:pPr>
            <a:r>
              <a:rPr lang="en-US" sz="1400" dirty="0">
                <a:solidFill>
                  <a:schemeClr val="tx1"/>
                </a:solidFill>
              </a:rPr>
              <a:t>New DEMAND_RAISE_DAILY job, first in the daily chain</a:t>
            </a:r>
            <a:endParaRPr lang="en-US" sz="1400" dirty="0"/>
          </a:p>
          <a:p>
            <a:pPr marL="228600" indent="-228600" algn="l">
              <a:spcAft>
                <a:spcPts val="400"/>
              </a:spcAft>
              <a:buSzPct val="100000"/>
              <a:buChar char="•"/>
            </a:pPr>
            <a:r>
              <a:rPr lang="en-US" sz="1400" dirty="0">
                <a:solidFill>
                  <a:schemeClr val="tx1"/>
                </a:solidFill>
              </a:rPr>
              <a:t>PENAL_INTEREST_CALCULATION_DAILY now charges each account</a:t>
            </a:r>
            <a:endParaRPr lang="en-US" sz="1400" dirty="0"/>
          </a:p>
          <a:p>
            <a:pPr marL="228600" indent="-228600" algn="l">
              <a:spcAft>
                <a:spcPts val="400"/>
              </a:spcAft>
              <a:buSzPct val="100000"/>
              <a:buChar char="•"/>
            </a:pPr>
            <a:r>
              <a:rPr lang="en-US" sz="1400" dirty="0">
                <a:solidFill>
                  <a:schemeClr val="tx1"/>
                </a:solidFill>
              </a:rPr>
              <a:t>Eleven of the 37 jobs call lending-service</a:t>
            </a:r>
            <a:endParaRPr lang="en-US" sz="1400" dirty="0"/>
          </a:p>
          <a:p>
            <a:pPr marL="228600" indent="-228600" algn="l">
              <a:spcAft>
                <a:spcPts val="400"/>
              </a:spcAft>
              <a:buSzPct val="100000"/>
              <a:buChar char="•"/>
            </a:pPr>
            <a:r>
              <a:rPr lang="en-US" sz="1400" dirty="0">
                <a:solidFill>
                  <a:schemeClr val="tx1"/>
                </a:solidFill>
              </a:rPr>
              <a:t>Order: demand 5, interest 10, penal 20, DPD 30, NPA 40</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Admin console</a:t>
            </a:r>
            <a:endParaRPr lang="en-US" sz="1600" dirty="0"/>
          </a:p>
          <a:p>
            <a:pPr marL="228600" indent="-228600" algn="l">
              <a:spcAft>
                <a:spcPts val="400"/>
              </a:spcAft>
              <a:buSzPct val="100000"/>
              <a:buChar char="•"/>
            </a:pPr>
            <a:r>
              <a:rPr lang="en-US" sz="1400" dirty="0">
                <a:solidFill>
                  <a:schemeClr val="bg1"/>
                </a:solidFill>
              </a:rPr>
              <a:t>Products: Penal interest column and four settings</a:t>
            </a:r>
            <a:endParaRPr lang="en-US" sz="1400" dirty="0"/>
          </a:p>
          <a:p>
            <a:pPr marL="228600" indent="-228600" algn="l">
              <a:spcAft>
                <a:spcPts val="400"/>
              </a:spcAft>
              <a:buSzPct val="100000"/>
              <a:buChar char="•"/>
            </a:pPr>
            <a:r>
              <a:rPr lang="en-US" sz="1400" dirty="0">
                <a:solidFill>
                  <a:schemeClr val="bg1"/>
                </a:solidFill>
              </a:rPr>
              <a:t>Pay instalment: amount payable, any amount, allocation preview</a:t>
            </a:r>
            <a:endParaRPr lang="en-US" sz="1400" dirty="0"/>
          </a:p>
          <a:p>
            <a:pPr marL="228600" indent="-228600" algn="l">
              <a:spcAft>
                <a:spcPts val="400"/>
              </a:spcAft>
              <a:buSzPct val="100000"/>
              <a:buChar char="•"/>
            </a:pPr>
            <a:r>
              <a:rPr lang="en-US" sz="1400" dirty="0">
                <a:solidFill>
                  <a:schemeClr val="bg1"/>
                </a:solidFill>
              </a:rPr>
              <a:t>Penal interest on account, payments, foreclosure, part-payment</a:t>
            </a:r>
            <a:endParaRPr lang="en-US" sz="1400" dirty="0"/>
          </a:p>
          <a:p>
            <a:pPr marL="228600" indent="-228600" algn="l">
              <a:spcAft>
                <a:spcPts val="400"/>
              </a:spcAft>
              <a:buSzPct val="100000"/>
              <a:buChar char="•"/>
            </a:pPr>
            <a:r>
              <a:rPr lang="en-US" sz="1400" dirty="0">
                <a:solidFill>
                  <a:schemeClr val="bg1"/>
                </a:solidFill>
              </a:rPr>
              <a:t>PDF statement: Towards penal interest column</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Rebuild and redeploy</a:t>
            </a:r>
            <a:endParaRPr lang="en-US" sz="1600" dirty="0"/>
          </a:p>
          <a:p>
            <a:pPr algn="l" indent="0" marL="0">
              <a:buNone/>
            </a:pPr>
            <a:r>
              <a:rPr lang="en-US" sz="1350" dirty="0">
                <a:solidFill>
                  <a:schemeClr val="tx1"/>
                </a:solidFill>
              </a:rPr>
              <a:t>lending-service first (migrations V14 and V15), then lending-batch-service (batch V6), then lending-admin-service, which reads the new columns directly. Not yet built or run with Maven. The penal calculation was checked outside Maven and reproduces cases A, B and C of the requirement document.</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Penal interest on the product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Four settings on each loan product, edited on the Products screen; the defaults are placeholders to confirm</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Four settings</a:t>
            </a:r>
            <a:endParaRPr lang="en-US" sz="1600" dirty="0"/>
          </a:p>
          <a:p>
            <a:pPr marL="228600" indent="-228600" algn="l">
              <a:spcAft>
                <a:spcPts val="400"/>
              </a:spcAft>
              <a:buSzPct val="100000"/>
              <a:buChar char="•"/>
            </a:pPr>
            <a:r>
              <a:rPr lang="en-US" sz="1400" dirty="0">
                <a:solidFill>
                  <a:schemeClr val="tx1"/>
                </a:solidFill>
              </a:rPr>
              <a:t>Penal interest: on or off (default on)</a:t>
            </a:r>
            <a:endParaRPr lang="en-US" sz="1400" dirty="0"/>
          </a:p>
          <a:p>
            <a:pPr marL="228600" indent="-228600" algn="l">
              <a:spcAft>
                <a:spcPts val="400"/>
              </a:spcAft>
              <a:buSzPct val="100000"/>
              <a:buChar char="•"/>
            </a:pPr>
            <a:r>
              <a:rPr lang="en-US" sz="1400" dirty="0">
                <a:solidFill>
                  <a:schemeClr val="tx1"/>
                </a:solidFill>
              </a:rPr>
              <a:t>Rate: 24.0000% p.a. by default; 0 to under 100</a:t>
            </a:r>
            <a:endParaRPr lang="en-US" sz="1400" dirty="0"/>
          </a:p>
          <a:p>
            <a:pPr marL="228600" indent="-228600" algn="l">
              <a:spcAft>
                <a:spcPts val="400"/>
              </a:spcAft>
              <a:buSzPct val="100000"/>
              <a:buChar char="•"/>
            </a:pPr>
            <a:r>
              <a:rPr lang="en-US" sz="1400" dirty="0">
                <a:solidFill>
                  <a:schemeClr val="tx1"/>
                </a:solidFill>
              </a:rPr>
              <a:t>Grace days: 0 by default; up to 365</a:t>
            </a:r>
            <a:endParaRPr lang="en-US" sz="1400" dirty="0"/>
          </a:p>
          <a:p>
            <a:pPr marL="228600" indent="-228600" algn="l">
              <a:spcAft>
                <a:spcPts val="400"/>
              </a:spcAft>
              <a:buSzPct val="100000"/>
              <a:buChar char="•"/>
            </a:pPr>
            <a:r>
              <a:rPr lang="en-US" sz="1400" dirty="0">
                <a:solidFill>
                  <a:schemeClr val="tx1"/>
                </a:solidFill>
              </a:rPr>
              <a:t>Cap: % of the demand's principal + interest; blank for none</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When a change applies</a:t>
            </a:r>
            <a:endParaRPr lang="en-US" sz="1600" dirty="0"/>
          </a:p>
          <a:p>
            <a:pPr marL="228600" indent="-228600" algn="l">
              <a:spcAft>
                <a:spcPts val="400"/>
              </a:spcAft>
              <a:buSzPct val="100000"/>
              <a:buChar char="•"/>
            </a:pPr>
            <a:r>
              <a:rPr lang="en-US" sz="1400" dirty="0">
                <a:solidFill>
                  <a:schemeClr val="tx1"/>
                </a:solidFill>
              </a:rPr>
              <a:t>Terms are read when the charge is made</a:t>
            </a:r>
            <a:endParaRPr lang="en-US" sz="1400" dirty="0"/>
          </a:p>
          <a:p>
            <a:pPr marL="228600" indent="-228600" algn="l">
              <a:spcAft>
                <a:spcPts val="400"/>
              </a:spcAft>
              <a:buSzPct val="100000"/>
              <a:buChar char="•"/>
            </a:pPr>
            <a:r>
              <a:rPr lang="en-US" sz="1400" dirty="0">
                <a:solidFill>
                  <a:schemeClr val="tx1"/>
                </a:solidFill>
              </a:rPr>
              <a:t>Every account of the product, existing ones too, from the next business date</a:t>
            </a:r>
            <a:endParaRPr lang="en-US" sz="1400" dirty="0"/>
          </a:p>
          <a:p>
            <a:pPr marL="228600" indent="-228600" algn="l">
              <a:spcAft>
                <a:spcPts val="400"/>
              </a:spcAft>
              <a:buSzPct val="100000"/>
              <a:buChar char="•"/>
            </a:pPr>
            <a:r>
              <a:rPr lang="en-US" sz="1400" dirty="0">
                <a:solidFill>
                  <a:schemeClr val="tx1"/>
                </a:solidFill>
              </a:rPr>
              <a:t>Each daily charge keeps the rate it was charged at</a:t>
            </a:r>
            <a:endParaRPr lang="en-US" sz="1400" dirty="0"/>
          </a:p>
          <a:p>
            <a:pPr marL="228600" indent="-228600" algn="l">
              <a:spcAft>
                <a:spcPts val="400"/>
              </a:spcAft>
              <a:buSzPct val="100000"/>
              <a:buChar char="•"/>
            </a:pPr>
            <a:r>
              <a:rPr lang="en-US" sz="1400" dirty="0">
                <a:solidFill>
                  <a:schemeClr val="tx1"/>
                </a:solidFill>
              </a:rPr>
              <a:t>Day count is the account's own (ACT/365 by default)</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Where and how</a:t>
            </a:r>
            <a:endParaRPr lang="en-US" sz="1600" dirty="0"/>
          </a:p>
          <a:p>
            <a:pPr marL="228600" indent="-228600" algn="l">
              <a:spcAft>
                <a:spcPts val="400"/>
              </a:spcAft>
              <a:buSzPct val="100000"/>
              <a:buChar char="•"/>
            </a:pPr>
            <a:r>
              <a:rPr lang="en-US" sz="1400" dirty="0">
                <a:solidFill>
                  <a:schemeClr val="bg1"/>
                </a:solidFill>
              </a:rPr>
              <a:t>Products screen: Penal interest column and four dialog fields</a:t>
            </a:r>
            <a:endParaRPr lang="en-US" sz="1400" dirty="0"/>
          </a:p>
          <a:p>
            <a:pPr marL="228600" indent="-228600" algn="l">
              <a:spcAft>
                <a:spcPts val="400"/>
              </a:spcAft>
              <a:buSzPct val="100000"/>
              <a:buChar char="•"/>
            </a:pPr>
            <a:r>
              <a:rPr lang="en-US" sz="1400" dirty="0">
                <a:solidFill>
                  <a:schemeClr val="bg1"/>
                </a:solidFill>
              </a:rPr>
              <a:t>Saved through the product API; the four settings travel together</a:t>
            </a:r>
            <a:endParaRPr lang="en-US" sz="1400" dirty="0"/>
          </a:p>
          <a:p>
            <a:pPr marL="228600" indent="-228600" algn="l">
              <a:spcAft>
                <a:spcPts val="400"/>
              </a:spcAft>
              <a:buSzPct val="100000"/>
              <a:buChar char="•"/>
            </a:pPr>
            <a:r>
              <a:rPr lang="en-US" sz="1400" dirty="0">
                <a:solidFill>
                  <a:schemeClr val="bg1"/>
                </a:solidFill>
              </a:rPr>
              <a:t>Rate, grace and cap ranges are validated with a clear message</a:t>
            </a:r>
            <a:endParaRPr lang="en-US" sz="1400" dirty="0"/>
          </a:p>
          <a:p>
            <a:pPr marL="228600" indent="-228600" algn="l">
              <a:spcAft>
                <a:spcPts val="400"/>
              </a:spcAft>
              <a:buSzPct val="100000"/>
              <a:buChar char="•"/>
            </a:pPr>
            <a:r>
              <a:rPr lang="en-US" sz="1400" dirty="0">
                <a:solidFill>
                  <a:schemeClr val="bg1"/>
                </a:solidFill>
              </a:rPr>
              <a:t>Existing products get the defaults when V15 runs</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Placeholders to confirm</a:t>
            </a:r>
            <a:endParaRPr lang="en-US" sz="1600" dirty="0"/>
          </a:p>
          <a:p>
            <a:pPr algn="l" indent="0" marL="0">
              <a:buNone/>
            </a:pPr>
            <a:r>
              <a:rPr lang="en-US" sz="1350" dirty="0">
                <a:solidFill>
                  <a:schemeClr val="tx1"/>
                </a:solidFill>
              </a:rPr>
              <a:t>24% p.a., ACT/365, 0 grace days and no cap are the requirement document's placeholders, not a policy decision. Each is one product edit away once the business confirms them.</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Penal interest: the rule and three cases</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24% p.a., ACT/365, no grace: a demand of 15,000.00 due 5 Nov 2026 earns 9.8630 a day</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The rule</a:t>
            </a:r>
            <a:endParaRPr lang="en-US" sz="1600" dirty="0"/>
          </a:p>
          <a:p>
            <a:pPr marL="228600" indent="-228600" algn="l">
              <a:spcAft>
                <a:spcPts val="400"/>
              </a:spcAft>
              <a:buSzPct val="100000"/>
              <a:buChar char="•"/>
            </a:pPr>
            <a:r>
              <a:rPr lang="en-US" sz="1400" dirty="0">
                <a:solidFill>
                  <a:schemeClr val="tx1"/>
                </a:solidFill>
              </a:rPr>
              <a:t>Daily: unpaid principal + interest of the demand × rate ÷ days in year</a:t>
            </a:r>
            <a:endParaRPr lang="en-US" sz="1400" dirty="0"/>
          </a:p>
          <a:p>
            <a:pPr marL="228600" indent="-228600" algn="l">
              <a:spcAft>
                <a:spcPts val="400"/>
              </a:spcAft>
              <a:buSzPct val="100000"/>
              <a:buChar char="•"/>
            </a:pPr>
            <a:r>
              <a:rPr lang="en-US" sz="1400" dirty="0">
                <a:solidFill>
                  <a:schemeClr val="tx1"/>
                </a:solidFill>
              </a:rPr>
              <a:t>Starts the day after due date + grace days</a:t>
            </a:r>
            <a:endParaRPr lang="en-US" sz="1400" dirty="0"/>
          </a:p>
          <a:p>
            <a:pPr marL="228600" indent="-228600" algn="l">
              <a:spcAft>
                <a:spcPts val="400"/>
              </a:spcAft>
              <a:buSzPct val="100000"/>
              <a:buChar char="•"/>
            </a:pPr>
            <a:r>
              <a:rPr lang="en-US" sz="1400" dirty="0">
                <a:solidFill>
                  <a:schemeClr val="tx1"/>
                </a:solidFill>
              </a:rPr>
              <a:t>Simple, never compounded; optional cap</a:t>
            </a:r>
            <a:endParaRPr lang="en-US" sz="1400" dirty="0"/>
          </a:p>
          <a:p>
            <a:pPr marL="228600" indent="-228600" algn="l">
              <a:spcAft>
                <a:spcPts val="400"/>
              </a:spcAft>
              <a:buSzPct val="100000"/>
              <a:buChar char="•"/>
            </a:pPr>
            <a:r>
              <a:rPr lang="en-US" sz="1400" dirty="0">
                <a:solidFill>
                  <a:schemeClr val="tx1"/>
                </a:solidFill>
              </a:rPr>
              <a:t>ACTIVE and NPA accounts; flagged suspended from SUBSTANDARD</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Cases A and B</a:t>
            </a:r>
            <a:endParaRPr lang="en-US" sz="1600" dirty="0"/>
          </a:p>
          <a:p>
            <a:pPr marL="228600" indent="-228600" algn="l">
              <a:spcAft>
                <a:spcPts val="400"/>
              </a:spcAft>
              <a:buSzPct val="100000"/>
              <a:buChar char="•"/>
            </a:pPr>
            <a:r>
              <a:rPr lang="en-US" sz="1400" dirty="0">
                <a:solidFill>
                  <a:schemeClr val="tx1"/>
                </a:solidFill>
              </a:rPr>
              <a:t>A. Unpaid 6 to 13 Nov, paid 14 Nov: 8 days = 78.90; pays 15,078.90</a:t>
            </a:r>
            <a:endParaRPr lang="en-US" sz="1400" dirty="0"/>
          </a:p>
          <a:p>
            <a:pPr marL="228600" indent="-228600" algn="l">
              <a:spcAft>
                <a:spcPts val="400"/>
              </a:spcAft>
              <a:buSzPct val="100000"/>
              <a:buChar char="•"/>
            </a:pPr>
            <a:r>
              <a:rPr lang="en-US" sz="1400" dirty="0">
                <a:solidFill>
                  <a:schemeClr val="tx1"/>
                </a:solidFill>
              </a:rPr>
              <a:t>B. 10,000.00 paid 14 Nov clears penal, interest and 6,921.10 of principal</a:t>
            </a:r>
            <a:endParaRPr lang="en-US" sz="1400" dirty="0"/>
          </a:p>
          <a:p>
            <a:pPr marL="228600" indent="-228600" algn="l">
              <a:spcAft>
                <a:spcPts val="400"/>
              </a:spcAft>
              <a:buSzPct val="100000"/>
              <a:buChar char="•"/>
            </a:pPr>
            <a:r>
              <a:rPr lang="en-US" sz="1400" dirty="0">
                <a:solidFill>
                  <a:schemeClr val="tx1"/>
                </a:solidFill>
              </a:rPr>
              <a:t>B. Base falls to 5,078.90 (3.3396 a day); cleared 20 Nov: 20.04</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Case C</a:t>
            </a:r>
            <a:endParaRPr lang="en-US" sz="1600" dirty="0"/>
          </a:p>
          <a:p>
            <a:pPr marL="228600" indent="-228600" algn="l">
              <a:spcAft>
                <a:spcPts val="400"/>
              </a:spcAft>
              <a:buSzPct val="100000"/>
              <a:buChar char="•"/>
            </a:pPr>
            <a:r>
              <a:rPr lang="en-US" sz="1400" dirty="0">
                <a:solidFill>
                  <a:schemeClr val="bg1"/>
                </a:solidFill>
              </a:rPr>
              <a:t>Both instalments missed; look at 10 Dec</a:t>
            </a:r>
            <a:endParaRPr lang="en-US" sz="1400" dirty="0"/>
          </a:p>
          <a:p>
            <a:pPr marL="228600" indent="-228600" algn="l">
              <a:spcAft>
                <a:spcPts val="400"/>
              </a:spcAft>
              <a:buSzPct val="100000"/>
              <a:buChar char="•"/>
            </a:pPr>
            <a:r>
              <a:rPr lang="en-US" sz="1400" dirty="0">
                <a:solidFill>
                  <a:schemeClr val="bg1"/>
                </a:solidFill>
              </a:rPr>
              <a:t>5 Nov demand: 34 days = 335.34</a:t>
            </a:r>
            <a:endParaRPr lang="en-US" sz="1400" dirty="0"/>
          </a:p>
          <a:p>
            <a:pPr marL="228600" indent="-228600" algn="l">
              <a:spcAft>
                <a:spcPts val="400"/>
              </a:spcAft>
              <a:buSzPct val="100000"/>
              <a:buChar char="•"/>
            </a:pPr>
            <a:r>
              <a:rPr lang="en-US" sz="1400" dirty="0">
                <a:solidFill>
                  <a:schemeClr val="bg1"/>
                </a:solidFill>
              </a:rPr>
              <a:t>5 Dec demand: 4 days = 39.45, counted from its own due date</a:t>
            </a:r>
            <a:endParaRPr lang="en-US" sz="1400" dirty="0"/>
          </a:p>
          <a:p>
            <a:pPr marL="228600" indent="-228600" algn="l">
              <a:spcAft>
                <a:spcPts val="400"/>
              </a:spcAft>
              <a:buSzPct val="100000"/>
              <a:buChar char="•"/>
            </a:pPr>
            <a:r>
              <a:rPr lang="en-US" sz="1400" dirty="0">
                <a:solidFill>
                  <a:schemeClr val="bg1"/>
                </a:solidFill>
              </a:rPr>
              <a:t>Amount payable 30,000.00 + 374.79 = 30,374.79</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How a payment sees it</a:t>
            </a:r>
            <a:endParaRPr lang="en-US" sz="1600" dirty="0"/>
          </a:p>
          <a:p>
            <a:pPr algn="l" indent="0" marL="0">
              <a:buNone/>
            </a:pPr>
            <a:r>
              <a:rPr lang="en-US" sz="1350" dirty="0">
                <a:solidFill>
                  <a:schemeClr val="tx1"/>
                </a:solidFill>
              </a:rPr>
              <a:t>A payment charges penal interest through the day before its value date before applying money, so the amount asked never depends on the nightly job; amount payable and preview include days not yet posted. Not built: waiver, recompute on back-dated or reversed payments, account-level override.</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Demands and the payment waterfall</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What falls due becomes a demand; any payment goes to penal interest first, then the oldest demand</a:t>
            </a:r>
            <a:endParaRPr lang="en-US" sz="1400" dirty="0"/>
          </a:p>
        </p:txBody>
      </p:sp>
      <p:sp>
        <p:nvSpPr>
          <p:cNvPr id="11" name="Shape 11"/>
          <p:cNvSpPr txBox="1"/>
          <p:nvPr/>
        </p:nvSpPr>
        <p:spPr>
          <a:xfrm>
            <a:off x="54864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Demand on the due date</a:t>
            </a:r>
            <a:endParaRPr lang="en-US" sz="1600" dirty="0"/>
          </a:p>
          <a:p>
            <a:pPr marL="228600" indent="-228600" algn="l">
              <a:spcAft>
                <a:spcPts val="400"/>
              </a:spcAft>
              <a:buSzPct val="100000"/>
              <a:buChar char="•"/>
            </a:pPr>
            <a:r>
              <a:rPr lang="en-US" sz="1400" dirty="0">
                <a:solidFill>
                  <a:schemeClr val="tx1"/>
                </a:solidFill>
              </a:rPr>
              <a:t>One per account and instalment: principal and interest due and paid</a:t>
            </a:r>
            <a:endParaRPr lang="en-US" sz="1400" dirty="0"/>
          </a:p>
          <a:p>
            <a:pPr marL="228600" indent="-228600" algn="l">
              <a:spcAft>
                <a:spcPts val="400"/>
              </a:spcAft>
              <a:buSzPct val="100000"/>
              <a:buChar char="•"/>
            </a:pPr>
            <a:r>
              <a:rPr lang="en-US" sz="1400" dirty="0">
                <a:solidFill>
                  <a:schemeClr val="tx1"/>
                </a:solidFill>
              </a:rPr>
              <a:t>Raised by DEMAND_RAISE_DAILY; a payment raises any due demand first</a:t>
            </a:r>
            <a:endParaRPr lang="en-US" sz="1400" dirty="0"/>
          </a:p>
          <a:p>
            <a:pPr marL="228600" indent="-228600" algn="l">
              <a:spcAft>
                <a:spcPts val="400"/>
              </a:spcAft>
              <a:buSzPct val="100000"/>
              <a:buChar char="•"/>
            </a:pPr>
            <a:r>
              <a:rPr lang="en-US" sz="1400" dirty="0">
                <a:solidFill>
                  <a:schemeClr val="tx1"/>
                </a:solidFill>
              </a:rPr>
              <a:t>Raising twice changes nothing; missed days are caught up</a:t>
            </a:r>
            <a:endParaRPr lang="en-US" sz="1400" dirty="0"/>
          </a:p>
          <a:p>
            <a:pPr marL="228600" indent="-228600" algn="l">
              <a:spcAft>
                <a:spcPts val="400"/>
              </a:spcAft>
              <a:buSzPct val="100000"/>
              <a:buChar char="•"/>
            </a:pPr>
            <a:r>
              <a:rPr lang="en-US" sz="1400" dirty="0">
                <a:solidFill>
                  <a:schemeClr val="tx1"/>
                </a:solidFill>
              </a:rPr>
              <a:t>Existing accounts: PAID instalments become CLEARED demands</a:t>
            </a:r>
            <a:endParaRPr lang="en-US" sz="1400" dirty="0"/>
          </a:p>
        </p:txBody>
      </p:sp>
      <p:sp>
        <p:nvSpPr>
          <p:cNvPr id="12" name="Shape 12"/>
          <p:cNvSpPr txBox="1"/>
          <p:nvPr/>
        </p:nvSpPr>
        <p:spPr>
          <a:xfrm>
            <a:off x="4297680" y="1463040"/>
            <a:ext cx="3566160" cy="3108960"/>
          </a:xfrm>
          <a:prstGeom prst="roundRect">
            <a:avLst>
              <a:gd name="adj" fmla="val 4000"/>
            </a:avLst>
          </a:prstGeom>
          <a:solidFill>
            <a:schemeClr val="accent1">
              <a:alpha val="10000"/>
            </a:schemeClr>
          </a:solidFill>
          <a:ln w="12700">
            <a:solidFill>
              <a:schemeClr val="accent1"/>
            </a:solidFill>
          </a:ln>
        </p:spPr>
        <p:txBody>
          <a:bodyPr wrap="square" lIns="127000" tIns="127000" rIns="127000" bIns="127000" rtlCol="0" anchor="t"/>
          <a:lstStyle/>
          <a:p>
            <a:pPr algn="l" indent="0" marL="0">
              <a:spcAft>
                <a:spcPts val="600"/>
              </a:spcAft>
              <a:buNone/>
            </a:pPr>
            <a:r>
              <a:rPr lang="en-US" sz="1600" b="1" dirty="0">
                <a:solidFill>
                  <a:schemeClr val="tx2"/>
                </a:solidFill>
              </a:rPr>
              <a:t>Waterfall order</a:t>
            </a:r>
            <a:endParaRPr lang="en-US" sz="1600" dirty="0"/>
          </a:p>
          <a:p>
            <a:pPr marL="228600" indent="-228600" algn="l">
              <a:spcAft>
                <a:spcPts val="400"/>
              </a:spcAft>
              <a:buSzPct val="100000"/>
              <a:buChar char="•"/>
            </a:pPr>
            <a:r>
              <a:rPr lang="en-US" sz="1400" dirty="0">
                <a:solidFill>
                  <a:schemeClr val="tx1"/>
                </a:solidFill>
              </a:rPr>
              <a:t>1. Penal interest, oldest demand first</a:t>
            </a:r>
            <a:endParaRPr lang="en-US" sz="1400" dirty="0"/>
          </a:p>
          <a:p>
            <a:pPr marL="228600" indent="-228600" algn="l">
              <a:spcAft>
                <a:spcPts val="400"/>
              </a:spcAft>
              <a:buSzPct val="100000"/>
              <a:buChar char="•"/>
            </a:pPr>
            <a:r>
              <a:rPr lang="en-US" sz="1400" dirty="0">
                <a:solidFill>
                  <a:schemeClr val="tx1"/>
                </a:solidFill>
              </a:rPr>
              <a:t>2. Each demand oldest first: interest, then principal</a:t>
            </a:r>
            <a:endParaRPr lang="en-US" sz="1400" dirty="0"/>
          </a:p>
          <a:p>
            <a:pPr marL="228600" indent="-228600" algn="l">
              <a:spcAft>
                <a:spcPts val="400"/>
              </a:spcAft>
              <a:buSzPct val="100000"/>
              <a:buChar char="•"/>
            </a:pPr>
            <a:r>
              <a:rPr lang="en-US" sz="1400" dirty="0">
                <a:solidFill>
                  <a:schemeClr val="tx1"/>
                </a:solidFill>
              </a:rPr>
              <a:t>3. Surplus: held as an advance (EMI) or put to principal (part-payment)</a:t>
            </a:r>
            <a:endParaRPr lang="en-US" sz="1400" dirty="0"/>
          </a:p>
          <a:p>
            <a:pPr marL="228600" indent="-228600" algn="l">
              <a:spcAft>
                <a:spcPts val="400"/>
              </a:spcAft>
              <a:buSzPct val="100000"/>
              <a:buChar char="•"/>
            </a:pPr>
            <a:r>
              <a:rPr lang="en-US" sz="1400" dirty="0">
                <a:solidFill>
                  <a:schemeClr val="tx1"/>
                </a:solidFill>
              </a:rPr>
              <a:t>Every line is stored and returned in the response</a:t>
            </a:r>
            <a:endParaRPr lang="en-US" sz="1400" dirty="0"/>
          </a:p>
        </p:txBody>
      </p:sp>
      <p:sp>
        <p:nvSpPr>
          <p:cNvPr id="13" name="Shape 13"/>
          <p:cNvSpPr txBox="1"/>
          <p:nvPr/>
        </p:nvSpPr>
        <p:spPr>
          <a:xfrm>
            <a:off x="8046720" y="1463040"/>
            <a:ext cx="3566160" cy="3108960"/>
          </a:xfrm>
          <a:prstGeom prst="roundRect">
            <a:avLst>
              <a:gd name="adj" fmla="val 4000"/>
            </a:avLst>
          </a:prstGeom>
          <a:solidFill>
            <a:schemeClr val="accent4"/>
          </a:solidFill>
          <a:ln w="12700">
            <a:solidFill>
              <a:schemeClr val="accent4"/>
            </a:solidFill>
          </a:ln>
        </p:spPr>
        <p:txBody>
          <a:bodyPr wrap="square" lIns="127000" tIns="127000" rIns="127000" bIns="127000" rtlCol="0" anchor="t"/>
          <a:lstStyle/>
          <a:p>
            <a:pPr algn="l" indent="0" marL="0">
              <a:spcAft>
                <a:spcPts val="600"/>
              </a:spcAft>
              <a:buNone/>
            </a:pPr>
            <a:r>
              <a:rPr lang="en-US" sz="1600" b="1" dirty="0">
                <a:solidFill>
                  <a:schemeClr val="bg1"/>
                </a:solidFill>
              </a:rPr>
              <a:t>Any amount, any status</a:t>
            </a:r>
            <a:endParaRPr lang="en-US" sz="1600" dirty="0"/>
          </a:p>
          <a:p>
            <a:pPr marL="228600" indent="-228600" algn="l">
              <a:spcAft>
                <a:spcPts val="400"/>
              </a:spcAft>
              <a:buSzPct val="100000"/>
              <a:buChar char="•"/>
            </a:pPr>
            <a:r>
              <a:rPr lang="en-US" sz="1400" dirty="0">
                <a:solidFill>
                  <a:schemeClr val="bg1"/>
                </a:solidFill>
              </a:rPr>
              <a:t>Any positive amount; it no longer has to equal the instalment</a:t>
            </a:r>
            <a:endParaRPr lang="en-US" sz="1400" dirty="0"/>
          </a:p>
          <a:p>
            <a:pPr marL="228600" indent="-228600" algn="l">
              <a:spcAft>
                <a:spcPts val="400"/>
              </a:spcAft>
              <a:buSzPct val="100000"/>
              <a:buChar char="•"/>
            </a:pPr>
            <a:r>
              <a:rPr lang="en-US" sz="1400" dirty="0">
                <a:solidFill>
                  <a:schemeClr val="bg1"/>
                </a:solidFill>
              </a:rPr>
              <a:t>ACTIVE and NPA accounts can pay; status recalculated at once</a:t>
            </a:r>
            <a:endParaRPr lang="en-US" sz="1400" dirty="0"/>
          </a:p>
          <a:p>
            <a:pPr marL="228600" indent="-228600" algn="l">
              <a:spcAft>
                <a:spcPts val="400"/>
              </a:spcAft>
              <a:buSzPct val="100000"/>
              <a:buChar char="•"/>
            </a:pPr>
            <a:r>
              <a:rPr lang="en-US" sz="1400" dirty="0">
                <a:solidFill>
                  <a:schemeClr val="bg1"/>
                </a:solidFill>
              </a:rPr>
              <a:t>Paid early: held as an advance, applied on the due date</a:t>
            </a:r>
            <a:endParaRPr lang="en-US" sz="1400" dirty="0"/>
          </a:p>
          <a:p>
            <a:pPr marL="228600" indent="-228600" algn="l">
              <a:spcAft>
                <a:spcPts val="400"/>
              </a:spcAft>
              <a:buSzPct val="100000"/>
              <a:buChar char="•"/>
            </a:pPr>
            <a:r>
              <a:rPr lang="en-US" sz="1400" dirty="0">
                <a:solidFill>
                  <a:schemeClr val="bg1"/>
                </a:solidFill>
              </a:rPr>
              <a:t>Account closes when every demand, penal interest too, is paid</a:t>
            </a:r>
            <a:endParaRPr lang="en-US" sz="1400" dirty="0"/>
          </a:p>
        </p:txBody>
      </p:sp>
      <p:sp>
        <p:nvSpPr>
          <p:cNvPr id="14" name="Shape 14"/>
          <p:cNvSpPr txBox="1"/>
          <p:nvPr/>
        </p:nvSpPr>
        <p:spPr>
          <a:xfrm>
            <a:off x="548640" y="4754880"/>
            <a:ext cx="11064240" cy="1463040"/>
          </a:xfrm>
          <a:prstGeom prst="roundRect">
            <a:avLst>
              <a:gd name="adj" fmla="val 4000"/>
            </a:avLst>
          </a:prstGeom>
          <a:solidFill>
            <a:schemeClr val="accent2">
              <a:alpha val="30000"/>
            </a:schemeClr>
          </a:solidFill>
          <a:ln w="12700">
            <a:solidFill>
              <a:schemeClr val="accent2"/>
            </a:solidFill>
          </a:ln>
        </p:spPr>
        <p:txBody>
          <a:bodyPr wrap="square" lIns="127000" tIns="127000" rIns="127000" bIns="127000" rtlCol="0" anchor="t"/>
          <a:lstStyle/>
          <a:p>
            <a:pPr algn="l" indent="0" marL="0">
              <a:spcAft>
                <a:spcPts val="400"/>
              </a:spcAft>
              <a:buNone/>
            </a:pPr>
            <a:r>
              <a:rPr lang="en-US" sz="1600" b="1" dirty="0">
                <a:solidFill>
                  <a:schemeClr val="tx2"/>
                </a:solidFill>
              </a:rPr>
              <a:t>Example</a:t>
            </a:r>
            <a:endParaRPr lang="en-US" sz="1600" dirty="0"/>
          </a:p>
          <a:p>
            <a:pPr algn="l" indent="0" marL="0">
              <a:buNone/>
            </a:pPr>
            <a:r>
              <a:rPr lang="en-US" sz="1350" dirty="0">
                <a:solidFill>
                  <a:schemeClr val="tx1"/>
                </a:solidFill>
              </a:rPr>
              <a:t>Instalments of 15,000.00 due 5 Nov and 5 Dec, both missed. On 10 Dec the amount payable is 30,374.79 and 20,000.00 is paid: penal 335.34 and 39.45, then 5 Nov interest 3,000.00 and principal 12,000.00, then 5 Dec interest 3,000.00 and 1,625.21 of principal. 10,374.79 of principal stays due.</a:t>
            </a:r>
            <a:endParaRPr lang="en-US" sz="1350" dirty="0"/>
          </a:p>
        </p:txBody>
      </p:sp>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API catalogue: demands and penal interest</a:t>
            </a:r>
            <a:endParaRPr lang="en-US" sz="3400" dirty="0"/>
          </a:p>
        </p:txBody>
      </p:sp>
      <p:sp>
        <p:nvSpPr>
          <p:cNvPr id="3" name="Text 2"/>
          <p:cNvSpPr/>
          <p:nvPr>
            <p:ph idx="103"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400" dirty="0">
                <a:solidFill>
                  <a:schemeClr val="accent4"/>
                </a:solidFill>
              </a:rPr>
              <a:t>Added in v1.7. Paths relative to /api/v1; admin forwards the two reads under /api/admin/operations</a:t>
            </a:r>
            <a:endParaRPr lang="en-US" sz="1400" dirty="0"/>
          </a:p>
        </p:txBody>
      </p:sp>
      <p:graphicFrame>
        <p:nvGraphicFramePr>
          <p:cNvPr id="11" name="Table 11"/>
          <p:cNvGraphicFramePr>
            <a:graphicFrameLocks noGrp="1"/>
          </p:cNvGraphicFramePr>
          <p:nvPr/>
        </p:nvGraphicFramePr>
        <p:xfrm>
          <a:off x="548640" y="1463040"/>
          <a:ext cx="11064240" cy="4590288"/>
        </p:xfrm>
        <a:graphic>
          <a:graphicData uri="http://schemas.openxmlformats.org/drawingml/2006/table">
            <a:tbl>
              <a:tblPr/>
              <a:tblGrid>
                <a:gridCol w="1920240"/>
                <a:gridCol w="5120640"/>
                <a:gridCol w="4023360"/>
              </a:tblGrid>
              <a:tr h="365760">
                <a:tc>
                  <a:txBody>
                    <a:bodyPr/>
                    <a:lstStyle/>
                    <a:p>
                      <a:pPr indent="0" marL="0">
                        <a:buNone/>
                      </a:pPr>
                      <a:r>
                        <a:rPr lang="en-US" sz="1200" b="1" dirty="0">
                          <a:solidFill>
                            <a:schemeClr val="bg1"/>
                          </a:solidFill>
                        </a:rPr>
                        <a:t>Area</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Endpoint</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Purpose</a:t>
                      </a:r>
                      <a:endParaRPr lang="en-US" sz="120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Demands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/loan-accounts/{id}/demands?businessDate=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Raise the due demands for one account; safe to repeat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/demands/raise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Raise for every ACTIVE and NPA account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Amount payable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/loan-accounts/{id}/amount-payable?asOf=</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Open demands, overdue, due today, penal interest, advance, total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/loan-accounts/{id}/payments/preview</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How a payment would be applied; changes nothing</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Penal interest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/loan-accounts/{id}/penal-interest?businessDate=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Charge up to the date; returns the count and amount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GET /loan-accounts/{id}/penal-interest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The daily charges, oldest first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Products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 PUT /loan-products  (penal fields)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penalInterestEnabled, Rate, GraceDays, CapPercent saved together</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Payments</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/loan-accounts/{id}/payments/emi</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Any amount; penal first, then oldest demand; surplus held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/loan-accounts/{id}/payments/part-payment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Due items first; only the rest reduces principal</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POST /loan-accounts/{id}/payments/foreclosure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Payoff includes open demands, penal and accrued interest</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Admin (forwarded)</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GET /operations/accounts/{id}/amount-payable</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POST .../payments/preview is forwarded the same way</a:t>
                      </a:r>
                      <a:endParaRPr lang="en-US" sz="1150" dirty="0"/>
                    </a:p>
                  </a:txBody>
                  <a:tcPr marL="91440" marR="91440" marT="27432" marB="27432"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r>
            </a:tbl>
          </a:graphicData>
        </a:graphic>
      </p:graphicFrame>
      <p:sp>
        <p:nvSpPr>
          <p:cNvPr id="90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Lending Platform">
  <a:themeElements>
    <a:clrScheme name="Red and Black">
      <a:dk1>
        <a:srgbClr val="111111"/>
      </a:dk1>
      <a:lt1>
        <a:srgbClr val="FFFFFF"/>
      </a:lt1>
      <a:dk2>
        <a:srgbClr val="1A1A1A"/>
      </a:dk2>
      <a:lt2>
        <a:srgbClr val="F5ECEC"/>
      </a:lt2>
      <a:accent1>
        <a:srgbClr val="C8102E"/>
      </a:accent1>
      <a:accent2>
        <a:srgbClr val="BFBFBF"/>
      </a:accent2>
      <a:accent3>
        <a:srgbClr val="7A0F1E"/>
      </a:accent3>
      <a:accent4>
        <a:srgbClr val="3C3C3C"/>
      </a:accent4>
      <a:accent5>
        <a:srgbClr val="6E6E6E"/>
      </a:accent5>
      <a:accent6>
        <a:srgbClr val="262626"/>
      </a:accent6>
      <a:hlink>
        <a:srgbClr val="C8102E"/>
      </a:hlink>
      <a:folHlink>
        <a:srgbClr val="7B5EA7"/>
      </a:folHlink>
    </a:clrScheme>
    <a:fontScheme name="Lending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Platform - Architecture, Data Model and Loan Lifecycle</dc:title>
  <dc:subject>PptxGenJS Presentation</dc:subject>
  <dc:creator>Kiran</dc:creator>
  <cp:lastModifiedBy>Kiran</cp:lastModifiedBy>
  <cp:revision>1</cp:revision>
  <dcterms:created xsi:type="dcterms:W3CDTF">2026-10-11T09:12:14Z</dcterms:created>
  <dcterms:modified xsi:type="dcterms:W3CDTF">2026-10-11T09:12:14Z</dcterms:modified>
</cp:coreProperties>
</file>